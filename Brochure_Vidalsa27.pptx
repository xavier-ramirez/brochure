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image" Target="../media/image4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46.jpg"/><Relationship Id="rId6" Type="http://schemas.openxmlformats.org/officeDocument/2006/relationships/image" Target="../media/image47.jpg"/><Relationship Id="rId7" Type="http://schemas.openxmlformats.org/officeDocument/2006/relationships/image" Target="../media/image48.jpg"/><Relationship Id="rId8" Type="http://schemas.openxmlformats.org/officeDocument/2006/relationships/image" Target="../media/image49.jpg"/><Relationship Id="rId9" Type="http://schemas.openxmlformats.org/officeDocument/2006/relationships/image" Target="../media/image5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Relationship Id="rId7" Type="http://schemas.openxmlformats.org/officeDocument/2006/relationships/image" Target="../media/image56.jpg"/><Relationship Id="rId8" Type="http://schemas.openxmlformats.org/officeDocument/2006/relationships/image" Target="../media/image57.jpg"/><Relationship Id="rId9" Type="http://schemas.openxmlformats.org/officeDocument/2006/relationships/image" Target="../media/image5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60.jpg"/><Relationship Id="rId4" Type="http://schemas.openxmlformats.org/officeDocument/2006/relationships/image" Target="../media/image61.jpg"/><Relationship Id="rId5" Type="http://schemas.openxmlformats.org/officeDocument/2006/relationships/image" Target="../media/image62.jpg"/><Relationship Id="rId6" Type="http://schemas.openxmlformats.org/officeDocument/2006/relationships/image" Target="../media/image63.jpg"/><Relationship Id="rId7" Type="http://schemas.openxmlformats.org/officeDocument/2006/relationships/image" Target="../media/image64.jpg"/><Relationship Id="rId8" Type="http://schemas.openxmlformats.org/officeDocument/2006/relationships/image" Target="../media/image65.jpg"/><Relationship Id="rId9" Type="http://schemas.openxmlformats.org/officeDocument/2006/relationships/image" Target="../media/image6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image" Target="../media/image68.jpg"/><Relationship Id="rId4" Type="http://schemas.openxmlformats.org/officeDocument/2006/relationships/image" Target="../media/image69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Relationship Id="rId8" Type="http://schemas.openxmlformats.org/officeDocument/2006/relationships/image" Target="../media/image73.jpg"/><Relationship Id="rId9" Type="http://schemas.openxmlformats.org/officeDocument/2006/relationships/image" Target="../media/image6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image" Target="../media/image83.jpg"/><Relationship Id="rId4" Type="http://schemas.openxmlformats.org/officeDocument/2006/relationships/image" Target="../media/image84.jpg"/><Relationship Id="rId5" Type="http://schemas.openxmlformats.org/officeDocument/2006/relationships/image" Target="../media/image85.jpg"/><Relationship Id="rId6" Type="http://schemas.openxmlformats.org/officeDocument/2006/relationships/image" Target="../media/image86.jpg"/><Relationship Id="rId7" Type="http://schemas.openxmlformats.org/officeDocument/2006/relationships/image" Target="../media/image87.jpg"/><Relationship Id="rId8" Type="http://schemas.openxmlformats.org/officeDocument/2006/relationships/image" Target="../media/image88.jpg"/><Relationship Id="rId9" Type="http://schemas.openxmlformats.org/officeDocument/2006/relationships/image" Target="../media/image8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image" Target="../media/image91.jpg"/><Relationship Id="rId4" Type="http://schemas.openxmlformats.org/officeDocument/2006/relationships/image" Target="../media/image92.jpg"/><Relationship Id="rId5" Type="http://schemas.openxmlformats.org/officeDocument/2006/relationships/image" Target="../media/image93.jpg"/><Relationship Id="rId6" Type="http://schemas.openxmlformats.org/officeDocument/2006/relationships/image" Target="../media/image94.jpg"/><Relationship Id="rId7" Type="http://schemas.openxmlformats.org/officeDocument/2006/relationships/image" Target="../media/image95.jpg"/><Relationship Id="rId8" Type="http://schemas.openxmlformats.org/officeDocument/2006/relationships/image" Target="../media/image96.jpg"/><Relationship Id="rId9" Type="http://schemas.openxmlformats.org/officeDocument/2006/relationships/image" Target="../media/image9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jpg"/><Relationship Id="rId3" Type="http://schemas.openxmlformats.org/officeDocument/2006/relationships/image" Target="../media/image99.jpg"/><Relationship Id="rId4" Type="http://schemas.openxmlformats.org/officeDocument/2006/relationships/image" Target="../media/image100.jpg"/><Relationship Id="rId5" Type="http://schemas.openxmlformats.org/officeDocument/2006/relationships/image" Target="../media/image101.jpg"/><Relationship Id="rId6" Type="http://schemas.openxmlformats.org/officeDocument/2006/relationships/image" Target="../media/image102.jpg"/><Relationship Id="rId7" Type="http://schemas.openxmlformats.org/officeDocument/2006/relationships/image" Target="../media/image103.jpg"/><Relationship Id="rId8" Type="http://schemas.openxmlformats.org/officeDocument/2006/relationships/image" Target="../media/image10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jpg"/><Relationship Id="rId3" Type="http://schemas.openxmlformats.org/officeDocument/2006/relationships/image" Target="../media/image106.jpg"/><Relationship Id="rId4" Type="http://schemas.openxmlformats.org/officeDocument/2006/relationships/image" Target="../media/image107.jpg"/><Relationship Id="rId5" Type="http://schemas.openxmlformats.org/officeDocument/2006/relationships/image" Target="../media/image108.jpg"/><Relationship Id="rId6" Type="http://schemas.openxmlformats.org/officeDocument/2006/relationships/image" Target="../media/image109.jpg"/><Relationship Id="rId7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jpg"/><Relationship Id="rId3" Type="http://schemas.openxmlformats.org/officeDocument/2006/relationships/image" Target="../media/image111.jpg"/><Relationship Id="rId4" Type="http://schemas.openxmlformats.org/officeDocument/2006/relationships/image" Target="../media/image112.png"/><Relationship Id="rId5" Type="http://schemas.openxmlformats.org/officeDocument/2006/relationships/image" Target="../media/image1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jp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7073088" y="4110037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"/>
          <p:cNvSpPr/>
          <p:nvPr/>
        </p:nvSpPr>
        <p:spPr>
          <a:xfrm>
            <a:off x="7550303" y="562540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"/>
          <p:cNvSpPr/>
          <p:nvPr/>
        </p:nvSpPr>
        <p:spPr>
          <a:xfrm>
            <a:off x="7359803" y="562540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7C8B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7169303" y="562540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96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6978803" y="562540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ede_edificio" descr="foto_01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583560" cy="6858000"/>
          </a:xfrm>
          <a:prstGeom prst="rect">
            <a:avLst/>
          </a:prstGeom>
        </p:spPr>
      </p:pic>
      <p:pic>
        <p:nvPicPr>
          <p:cNvPr id="9" name="logo_cuadrado" descr="foto_01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464" y="669577"/>
            <a:ext cx="3056483" cy="1952625"/>
          </a:xfrm>
          <a:prstGeom prst="rect">
            <a:avLst/>
          </a:prstGeom>
        </p:spPr>
      </p:pic>
      <p:pic>
        <p:nvPicPr>
          <p:cNvPr id="10" name="sobre las fotos" descr="encima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3900" y="6310312"/>
            <a:ext cx="265241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1162"/>
              </a:lnSpc>
            </a:pPr>
            <a:r>
              <a:rPr sz="1162" b="1" i="0" spc="349">
                <a:solidFill>
                  <a:srgbClr val="FFFFFF"/>
                </a:solidFill>
                <a:latin typeface="Barlow"/>
              </a:rPr>
              <a:t>BROCHURE CORPORATIVO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5480446"/>
            <a:ext cx="779115" cy="923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5710"/>
              </a:lnSpc>
            </a:pPr>
            <a:r>
              <a:rPr sz="6075" b="1" i="0" spc="61">
                <a:solidFill>
                  <a:srgbClr val="FFFFFF"/>
                </a:solidFill>
                <a:latin typeface="Barlow Condensed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815" y="5480446"/>
            <a:ext cx="769143" cy="923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ts val="5710"/>
              </a:lnSpc>
            </a:pPr>
            <a:r>
              <a:rPr sz="6075" b="1" i="0" spc="61">
                <a:solidFill>
                  <a:srgbClr val="4966AD"/>
                </a:solidFill>
                <a:latin typeface="Barlow Condensed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93210" y="4029075"/>
            <a:ext cx="3992165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30"/>
              </a:lnSpc>
            </a:pPr>
            <a:r>
              <a:rPr sz="1275" b="1" i="0" spc="408">
                <a:solidFill>
                  <a:srgbClr val="FFFFFF"/>
                </a:solidFill>
                <a:latin typeface="Barlow"/>
              </a:rPr>
              <a:t>CONSTRUCTORA VIDALSA 27, C.A.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8860" y="4305300"/>
            <a:ext cx="4283273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1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Construyendo la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8860" y="4703415"/>
            <a:ext cx="2418754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1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que mueve el país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se-panel"/>
          <p:cNvSpPr/>
          <p:nvPr/>
        </p:nvSpPr>
        <p:spPr>
          <a:xfrm>
            <a:off x="0" y="0"/>
            <a:ext cx="5242470" cy="685800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empresa_sede" descr="foto_02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470" y="0"/>
            <a:ext cx="6949380" cy="3429000"/>
          </a:xfrm>
          <a:prstGeom prst="rect">
            <a:avLst/>
          </a:prstGeom>
        </p:spPr>
      </p:pic>
      <p:pic>
        <p:nvPicPr>
          <p:cNvPr id="5" name="empresa_tendido" descr="foto_02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470" y="3429000"/>
            <a:ext cx="6949380" cy="3429000"/>
          </a:xfrm>
          <a:prstGeom prst="rect">
            <a:avLst/>
          </a:prstGeom>
        </p:spPr>
      </p:pic>
      <p:sp>
        <p:nvSpPr>
          <p:cNvPr id="6" name="i"/>
          <p:cNvSpPr/>
          <p:nvPr/>
        </p:nvSpPr>
        <p:spPr>
          <a:xfrm>
            <a:off x="-477586" y="-548580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-248986" y="-548580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4288633" y="-548580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4517233" y="-548580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ip"/>
          <p:cNvSpPr/>
          <p:nvPr/>
        </p:nvSpPr>
        <p:spPr>
          <a:xfrm>
            <a:off x="5057168" y="0"/>
            <a:ext cx="3897980" cy="257175"/>
          </a:xfrm>
          <a:custGeom>
            <a:avLst/>
            <a:gdLst/>
            <a:ahLst/>
            <a:cxnLst/>
            <a:rect l="l" t="t" r="r" b="b"/>
            <a:pathLst>
              <a:path w="3897980" h="257175">
                <a:moveTo>
                  <a:pt x="103989" y="0"/>
                </a:moveTo>
                <a:lnTo>
                  <a:pt x="3897980" y="0"/>
                </a:lnTo>
                <a:lnTo>
                  <a:pt x="3793991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11900381" y="-274290"/>
            <a:ext cx="363863" cy="3977580"/>
          </a:xfrm>
          <a:custGeom>
            <a:avLst/>
            <a:gdLst/>
            <a:ahLst/>
            <a:cxnLst/>
            <a:rect l="l" t="t" r="r" b="b"/>
            <a:pathLst>
              <a:path w="363863" h="3977580">
                <a:moveTo>
                  <a:pt x="278202" y="0"/>
                </a:moveTo>
                <a:lnTo>
                  <a:pt x="363863" y="0"/>
                </a:lnTo>
                <a:lnTo>
                  <a:pt x="85661" y="3977580"/>
                </a:lnTo>
                <a:lnTo>
                  <a:pt x="0" y="397758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"/>
          <p:cNvSpPr/>
          <p:nvPr/>
        </p:nvSpPr>
        <p:spPr>
          <a:xfrm>
            <a:off x="12005156" y="-274290"/>
            <a:ext cx="325763" cy="3977580"/>
          </a:xfrm>
          <a:custGeom>
            <a:avLst/>
            <a:gdLst/>
            <a:ahLst/>
            <a:cxnLst/>
            <a:rect l="l" t="t" r="r" b="b"/>
            <a:pathLst>
              <a:path w="325763" h="3977580">
                <a:moveTo>
                  <a:pt x="278178" y="0"/>
                </a:moveTo>
                <a:lnTo>
                  <a:pt x="325763" y="0"/>
                </a:lnTo>
                <a:lnTo>
                  <a:pt x="47585" y="3977580"/>
                </a:lnTo>
                <a:lnTo>
                  <a:pt x="0" y="397758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"/>
          <p:cNvSpPr/>
          <p:nvPr/>
        </p:nvSpPr>
        <p:spPr>
          <a:xfrm>
            <a:off x="5057168" y="3429000"/>
            <a:ext cx="2847551" cy="257175"/>
          </a:xfrm>
          <a:custGeom>
            <a:avLst/>
            <a:gdLst/>
            <a:ahLst/>
            <a:cxnLst/>
            <a:rect l="l" t="t" r="r" b="b"/>
            <a:pathLst>
              <a:path w="2847551" h="257175">
                <a:moveTo>
                  <a:pt x="103922" y="0"/>
                </a:moveTo>
                <a:lnTo>
                  <a:pt x="2847551" y="0"/>
                </a:lnTo>
                <a:lnTo>
                  <a:pt x="2743629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11900381" y="3154709"/>
            <a:ext cx="363863" cy="3977580"/>
          </a:xfrm>
          <a:custGeom>
            <a:avLst/>
            <a:gdLst/>
            <a:ahLst/>
            <a:cxnLst/>
            <a:rect l="l" t="t" r="r" b="b"/>
            <a:pathLst>
              <a:path w="363863" h="3977580">
                <a:moveTo>
                  <a:pt x="278202" y="0"/>
                </a:moveTo>
                <a:lnTo>
                  <a:pt x="363863" y="0"/>
                </a:lnTo>
                <a:lnTo>
                  <a:pt x="85661" y="3977580"/>
                </a:lnTo>
                <a:lnTo>
                  <a:pt x="0" y="397758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12005156" y="3154709"/>
            <a:ext cx="325763" cy="3977580"/>
          </a:xfrm>
          <a:custGeom>
            <a:avLst/>
            <a:gdLst/>
            <a:ahLst/>
            <a:cxnLst/>
            <a:rect l="l" t="t" r="r" b="b"/>
            <a:pathLst>
              <a:path w="325763" h="3977580">
                <a:moveTo>
                  <a:pt x="278178" y="0"/>
                </a:moveTo>
                <a:lnTo>
                  <a:pt x="325763" y="0"/>
                </a:lnTo>
                <a:lnTo>
                  <a:pt x="47585" y="3977580"/>
                </a:lnTo>
                <a:lnTo>
                  <a:pt x="0" y="397758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ayita"/>
          <p:cNvSpPr/>
          <p:nvPr/>
        </p:nvSpPr>
        <p:spPr>
          <a:xfrm>
            <a:off x="756227" y="2556271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bre las fotos" descr="encima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76350" y="2489596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2727721"/>
            <a:ext cx="2332285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Nuestra empresa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443287"/>
            <a:ext cx="211380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895"/>
              </a:lnSpc>
            </a:pPr>
            <a:r>
              <a:rPr sz="1064" b="1" i="0">
                <a:solidFill>
                  <a:srgbClr val="FFFFFF"/>
                </a:solidFill>
                <a:latin typeface="Barlow"/>
              </a:rPr>
              <a:t>CONSTRUCTORA VIDALSA 27 C.A.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3443287"/>
            <a:ext cx="3794670" cy="88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just">
              <a:lnSpc>
                <a:spcPts val="1895"/>
              </a:lnSpc>
            </a:pPr>
            <a:r>
              <a:rPr sz="1064" b="0" i="0">
                <a:solidFill>
                  <a:srgbClr val="FFFFFF"/>
                </a:solidFill>
                <a:latin typeface="Barlow"/>
              </a:rPr>
              <a:t>es una empresa venezolana fundada en el año 2007, desde entonces sumamos años de trayectoria en la construcción de infraestructura civil y petrolera, con enfoque en la Faja Petrolífera del Orinoco.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920" y="66675"/>
            <a:ext cx="331782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OBRA: OLEODUCTO 30″ VELADERO · TRAMO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3920" y="3495675"/>
            <a:ext cx="22673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PATIO DE MÁQUINAS EL TIGRE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anel"/>
          <p:cNvSpPr/>
          <p:nvPr/>
        </p:nvSpPr>
        <p:spPr>
          <a:xfrm>
            <a:off x="0" y="4476750"/>
            <a:ext cx="12192000" cy="2381250"/>
          </a:xfrm>
          <a:prstGeom prst="rect">
            <a:avLst/>
          </a:pr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"/>
          <p:cNvSpPr/>
          <p:nvPr/>
        </p:nvSpPr>
        <p:spPr>
          <a:xfrm>
            <a:off x="866295" y="4876800"/>
            <a:ext cx="502509" cy="238125"/>
          </a:xfrm>
          <a:custGeom>
            <a:avLst/>
            <a:gdLst/>
            <a:ahLst/>
            <a:cxnLst/>
            <a:rect l="l" t="t" r="r" b="b"/>
            <a:pathLst>
              <a:path w="502509" h="238125">
                <a:moveTo>
                  <a:pt x="95586" y="0"/>
                </a:moveTo>
                <a:lnTo>
                  <a:pt x="502509" y="0"/>
                </a:lnTo>
                <a:lnTo>
                  <a:pt x="40692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um"/>
          <p:cNvSpPr/>
          <p:nvPr/>
        </p:nvSpPr>
        <p:spPr>
          <a:xfrm>
            <a:off x="6390795" y="4876800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flota_equipo" descr="foto_03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4476750"/>
          </a:xfrm>
          <a:prstGeom prst="rect">
            <a:avLst/>
          </a:prstGeom>
        </p:spPr>
      </p:pic>
      <p:sp>
        <p:nvSpPr>
          <p:cNvPr id="7" name="i"/>
          <p:cNvSpPr/>
          <p:nvPr/>
        </p:nvSpPr>
        <p:spPr>
          <a:xfrm>
            <a:off x="-258838" y="-358080"/>
            <a:ext cx="908201" cy="5192910"/>
          </a:xfrm>
          <a:custGeom>
            <a:avLst/>
            <a:gdLst/>
            <a:ahLst/>
            <a:cxnLst/>
            <a:rect l="l" t="t" r="r" b="b"/>
            <a:pathLst>
              <a:path w="908201" h="5192910">
                <a:moveTo>
                  <a:pt x="822449" y="0"/>
                </a:moveTo>
                <a:lnTo>
                  <a:pt x="908201" y="0"/>
                </a:lnTo>
                <a:lnTo>
                  <a:pt x="85752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-30238" y="-358080"/>
            <a:ext cx="870101" cy="5192910"/>
          </a:xfrm>
          <a:custGeom>
            <a:avLst/>
            <a:gdLst/>
            <a:ahLst/>
            <a:cxnLst/>
            <a:rect l="l" t="t" r="r" b="b"/>
            <a:pathLst>
              <a:path w="870101" h="5192910">
                <a:moveTo>
                  <a:pt x="822460" y="0"/>
                </a:moveTo>
                <a:lnTo>
                  <a:pt x="870101" y="0"/>
                </a:lnTo>
                <a:lnTo>
                  <a:pt x="47641" y="5192910"/>
                </a:lnTo>
                <a:lnTo>
                  <a:pt x="0" y="519291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66348" y="4286250"/>
            <a:ext cx="523222" cy="2762250"/>
          </a:xfrm>
          <a:custGeom>
            <a:avLst/>
            <a:gdLst/>
            <a:ahLst/>
            <a:cxnLst/>
            <a:rect l="l" t="t" r="r" b="b"/>
            <a:pathLst>
              <a:path w="523222" h="2762250">
                <a:moveTo>
                  <a:pt x="437497" y="0"/>
                </a:moveTo>
                <a:lnTo>
                  <a:pt x="523222" y="0"/>
                </a:lnTo>
                <a:lnTo>
                  <a:pt x="857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162251" y="4286250"/>
            <a:ext cx="485122" cy="2762250"/>
          </a:xfrm>
          <a:custGeom>
            <a:avLst/>
            <a:gdLst/>
            <a:ahLst/>
            <a:cxnLst/>
            <a:rect l="l" t="t" r="r" b="b"/>
            <a:pathLst>
              <a:path w="485122" h="2762250">
                <a:moveTo>
                  <a:pt x="437497" y="0"/>
                </a:moveTo>
                <a:lnTo>
                  <a:pt x="485122" y="0"/>
                </a:lnTo>
                <a:lnTo>
                  <a:pt x="47625" y="2762250"/>
                </a:lnTo>
                <a:lnTo>
                  <a:pt x="0" y="276225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ip"/>
          <p:cNvSpPr/>
          <p:nvPr/>
        </p:nvSpPr>
        <p:spPr>
          <a:xfrm>
            <a:off x="8511171" y="3800475"/>
            <a:ext cx="2818381" cy="257175"/>
          </a:xfrm>
          <a:custGeom>
            <a:avLst/>
            <a:gdLst/>
            <a:ahLst/>
            <a:cxnLst/>
            <a:rect l="l" t="t" r="r" b="b"/>
            <a:pathLst>
              <a:path w="2818381" h="257175">
                <a:moveTo>
                  <a:pt x="103900" y="0"/>
                </a:moveTo>
                <a:lnTo>
                  <a:pt x="2818381" y="0"/>
                </a:lnTo>
                <a:lnTo>
                  <a:pt x="2714481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obre las fotos" descr="encima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28750" y="3327945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56545"/>
            <a:ext cx="2794545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Misión y visión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7923" y="3867150"/>
            <a:ext cx="223822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PATIO DE MÁQUINAS MATURÍN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75" y="491490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575" y="4915495"/>
            <a:ext cx="6619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MISIÓN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24475"/>
            <a:ext cx="4503836" cy="40451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11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Desarrollar proyectos de infraestructura civil y petrolera, mediante soluciones constructivas, innovadoras y sostenibles.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4914900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6799" y="4915495"/>
            <a:ext cx="64948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6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VISIÓN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5324475"/>
            <a:ext cx="4914453" cy="8896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11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Ser el referente líder en la ejecución de proyectos de infraestructura, reconocidos por transformar desafíos complejos en proyectos tangibles, seguros, de alta calidad y con compromiso socioambiental, que impulsen el desarrollo económico y social del país.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valores_equipo" descr="foto_04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4" name="i"/>
          <p:cNvSpPr/>
          <p:nvPr/>
        </p:nvSpPr>
        <p:spPr>
          <a:xfrm>
            <a:off x="5008812" y="-548580"/>
            <a:ext cx="1345699" cy="7955160"/>
          </a:xfrm>
          <a:custGeom>
            <a:avLst/>
            <a:gdLst/>
            <a:ahLst/>
            <a:cxnLst/>
            <a:rect l="l" t="t" r="r" b="b"/>
            <a:pathLst>
              <a:path w="1345699" h="7955160">
                <a:moveTo>
                  <a:pt x="1259956" y="0"/>
                </a:moveTo>
                <a:lnTo>
                  <a:pt x="1345699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"/>
          <p:cNvSpPr/>
          <p:nvPr/>
        </p:nvSpPr>
        <p:spPr>
          <a:xfrm>
            <a:off x="5237412" y="-548580"/>
            <a:ext cx="1307599" cy="7955160"/>
          </a:xfrm>
          <a:custGeom>
            <a:avLst/>
            <a:gdLst/>
            <a:ahLst/>
            <a:cxnLst/>
            <a:rect l="l" t="t" r="r" b="b"/>
            <a:pathLst>
              <a:path w="1307599" h="7955160">
                <a:moveTo>
                  <a:pt x="1259964" y="0"/>
                </a:moveTo>
                <a:lnTo>
                  <a:pt x="1307599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6242627" y="600075"/>
            <a:ext cx="373494" cy="28575"/>
          </a:xfrm>
          <a:custGeom>
            <a:avLst/>
            <a:gdLst/>
            <a:ahLst/>
            <a:cxnLst/>
            <a:rect l="l" t="t" r="r" b="b"/>
            <a:pathLst>
              <a:path w="373494" h="28575">
                <a:moveTo>
                  <a:pt x="11545" y="0"/>
                </a:moveTo>
                <a:lnTo>
                  <a:pt x="373494" y="0"/>
                </a:lnTo>
                <a:lnTo>
                  <a:pt x="361949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"/>
          <p:cNvSpPr/>
          <p:nvPr/>
        </p:nvSpPr>
        <p:spPr>
          <a:xfrm>
            <a:off x="6200295" y="2114550"/>
            <a:ext cx="502510" cy="238125"/>
          </a:xfrm>
          <a:custGeom>
            <a:avLst/>
            <a:gdLst/>
            <a:ahLst/>
            <a:cxnLst/>
            <a:rect l="l" t="t" r="r" b="b"/>
            <a:pathLst>
              <a:path w="502510" h="238125">
                <a:moveTo>
                  <a:pt x="95586" y="0"/>
                </a:moveTo>
                <a:lnTo>
                  <a:pt x="502510" y="0"/>
                </a:lnTo>
                <a:lnTo>
                  <a:pt x="406924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"/>
          <p:cNvSpPr/>
          <p:nvPr/>
        </p:nvSpPr>
        <p:spPr>
          <a:xfrm>
            <a:off x="6200295" y="3001416"/>
            <a:ext cx="531233" cy="238125"/>
          </a:xfrm>
          <a:custGeom>
            <a:avLst/>
            <a:gdLst/>
            <a:ahLst/>
            <a:cxnLst/>
            <a:rect l="l" t="t" r="r" b="b"/>
            <a:pathLst>
              <a:path w="531233" h="238125">
                <a:moveTo>
                  <a:pt x="95646" y="0"/>
                </a:moveTo>
                <a:lnTo>
                  <a:pt x="531233" y="0"/>
                </a:lnTo>
                <a:lnTo>
                  <a:pt x="435587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um"/>
          <p:cNvSpPr/>
          <p:nvPr/>
        </p:nvSpPr>
        <p:spPr>
          <a:xfrm>
            <a:off x="6200295" y="3888283"/>
            <a:ext cx="528554" cy="238125"/>
          </a:xfrm>
          <a:custGeom>
            <a:avLst/>
            <a:gdLst/>
            <a:ahLst/>
            <a:cxnLst/>
            <a:rect l="l" t="t" r="r" b="b"/>
            <a:pathLst>
              <a:path w="528554" h="238125">
                <a:moveTo>
                  <a:pt x="96891" y="0"/>
                </a:moveTo>
                <a:lnTo>
                  <a:pt x="528554" y="0"/>
                </a:lnTo>
                <a:lnTo>
                  <a:pt x="431663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"/>
          <p:cNvSpPr/>
          <p:nvPr/>
        </p:nvSpPr>
        <p:spPr>
          <a:xfrm>
            <a:off x="6200295" y="4775150"/>
            <a:ext cx="535847" cy="238125"/>
          </a:xfrm>
          <a:custGeom>
            <a:avLst/>
            <a:gdLst/>
            <a:ahLst/>
            <a:cxnLst/>
            <a:rect l="l" t="t" r="r" b="b"/>
            <a:pathLst>
              <a:path w="535847" h="238125">
                <a:moveTo>
                  <a:pt x="96477" y="0"/>
                </a:moveTo>
                <a:lnTo>
                  <a:pt x="535847" y="0"/>
                </a:lnTo>
                <a:lnTo>
                  <a:pt x="439370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"/>
          <p:cNvSpPr/>
          <p:nvPr/>
        </p:nvSpPr>
        <p:spPr>
          <a:xfrm>
            <a:off x="6200295" y="5662017"/>
            <a:ext cx="528406" cy="238125"/>
          </a:xfrm>
          <a:custGeom>
            <a:avLst/>
            <a:gdLst/>
            <a:ahLst/>
            <a:cxnLst/>
            <a:rect l="l" t="t" r="r" b="b"/>
            <a:pathLst>
              <a:path w="528406" h="238125">
                <a:moveTo>
                  <a:pt x="96864" y="0"/>
                </a:moveTo>
                <a:lnTo>
                  <a:pt x="528406" y="0"/>
                </a:lnTo>
                <a:lnTo>
                  <a:pt x="431542" y="238125"/>
                </a:lnTo>
                <a:lnTo>
                  <a:pt x="0" y="2381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obre las fotos" descr="encima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62750" y="533400"/>
            <a:ext cx="154468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QUIÉNES SOMOS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8400" y="771525"/>
            <a:ext cx="2303412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Nuestros valores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1334690"/>
            <a:ext cx="5022502" cy="3923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39"/>
              </a:lnSpc>
            </a:pPr>
            <a:r>
              <a:rPr sz="1087" b="0" i="0">
                <a:solidFill>
                  <a:srgbClr val="FFFFFF"/>
                </a:solidFill>
                <a:latin typeface="Barlow"/>
              </a:rPr>
              <a:t>En Constructora Vidalsa27, C.A. construimos con propósito. Estos son los principios que guían nuestra conducta y nuestro compromiso social: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275" y="2152650"/>
            <a:ext cx="19675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7100" y="2095500"/>
            <a:ext cx="1037332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SEGURIDAD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7100" y="2332880"/>
            <a:ext cx="4470945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Cuidamos a nuestra gente y a nuestros clientes. La protección en cada frente de trabajo no es negociable.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5" y="3039516"/>
            <a:ext cx="22547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5824" y="2982366"/>
            <a:ext cx="1104007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INTEGRIDAD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5824" y="3219747"/>
            <a:ext cx="4484191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Ética y honestidad de principio a fin. Cultivamos relaciones sólidas basadas en la confianza.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275" y="3926383"/>
            <a:ext cx="2227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3145" y="3869233"/>
            <a:ext cx="1052214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EFICIENCIA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3145" y="4106614"/>
            <a:ext cx="4096791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Respetamos tu tiempo y tu inversión. Optimizamos recursos para cumplir compromisos sin margen de demora.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275" y="4813250"/>
            <a:ext cx="23008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0438" y="4756100"/>
            <a:ext cx="1112341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INNOVACIÓN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0438" y="4993481"/>
            <a:ext cx="4602063" cy="36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Evolución constante. Buscamos estar siempre un paso adelante en metodologías y visión de negocio.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275" y="5700117"/>
            <a:ext cx="22264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sz="1050" b="1" i="0">
                <a:solidFill>
                  <a:srgbClr val="FFFFFF"/>
                </a:solidFill>
                <a:latin typeface="Barlow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2996" y="5642967"/>
            <a:ext cx="2204144" cy="171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0"/>
              </a:lnSpc>
            </a:pPr>
            <a:r>
              <a:rPr sz="1087" b="1" i="0" spc="217">
                <a:solidFill>
                  <a:srgbClr val="FFFFFF"/>
                </a:solidFill>
                <a:latin typeface="Barlow"/>
              </a:rPr>
              <a:t>COMPROMISO AMBIENTAL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2996" y="5880348"/>
            <a:ext cx="4402782" cy="57328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sz="1012" b="0" i="0">
                <a:solidFill>
                  <a:srgbClr val="FFFFFF"/>
                </a:solidFill>
                <a:latin typeface="Barlow"/>
              </a:rPr>
              <a:t>Construimos el futuro sin comprometer el presente, diseñando procesos respetuosos con el entorno, salvaguardando el ambiente para las generaciones futuras.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oficina_caracas" descr="foto_05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470" y="0"/>
            <a:ext cx="6949380" cy="1714500"/>
          </a:xfrm>
          <a:prstGeom prst="rect">
            <a:avLst/>
          </a:prstGeom>
        </p:spPr>
      </p:pic>
      <p:pic>
        <p:nvPicPr>
          <p:cNvPr id="4" name="oficina_lecheria" descr="foto_05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470" y="1714500"/>
            <a:ext cx="6949380" cy="1714500"/>
          </a:xfrm>
          <a:prstGeom prst="rect">
            <a:avLst/>
          </a:prstGeom>
        </p:spPr>
      </p:pic>
      <p:pic>
        <p:nvPicPr>
          <p:cNvPr id="5" name="oficina_eltigre" descr="foto_05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2470" y="3429000"/>
            <a:ext cx="6949380" cy="1714500"/>
          </a:xfrm>
          <a:prstGeom prst="rect">
            <a:avLst/>
          </a:prstGeom>
        </p:spPr>
      </p:pic>
      <p:pic>
        <p:nvPicPr>
          <p:cNvPr id="6" name="oficina_maturin" descr="foto_05_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2470" y="5143500"/>
            <a:ext cx="6949380" cy="1714500"/>
          </a:xfrm>
          <a:prstGeom prst="rect">
            <a:avLst/>
          </a:prstGeom>
        </p:spPr>
      </p:pic>
      <p:sp>
        <p:nvSpPr>
          <p:cNvPr id="7" name="chip"/>
          <p:cNvSpPr/>
          <p:nvPr/>
        </p:nvSpPr>
        <p:spPr>
          <a:xfrm>
            <a:off x="5057168" y="0"/>
            <a:ext cx="1327867" cy="257175"/>
          </a:xfrm>
          <a:custGeom>
            <a:avLst/>
            <a:gdLst/>
            <a:ahLst/>
            <a:cxnLst/>
            <a:rect l="l" t="t" r="r" b="b"/>
            <a:pathLst>
              <a:path w="1327867" h="257175">
                <a:moveTo>
                  <a:pt x="103534" y="0"/>
                </a:moveTo>
                <a:lnTo>
                  <a:pt x="1327867" y="0"/>
                </a:lnTo>
                <a:lnTo>
                  <a:pt x="1224333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ip"/>
          <p:cNvSpPr/>
          <p:nvPr/>
        </p:nvSpPr>
        <p:spPr>
          <a:xfrm>
            <a:off x="5057168" y="1714500"/>
            <a:ext cx="1381743" cy="257175"/>
          </a:xfrm>
          <a:custGeom>
            <a:avLst/>
            <a:gdLst/>
            <a:ahLst/>
            <a:cxnLst/>
            <a:rect l="l" t="t" r="r" b="b"/>
            <a:pathLst>
              <a:path w="1381743" h="257175">
                <a:moveTo>
                  <a:pt x="104017" y="0"/>
                </a:moveTo>
                <a:lnTo>
                  <a:pt x="1381743" y="0"/>
                </a:lnTo>
                <a:lnTo>
                  <a:pt x="1277726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ip"/>
          <p:cNvSpPr/>
          <p:nvPr/>
        </p:nvSpPr>
        <p:spPr>
          <a:xfrm>
            <a:off x="5057168" y="3429000"/>
            <a:ext cx="1329356" cy="257175"/>
          </a:xfrm>
          <a:custGeom>
            <a:avLst/>
            <a:gdLst/>
            <a:ahLst/>
            <a:cxnLst/>
            <a:rect l="l" t="t" r="r" b="b"/>
            <a:pathLst>
              <a:path w="1329356" h="257175">
                <a:moveTo>
                  <a:pt x="103650" y="0"/>
                </a:moveTo>
                <a:lnTo>
                  <a:pt x="1329356" y="0"/>
                </a:lnTo>
                <a:lnTo>
                  <a:pt x="1225706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ip"/>
          <p:cNvSpPr/>
          <p:nvPr/>
        </p:nvSpPr>
        <p:spPr>
          <a:xfrm>
            <a:off x="5057168" y="5143500"/>
            <a:ext cx="1300185" cy="257175"/>
          </a:xfrm>
          <a:custGeom>
            <a:avLst/>
            <a:gdLst/>
            <a:ahLst/>
            <a:cxnLst/>
            <a:rect l="l" t="t" r="r" b="b"/>
            <a:pathLst>
              <a:path w="1300185" h="257175">
                <a:moveTo>
                  <a:pt x="103597" y="0"/>
                </a:moveTo>
                <a:lnTo>
                  <a:pt x="1300185" y="0"/>
                </a:lnTo>
                <a:lnTo>
                  <a:pt x="1196588" y="257175"/>
                </a:lnTo>
                <a:lnTo>
                  <a:pt x="0" y="25717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"/>
          <p:cNvSpPr/>
          <p:nvPr/>
        </p:nvSpPr>
        <p:spPr>
          <a:xfrm>
            <a:off x="-477586" y="-548580"/>
            <a:ext cx="1345698" cy="7955160"/>
          </a:xfrm>
          <a:custGeom>
            <a:avLst/>
            <a:gdLst/>
            <a:ahLst/>
            <a:cxnLst/>
            <a:rect l="l" t="t" r="r" b="b"/>
            <a:pathLst>
              <a:path w="1345698" h="7955160">
                <a:moveTo>
                  <a:pt x="1259955" y="0"/>
                </a:moveTo>
                <a:lnTo>
                  <a:pt x="1345698" y="0"/>
                </a:lnTo>
                <a:lnTo>
                  <a:pt x="85743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"/>
          <p:cNvSpPr/>
          <p:nvPr/>
        </p:nvSpPr>
        <p:spPr>
          <a:xfrm>
            <a:off x="-248986" y="-548580"/>
            <a:ext cx="1307598" cy="7955160"/>
          </a:xfrm>
          <a:custGeom>
            <a:avLst/>
            <a:gdLst/>
            <a:ahLst/>
            <a:cxnLst/>
            <a:rect l="l" t="t" r="r" b="b"/>
            <a:pathLst>
              <a:path w="1307598" h="7955160">
                <a:moveTo>
                  <a:pt x="1259963" y="0"/>
                </a:moveTo>
                <a:lnTo>
                  <a:pt x="1307598" y="0"/>
                </a:lnTo>
                <a:lnTo>
                  <a:pt x="47635" y="7955160"/>
                </a:lnTo>
                <a:lnTo>
                  <a:pt x="0" y="79551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756227" y="66853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stado"/>
          <p:cNvSpPr/>
          <p:nvPr/>
        </p:nvSpPr>
        <p:spPr>
          <a:xfrm>
            <a:off x="1474888" y="1649015"/>
            <a:ext cx="1221577" cy="161925"/>
          </a:xfrm>
          <a:custGeom>
            <a:avLst/>
            <a:gdLst/>
            <a:ahLst/>
            <a:cxnLst/>
            <a:rect l="l" t="t" r="r" b="b"/>
            <a:pathLst>
              <a:path w="1221577" h="161925">
                <a:moveTo>
                  <a:pt x="46567" y="0"/>
                </a:moveTo>
                <a:lnTo>
                  <a:pt x="1221577" y="0"/>
                </a:lnTo>
                <a:lnTo>
                  <a:pt x="11750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stado"/>
          <p:cNvSpPr/>
          <p:nvPr/>
        </p:nvSpPr>
        <p:spPr>
          <a:xfrm>
            <a:off x="1510904" y="2902743"/>
            <a:ext cx="1848442" cy="161925"/>
          </a:xfrm>
          <a:custGeom>
            <a:avLst/>
            <a:gdLst/>
            <a:ahLst/>
            <a:cxnLst/>
            <a:rect l="l" t="t" r="r" b="b"/>
            <a:pathLst>
              <a:path w="1848442" h="161925">
                <a:moveTo>
                  <a:pt x="46476" y="0"/>
                </a:moveTo>
                <a:lnTo>
                  <a:pt x="1848442" y="0"/>
                </a:lnTo>
                <a:lnTo>
                  <a:pt x="1801966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stado"/>
          <p:cNvSpPr/>
          <p:nvPr/>
        </p:nvSpPr>
        <p:spPr>
          <a:xfrm>
            <a:off x="1424882" y="4346971"/>
            <a:ext cx="1206695" cy="161925"/>
          </a:xfrm>
          <a:custGeom>
            <a:avLst/>
            <a:gdLst/>
            <a:ahLst/>
            <a:cxnLst/>
            <a:rect l="l" t="t" r="r" b="b"/>
            <a:pathLst>
              <a:path w="1206695" h="161925">
                <a:moveTo>
                  <a:pt x="46363" y="0"/>
                </a:moveTo>
                <a:lnTo>
                  <a:pt x="1206695" y="0"/>
                </a:lnTo>
                <a:lnTo>
                  <a:pt x="1160332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stado"/>
          <p:cNvSpPr/>
          <p:nvPr/>
        </p:nvSpPr>
        <p:spPr>
          <a:xfrm>
            <a:off x="1417440" y="5600700"/>
            <a:ext cx="1206695" cy="161925"/>
          </a:xfrm>
          <a:custGeom>
            <a:avLst/>
            <a:gdLst/>
            <a:ahLst/>
            <a:cxnLst/>
            <a:rect l="l" t="t" r="r" b="b"/>
            <a:pathLst>
              <a:path w="1206695" h="161925">
                <a:moveTo>
                  <a:pt x="46363" y="0"/>
                </a:moveTo>
                <a:lnTo>
                  <a:pt x="1206695" y="0"/>
                </a:lnTo>
                <a:lnTo>
                  <a:pt x="1160332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5F698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obre las fotos" descr="encima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13920" y="66675"/>
            <a:ext cx="7477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CARACAS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920" y="1781175"/>
            <a:ext cx="801588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LECHERÍA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920" y="3495675"/>
            <a:ext cx="74920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EL TIGRE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920" y="5210175"/>
            <a:ext cx="72003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MATURÍN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6350" y="601860"/>
            <a:ext cx="158472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DÓNDE ESTAMOS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839985"/>
            <a:ext cx="2389882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FFFFFF"/>
                </a:solidFill>
                <a:latin typeface="Barlow Condensed"/>
              </a:rPr>
              <a:t>Nuestras oficinas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1603176"/>
            <a:ext cx="698003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8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Caracas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3353" y="1668065"/>
            <a:ext cx="106084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FFFFFF"/>
                </a:solidFill>
                <a:latin typeface="Barlow"/>
              </a:rPr>
              <a:t>Sede Corporativa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1942504"/>
            <a:ext cx="342513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Calle París entre New York y Caroní, Edif. #177, Urb. Las Mercedes, Municipio Baruta, Edo. Miranda.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2856904"/>
            <a:ext cx="734020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8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Lechería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9370" y="2921793"/>
            <a:ext cx="168771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FFFFFF"/>
                </a:solidFill>
                <a:latin typeface="Barlow"/>
              </a:rPr>
              <a:t>Sede Administrativa Oriente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196232"/>
            <a:ext cx="3723679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Avenida Intercomunal, entre el Banco Venezolano de Crédito y el Centro Médico Meditotal, planta baja del Spa Hotel, municipio Diego Bautista Urbaneja, estado Anzoátegui.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4301132"/>
            <a:ext cx="647997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8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El Tigre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3347" y="4366021"/>
            <a:ext cx="104596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FFFFFF"/>
                </a:solidFill>
                <a:latin typeface="Barlow"/>
              </a:rPr>
              <a:t>Centro Operativo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4640460"/>
            <a:ext cx="3273474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Patio de máquinas. Avenida La Bomba, adyacente a la Finca La Valentina, municipio Simón Rodríguez, estado Anzoátegui.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5554860"/>
            <a:ext cx="640556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8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Maturín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5906" y="5619750"/>
            <a:ext cx="1045964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FFFFFF"/>
                </a:solidFill>
                <a:latin typeface="Barlow"/>
              </a:rPr>
              <a:t>Centro Operativo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5894189"/>
            <a:ext cx="3398341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Patio de máquinas. Vía El Rincón de Monagas, adyacente a la Urb. Sabana Club, municipio Maturín, estado Monagas.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50482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servicio_1_zanja" descr="foto_06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91000"/>
            <a:ext cx="2621160" cy="2667000"/>
          </a:xfrm>
          <a:custGeom>
            <a:avLst/>
            <a:gdLst/>
            <a:ahLst/>
            <a:cxnLst/>
            <a:rect l="l" t="t" r="r" b="b"/>
            <a:pathLst>
              <a:path w="2621160" h="2667000">
                <a:moveTo>
                  <a:pt x="0" y="0"/>
                </a:moveTo>
                <a:lnTo>
                  <a:pt x="2621160" y="0"/>
                </a:lnTo>
                <a:lnTo>
                  <a:pt x="2227986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5" name="servicio_2_tendido" descr="foto_0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56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6" name="servicio_3_soldadura" descr="foto_06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0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7" name="servicio_4_valvula" descr="foto_06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439" y="4191000"/>
            <a:ext cx="2803921" cy="2667000"/>
          </a:xfrm>
          <a:custGeom>
            <a:avLst/>
            <a:gdLst/>
            <a:ahLst/>
            <a:cxnLst/>
            <a:rect l="l" t="t" r="r" b="b"/>
            <a:pathLst>
              <a:path w="2803921" h="2667000">
                <a:moveTo>
                  <a:pt x="420588" y="0"/>
                </a:moveTo>
                <a:lnTo>
                  <a:pt x="2803921" y="0"/>
                </a:lnTo>
                <a:lnTo>
                  <a:pt x="2383333" y="2667000"/>
                </a:lnTo>
                <a:lnTo>
                  <a:pt x="0" y="2667000"/>
                </a:lnTo>
                <a:close/>
              </a:path>
            </a:pathLst>
          </a:custGeom>
        </p:spPr>
      </p:pic>
      <p:pic>
        <p:nvPicPr>
          <p:cNvPr id="8" name="servicio_5_maquinaria" descr="foto_06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70839" y="4191000"/>
            <a:ext cx="2621160" cy="2667000"/>
          </a:xfrm>
          <a:custGeom>
            <a:avLst/>
            <a:gdLst/>
            <a:ahLst/>
            <a:cxnLst/>
            <a:rect l="l" t="t" r="r" b="b"/>
            <a:pathLst>
              <a:path w="2621160" h="2667000">
                <a:moveTo>
                  <a:pt x="393174" y="0"/>
                </a:moveTo>
                <a:lnTo>
                  <a:pt x="2621160" y="0"/>
                </a:lnTo>
                <a:lnTo>
                  <a:pt x="2621160" y="2667000"/>
                </a:lnTo>
                <a:lnTo>
                  <a:pt x="0" y="2667000"/>
                </a:lnTo>
                <a:close/>
              </a:path>
            </a:pathLst>
          </a:custGeom>
        </p:spPr>
      </p:pic>
      <p:sp>
        <p:nvSpPr>
          <p:cNvPr id="9" name="i"/>
          <p:cNvSpPr/>
          <p:nvPr/>
        </p:nvSpPr>
        <p:spPr>
          <a:xfrm>
            <a:off x="-93468" y="1309985"/>
            <a:ext cx="577461" cy="3104703"/>
          </a:xfrm>
          <a:custGeom>
            <a:avLst/>
            <a:gdLst/>
            <a:ahLst/>
            <a:cxnLst/>
            <a:rect l="l" t="t" r="r" b="b"/>
            <a:pathLst>
              <a:path w="577461" h="3104703">
                <a:moveTo>
                  <a:pt x="491746" y="0"/>
                </a:moveTo>
                <a:lnTo>
                  <a:pt x="577461" y="0"/>
                </a:lnTo>
                <a:lnTo>
                  <a:pt x="85715" y="3104703"/>
                </a:lnTo>
                <a:lnTo>
                  <a:pt x="0" y="3104703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"/>
          <p:cNvSpPr/>
          <p:nvPr/>
        </p:nvSpPr>
        <p:spPr>
          <a:xfrm>
            <a:off x="135131" y="1309985"/>
            <a:ext cx="539361" cy="3104703"/>
          </a:xfrm>
          <a:custGeom>
            <a:avLst/>
            <a:gdLst/>
            <a:ahLst/>
            <a:cxnLst/>
            <a:rect l="l" t="t" r="r" b="b"/>
            <a:pathLst>
              <a:path w="539361" h="3104703">
                <a:moveTo>
                  <a:pt x="491742" y="0"/>
                </a:moveTo>
                <a:lnTo>
                  <a:pt x="539361" y="0"/>
                </a:lnTo>
                <a:lnTo>
                  <a:pt x="47619" y="3104703"/>
                </a:lnTo>
                <a:lnTo>
                  <a:pt x="0" y="3104703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762000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ayita"/>
          <p:cNvSpPr/>
          <p:nvPr/>
        </p:nvSpPr>
        <p:spPr>
          <a:xfrm>
            <a:off x="762000" y="312881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762000" y="340116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ayita"/>
          <p:cNvSpPr/>
          <p:nvPr/>
        </p:nvSpPr>
        <p:spPr>
          <a:xfrm>
            <a:off x="762000" y="367352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762000" y="3945880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ayita"/>
          <p:cNvSpPr/>
          <p:nvPr/>
        </p:nvSpPr>
        <p:spPr>
          <a:xfrm>
            <a:off x="3500437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3500437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ayita"/>
          <p:cNvSpPr/>
          <p:nvPr/>
        </p:nvSpPr>
        <p:spPr>
          <a:xfrm>
            <a:off x="3500437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3500437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ayita"/>
          <p:cNvSpPr/>
          <p:nvPr/>
        </p:nvSpPr>
        <p:spPr>
          <a:xfrm>
            <a:off x="3500437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6238875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ayita"/>
          <p:cNvSpPr/>
          <p:nvPr/>
        </p:nvSpPr>
        <p:spPr>
          <a:xfrm>
            <a:off x="6238875" y="312881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6238875" y="340116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ayita"/>
          <p:cNvSpPr/>
          <p:nvPr/>
        </p:nvSpPr>
        <p:spPr>
          <a:xfrm>
            <a:off x="6238875" y="367352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8977312" y="2669827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ayita"/>
          <p:cNvSpPr/>
          <p:nvPr/>
        </p:nvSpPr>
        <p:spPr>
          <a:xfrm>
            <a:off x="8977312" y="2942183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8977312" y="3214538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ayita"/>
          <p:cNvSpPr/>
          <p:nvPr/>
        </p:nvSpPr>
        <p:spPr>
          <a:xfrm>
            <a:off x="8977312" y="3486894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8977312" y="3759249"/>
            <a:ext cx="104775" cy="66675"/>
          </a:xfrm>
          <a:custGeom>
            <a:avLst/>
            <a:gdLst/>
            <a:ahLst/>
            <a:cxnLst/>
            <a:rect l="l" t="t" r="r" b="b"/>
            <a:pathLst>
              <a:path w="104775" h="66675">
                <a:moveTo>
                  <a:pt x="0" y="66675"/>
                </a:moveTo>
                <a:lnTo>
                  <a:pt x="33528" y="0"/>
                </a:lnTo>
                <a:lnTo>
                  <a:pt x="104775" y="0"/>
                </a:lnTo>
                <a:lnTo>
                  <a:pt x="71247" y="66675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sobre las fotos" descr="encima_0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28750" y="438150"/>
            <a:ext cx="13535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2A3C78"/>
                </a:solidFill>
                <a:latin typeface="Barlow"/>
              </a:rPr>
              <a:t>QUÉ HACEMOS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66750"/>
            <a:ext cx="3448794" cy="5905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017"/>
              </a:lnSpc>
            </a:pPr>
            <a:r>
              <a:rPr sz="3900" b="1" i="0">
                <a:solidFill>
                  <a:srgbClr val="122149"/>
                </a:solidFill>
                <a:latin typeface="Barlow Condensed"/>
              </a:rPr>
              <a:t>Nuestros servicios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1676400"/>
            <a:ext cx="239017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847850"/>
            <a:ext cx="1954857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Construcción de Ductos Petroleros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550" y="2612677"/>
            <a:ext cx="1623863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Soldadura de 3/4″ a 42″ con procedimiento calificado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550" y="3071663"/>
            <a:ext cx="18096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Tubería enterrada y superficial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" y="3344019"/>
            <a:ext cx="230534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Revestimiento y protección de tuberías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1550" y="3616374"/>
            <a:ext cx="204445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Ingeniería, topografía y excavación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" y="3888730"/>
            <a:ext cx="177849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Prueba hidrostática y flushing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00437" y="1676400"/>
            <a:ext cx="26357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00437" y="1847850"/>
            <a:ext cx="1939974" cy="49232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Servicios de Alquiler de Equipos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9987" y="2612677"/>
            <a:ext cx="1625203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Maquinaria pesada y liviana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9987" y="2885033"/>
            <a:ext cx="204608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Izamiento e instalación de equipos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9987" y="3157388"/>
            <a:ext cx="204579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Chuto/batea y lowboy con escoltas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9987" y="3429744"/>
            <a:ext cx="156403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Vacuum y brazo hidráulico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9987" y="3702099"/>
            <a:ext cx="217780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Cortafuegos y estaciones de válvulas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8875" y="1676400"/>
            <a:ext cx="2613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8875" y="1847850"/>
            <a:ext cx="2042963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Ambiente y Saneamiento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8425" y="2612677"/>
            <a:ext cx="2095648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Saneamiento de áreas por afectaciones con derrame de crudo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8425" y="3071663"/>
            <a:ext cx="13918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Trasegado con vacuum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8425" y="3344019"/>
            <a:ext cx="205323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Tratamiento y disposición de suelo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8425" y="3616374"/>
            <a:ext cx="2148185" cy="348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Saneamiento de lagunas a través del dragado de sólidos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77312" y="1676400"/>
            <a:ext cx="26744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FFFFFF"/>
                </a:solidFill>
                <a:latin typeface="Barlow"/>
              </a:rP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77312" y="1847850"/>
            <a:ext cx="1742628" cy="26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76"/>
              </a:lnSpc>
            </a:pPr>
            <a:r>
              <a:rPr sz="1725" b="1" i="0">
                <a:solidFill>
                  <a:srgbClr val="FFFFFF"/>
                </a:solidFill>
                <a:latin typeface="Barlow Condensed"/>
              </a:rPr>
              <a:t>Suministro y Procura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86862" y="2612677"/>
            <a:ext cx="231948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Válvulas bridadas de compuerta y globo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6862" y="2885033"/>
            <a:ext cx="185514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Bridas, codos, te y reducciones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6862" y="3157388"/>
            <a:ext cx="1623566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Weldolets, niples y tapones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6862" y="3429744"/>
            <a:ext cx="1623119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Empacaduras y espárragos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6862" y="3702099"/>
            <a:ext cx="148560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Mangas y revestimientos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76200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stado"/>
          <p:cNvSpPr/>
          <p:nvPr/>
        </p:nvSpPr>
        <p:spPr>
          <a:xfrm>
            <a:off x="2199234" y="2873871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6200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2199234" y="3554313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762000" y="38972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stado"/>
          <p:cNvSpPr/>
          <p:nvPr/>
        </p:nvSpPr>
        <p:spPr>
          <a:xfrm>
            <a:off x="2274690" y="4046934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762000" y="43898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stado"/>
          <p:cNvSpPr/>
          <p:nvPr/>
        </p:nvSpPr>
        <p:spPr>
          <a:xfrm>
            <a:off x="2199234" y="4539555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ayita"/>
          <p:cNvSpPr/>
          <p:nvPr/>
        </p:nvSpPr>
        <p:spPr>
          <a:xfrm>
            <a:off x="762000" y="4882455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stado"/>
          <p:cNvSpPr/>
          <p:nvPr/>
        </p:nvSpPr>
        <p:spPr>
          <a:xfrm>
            <a:off x="1881189" y="5032176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yita"/>
          <p:cNvSpPr/>
          <p:nvPr/>
        </p:nvSpPr>
        <p:spPr>
          <a:xfrm>
            <a:off x="762000" y="53750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stado"/>
          <p:cNvSpPr/>
          <p:nvPr/>
        </p:nvSpPr>
        <p:spPr>
          <a:xfrm>
            <a:off x="2199234" y="5524797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ayita"/>
          <p:cNvSpPr/>
          <p:nvPr/>
        </p:nvSpPr>
        <p:spPr>
          <a:xfrm>
            <a:off x="762000" y="5867697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stado"/>
          <p:cNvSpPr/>
          <p:nvPr/>
        </p:nvSpPr>
        <p:spPr>
          <a:xfrm>
            <a:off x="2842172" y="6017418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ayita"/>
          <p:cNvSpPr/>
          <p:nvPr/>
        </p:nvSpPr>
        <p:spPr>
          <a:xfrm>
            <a:off x="447035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stado"/>
          <p:cNvSpPr/>
          <p:nvPr/>
        </p:nvSpPr>
        <p:spPr>
          <a:xfrm>
            <a:off x="6051799" y="2873871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yita"/>
          <p:cNvSpPr/>
          <p:nvPr/>
        </p:nvSpPr>
        <p:spPr>
          <a:xfrm>
            <a:off x="447035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stado"/>
          <p:cNvSpPr/>
          <p:nvPr/>
        </p:nvSpPr>
        <p:spPr>
          <a:xfrm>
            <a:off x="6051799" y="3366492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ayita"/>
          <p:cNvSpPr/>
          <p:nvPr/>
        </p:nvSpPr>
        <p:spPr>
          <a:xfrm>
            <a:off x="4470350" y="370939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stado"/>
          <p:cNvSpPr/>
          <p:nvPr/>
        </p:nvSpPr>
        <p:spPr>
          <a:xfrm>
            <a:off x="6051799" y="3859113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ayita"/>
          <p:cNvSpPr/>
          <p:nvPr/>
        </p:nvSpPr>
        <p:spPr>
          <a:xfrm>
            <a:off x="4470350" y="42020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stado"/>
          <p:cNvSpPr/>
          <p:nvPr/>
        </p:nvSpPr>
        <p:spPr>
          <a:xfrm>
            <a:off x="6051799" y="4351734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ayita"/>
          <p:cNvSpPr/>
          <p:nvPr/>
        </p:nvSpPr>
        <p:spPr>
          <a:xfrm>
            <a:off x="4470350" y="46946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stado"/>
          <p:cNvSpPr/>
          <p:nvPr/>
        </p:nvSpPr>
        <p:spPr>
          <a:xfrm>
            <a:off x="6051799" y="4844355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ayita"/>
          <p:cNvSpPr/>
          <p:nvPr/>
        </p:nvSpPr>
        <p:spPr>
          <a:xfrm>
            <a:off x="8178700" y="2724150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stado"/>
          <p:cNvSpPr/>
          <p:nvPr/>
        </p:nvSpPr>
        <p:spPr>
          <a:xfrm>
            <a:off x="9744969" y="2873871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ayita"/>
          <p:cNvSpPr/>
          <p:nvPr/>
        </p:nvSpPr>
        <p:spPr>
          <a:xfrm>
            <a:off x="8178700" y="3216771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stado"/>
          <p:cNvSpPr/>
          <p:nvPr/>
        </p:nvSpPr>
        <p:spPr>
          <a:xfrm>
            <a:off x="9691391" y="3366492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ayita"/>
          <p:cNvSpPr/>
          <p:nvPr/>
        </p:nvSpPr>
        <p:spPr>
          <a:xfrm>
            <a:off x="8178700" y="3709392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stado"/>
          <p:cNvSpPr/>
          <p:nvPr/>
        </p:nvSpPr>
        <p:spPr>
          <a:xfrm>
            <a:off x="9760149" y="3859113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ayita"/>
          <p:cNvSpPr/>
          <p:nvPr/>
        </p:nvSpPr>
        <p:spPr>
          <a:xfrm>
            <a:off x="8178700" y="4202013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stado"/>
          <p:cNvSpPr/>
          <p:nvPr/>
        </p:nvSpPr>
        <p:spPr>
          <a:xfrm>
            <a:off x="9760149" y="4351734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ayita"/>
          <p:cNvSpPr/>
          <p:nvPr/>
        </p:nvSpPr>
        <p:spPr>
          <a:xfrm>
            <a:off x="8178700" y="4694634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stado"/>
          <p:cNvSpPr/>
          <p:nvPr/>
        </p:nvSpPr>
        <p:spPr>
          <a:xfrm>
            <a:off x="9760149" y="4844355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ayita"/>
          <p:cNvSpPr/>
          <p:nvPr/>
        </p:nvSpPr>
        <p:spPr>
          <a:xfrm>
            <a:off x="8178700" y="5187255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stado"/>
          <p:cNvSpPr/>
          <p:nvPr/>
        </p:nvSpPr>
        <p:spPr>
          <a:xfrm>
            <a:off x="9760149" y="5336976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ayita"/>
          <p:cNvSpPr/>
          <p:nvPr/>
        </p:nvSpPr>
        <p:spPr>
          <a:xfrm>
            <a:off x="8178700" y="5679876"/>
            <a:ext cx="123825" cy="76200"/>
          </a:xfrm>
          <a:custGeom>
            <a:avLst/>
            <a:gdLst/>
            <a:ahLst/>
            <a:cxnLst/>
            <a:rect l="l" t="t" r="r" b="b"/>
            <a:pathLst>
              <a:path w="123825" h="76200">
                <a:moveTo>
                  <a:pt x="0" y="76200"/>
                </a:moveTo>
                <a:lnTo>
                  <a:pt x="39624" y="0"/>
                </a:lnTo>
                <a:lnTo>
                  <a:pt x="123825" y="0"/>
                </a:lnTo>
                <a:lnTo>
                  <a:pt x="84201" y="762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stado"/>
          <p:cNvSpPr/>
          <p:nvPr/>
        </p:nvSpPr>
        <p:spPr>
          <a:xfrm>
            <a:off x="9760149" y="5829597"/>
            <a:ext cx="1067244" cy="161925"/>
          </a:xfrm>
          <a:custGeom>
            <a:avLst/>
            <a:gdLst/>
            <a:ahLst/>
            <a:cxnLst/>
            <a:rect l="l" t="t" r="r" b="b"/>
            <a:pathLst>
              <a:path w="1067244" h="161925">
                <a:moveTo>
                  <a:pt x="46503" y="0"/>
                </a:moveTo>
                <a:lnTo>
                  <a:pt x="1067244" y="0"/>
                </a:lnTo>
                <a:lnTo>
                  <a:pt x="102074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ortafolio_oleoducto" descr="foto_07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809750"/>
          </a:xfrm>
          <a:prstGeom prst="rect">
            <a:avLst/>
          </a:prstGeom>
        </p:spPr>
      </p:pic>
      <p:sp>
        <p:nvSpPr>
          <p:cNvPr id="42" name="i"/>
          <p:cNvSpPr/>
          <p:nvPr/>
        </p:nvSpPr>
        <p:spPr>
          <a:xfrm>
            <a:off x="-13841" y="-144660"/>
            <a:ext cx="418208" cy="2099220"/>
          </a:xfrm>
          <a:custGeom>
            <a:avLst/>
            <a:gdLst/>
            <a:ahLst/>
            <a:cxnLst/>
            <a:rect l="l" t="t" r="r" b="b"/>
            <a:pathLst>
              <a:path w="418208" h="2099220">
                <a:moveTo>
                  <a:pt x="332362" y="0"/>
                </a:moveTo>
                <a:lnTo>
                  <a:pt x="418208" y="0"/>
                </a:lnTo>
                <a:lnTo>
                  <a:pt x="85846" y="2099220"/>
                </a:lnTo>
                <a:lnTo>
                  <a:pt x="0" y="209922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"/>
          <p:cNvSpPr/>
          <p:nvPr/>
        </p:nvSpPr>
        <p:spPr>
          <a:xfrm>
            <a:off x="214758" y="-144660"/>
            <a:ext cx="380108" cy="2099220"/>
          </a:xfrm>
          <a:custGeom>
            <a:avLst/>
            <a:gdLst/>
            <a:ahLst/>
            <a:cxnLst/>
            <a:rect l="l" t="t" r="r" b="b"/>
            <a:pathLst>
              <a:path w="380108" h="2099220">
                <a:moveTo>
                  <a:pt x="332409" y="0"/>
                </a:moveTo>
                <a:lnTo>
                  <a:pt x="380108" y="0"/>
                </a:lnTo>
                <a:lnTo>
                  <a:pt x="47699" y="2099220"/>
                </a:lnTo>
                <a:lnTo>
                  <a:pt x="0" y="209922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sobre las fotos" descr="encima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28750" y="660945"/>
            <a:ext cx="1211758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PORTAFOLIO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889545"/>
            <a:ext cx="3716387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proyectos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04226" y="990600"/>
            <a:ext cx="127337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944"/>
              </a:lnSpc>
            </a:pPr>
            <a:r>
              <a:rPr sz="787" b="1" i="0" spc="236">
                <a:solidFill>
                  <a:srgbClr val="FFFFFF"/>
                </a:solidFill>
                <a:latin typeface="Barlow"/>
              </a:rPr>
              <a:t>ACTUALIZADO 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39262" y="1143000"/>
            <a:ext cx="1938337" cy="2476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ts val="1979"/>
              </a:lnSpc>
            </a:pPr>
            <a:r>
              <a:rPr sz="1650" b="1" i="0">
                <a:solidFill>
                  <a:srgbClr val="FFFFFF"/>
                </a:solidFill>
                <a:latin typeface="Barlow Condensed"/>
              </a:rPr>
              <a:t>8 de septiembre de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" y="2219325"/>
            <a:ext cx="1802903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3"/>
              </a:lnSpc>
            </a:pPr>
            <a:r>
              <a:rPr sz="1275" b="1" i="0" spc="382">
                <a:solidFill>
                  <a:srgbClr val="122149"/>
                </a:solidFill>
                <a:latin typeface="Barlow"/>
              </a:rPr>
              <a:t>CONSTRUCCIÓN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8362" y="2143125"/>
            <a:ext cx="280987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1075" y="2647950"/>
            <a:ext cx="261431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× 17 km — Planta PDD – COPEM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1075" y="2888158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17700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1075" y="3140571"/>
            <a:ext cx="2899916" cy="37832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Completación mecánica Oleoducto de 42″ — PTO–TAEJ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1075" y="3568600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7700" y="3573363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1075" y="3821013"/>
            <a:ext cx="3036093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× 14 km — Planta FF–Trampa de envío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1075" y="4061221"/>
            <a:ext cx="1316831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93156" y="4065984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1075" y="4313634"/>
            <a:ext cx="2586335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Diluenducto 20″ × 11,20 km — Palmichal–PTO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1075" y="4553842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17700" y="4558605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1075" y="4806255"/>
            <a:ext cx="203016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1075" y="5046464"/>
            <a:ext cx="92332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PETROMONAGAS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99654" y="5051226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1075" y="5298876"/>
            <a:ext cx="310291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Tubería 12″ agua salada × 29,6 km — COPEM – El Salto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1075" y="5539085"/>
            <a:ext cx="124137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Proyectos Mayores FPO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17700" y="5543847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1075" y="5791497"/>
            <a:ext cx="244881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Oleoducto 30″ Veladero · Tramo I (5,9 km)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1075" y="6031706"/>
            <a:ext cx="188431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Coordinación Operacional Faja (COF)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60637" y="6036468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70350" y="2219325"/>
            <a:ext cx="122247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3"/>
              </a:lnSpc>
            </a:pPr>
            <a:r>
              <a:rPr sz="1275" b="1" i="0" spc="382">
                <a:solidFill>
                  <a:srgbClr val="122149"/>
                </a:solidFill>
                <a:latin typeface="Barlow"/>
              </a:rPr>
              <a:t>AMBIENTE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08974" y="2143125"/>
            <a:ext cx="288726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89425" y="2647950"/>
            <a:ext cx="266566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89425" y="2888158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0265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9425" y="3140571"/>
            <a:ext cx="245536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Dragado SIAE COMOR — lagunas A, B, C y 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89425" y="3380779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70265" y="3385542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89425" y="3633192"/>
            <a:ext cx="210353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Saneamiento Estación de Flujo O-16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89425" y="3873400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70265" y="3878163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9425" y="4125813"/>
            <a:ext cx="2247751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Saneamiento Laguna de Curataquiche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89425" y="4366021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0265" y="4370784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89425" y="4618434"/>
            <a:ext cx="256713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Movilización y trasegado de crudo — COMOR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9425" y="4858642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70265" y="4863405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78700" y="2219325"/>
            <a:ext cx="270048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3"/>
              </a:lnSpc>
            </a:pPr>
            <a:r>
              <a:rPr sz="1275" b="1" i="0" spc="382">
                <a:solidFill>
                  <a:srgbClr val="122149"/>
                </a:solidFill>
                <a:latin typeface="Barlow"/>
              </a:rPr>
              <a:t>SERVICIOS Y ALQUILER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25212" y="2143125"/>
            <a:ext cx="280987" cy="285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5"/>
              </a:lnSpc>
            </a:pPr>
            <a:r>
              <a:rPr sz="1875" b="1" i="0">
                <a:solidFill>
                  <a:srgbClr val="7C8BBA"/>
                </a:solidFill>
                <a:latin typeface="Barlow Condensed"/>
              </a:rPr>
              <a:t>07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97775" y="2647950"/>
            <a:ext cx="262011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Mantenimiento de equipos de bombeo — FPO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97775" y="2888158"/>
            <a:ext cx="137040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Gestión de Materiales DAL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863435" y="2892921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97775" y="3140571"/>
            <a:ext cx="2682626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Alquiler de maquinaria — SINOVENSA Morichal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97775" y="3380779"/>
            <a:ext cx="1316831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PETROLERA SINOVENSA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09857" y="3385542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97775" y="3633192"/>
            <a:ext cx="1942504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97775" y="3873400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78615" y="3878163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97775" y="4125813"/>
            <a:ext cx="1345703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97775" y="4366021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878615" y="4370784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97775" y="4618434"/>
            <a:ext cx="1007119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97775" y="4858642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78615" y="4863405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97775" y="5111055"/>
            <a:ext cx="2288827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97775" y="5351264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78615" y="5356026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97775" y="5603676"/>
            <a:ext cx="2745878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79"/>
              </a:lnSpc>
            </a:pPr>
            <a:r>
              <a:rPr sz="1275" b="1" i="0">
                <a:solidFill>
                  <a:srgbClr val="122149"/>
                </a:solidFill>
                <a:latin typeface="Barlow Condensed"/>
              </a:rPr>
              <a:t>Alquiler de equipos — XP Extrapesado Morichal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97775" y="5843885"/>
            <a:ext cx="1385589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0" i="0">
                <a:solidFill>
                  <a:srgbClr val="5F6980"/>
                </a:solidFill>
                <a:latin typeface="Barlow"/>
              </a:rPr>
              <a:t>Logística Operacional DAL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8615" y="5848647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717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oleo30x17_1" descr="foto_08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oleo30x17_2" descr="foto_08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oleo30x17_3" descr="foto_08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oleo42_1" descr="foto_08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oleo42_2" descr="foto_08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oleo42_3" descr="foto_08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1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33258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17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18747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PDD – Rebombeo El Aceital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07223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las obras civiles, mecánicas, eléctricas e instrumentación del Oleoducto de 30″ × 17 km, desde la Planta Desaladora Deshidratadora PDD hasta el rebombeo El Aceital, Morichal, estado Monagas. Además de la aplicación y puesta en funcionamiento del sistema de protección catódica.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1846808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de 42″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05516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PTO – TAEJ · Completación mecánica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02907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Completación mecánica de la tubería de 42″ desde el Patio de Tanques Oficina (PTO) hasta el Terminal de Almacenamiento y Embarque Jose (TAEJ), así como la construcción de 07 tanquillas de concreto en válvulas de retención de 42″.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2168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oleo30x14_1" descr="foto_09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oleo30x14_2" descr="foto_09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oleo30x14_3" descr="foto_09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tub12_1" descr="foto_09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tub12_2" descr="foto_09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tub12_3" descr="foto_09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35460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14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92700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Planta FF – Trampa de envío · PETROLERA SINOVENSA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216872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del Oleoducto de 30″ × 14 km desde la Estación de Flujo (FF) hasta el Km 0, PETROLERA SINOVENSA, necesarios para incrementar la producción desde 105 MBPD hasta 330 MBPD de crudo extrapesado. Así como la instalación y puesta en marcha del sistema de protección catódica.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0634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810744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Tubería 12″ × 29,6 km — agua salada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189860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COPEM – Pozos inyectores El Salto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31780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29,60 km de tubería de 12″ de inyección de agua salada desde COPEM PETROMONAGAS hasta los pozos inyectores El Salto. Así como la instalación y puesta en marcha del sistema de protección catódica de tuberías enterradas.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568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1127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veladero_1" descr="foto_10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veladero_2" descr="foto_10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veladero_3" descr="foto_10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diluen20_1" descr="foto_10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diluen20_2" descr="foto_10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diluen20_3" descr="foto_10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484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034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5745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Oleoducto 30″ × 5,90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12690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Tramo I del Oleoducto de 30″ Veladero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378350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Reemplazo del Tramo I del Oleoducto de 30″ × 5,9 km, a fin de garantizar la confiabilidad y continuidad operacional, así como la integridad mecánica del oleoducto de 30″, en el cumplimiento del transporte de Diluente Mesa 30 para la División Carabobo, Distrito Morichal y empresas mixtas, y la formulación de la segregación Merey 16.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308446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Coordinación Operacional Faja (COF)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544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9592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280317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Diluenducto 20″ × 11,20 km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321379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Palmichal – Patio de Tanques Oficina · El Tigre, Anzoátegui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79405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Reemplazo de 10,5 km del Diluenducto de 20″ Palmichal – PTO, con perforación direccional bajo suelo en la Troncal 9 de la autopista Gran Mariscal de Ayacucho, con el propósito de restablecer la integridad del sistema de transporte e incrementar la presión de bombeo hasta 840 psi, permitiendo el manejo de nafta con un caudal promedio de 180 MBD de diluente.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91022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Proyectos Mayores FPO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macolla15_1" descr="foto_11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macolla15_2" descr="foto_11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macolla15_3" descr="foto_11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valvulas_1" descr="foto_11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valvulas_2" descr="foto_11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valvulas_3" descr="foto_11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19345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CONSTRUCCIÓN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360893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Macolla 15 — vialidad y plataforma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331987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PETROMONAGAS (COPEM)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17343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de la vialidad de acceso y plataforma de perforación para la Macolla 15 del Centro Operativo PETROMONAGAS, involucrando movimientos de tierra, conformación de taludes, construcción de 39 cellars y canales de drenaje perimetrales con pases reforzados.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1372641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PETROMONAGAS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Estaciones de válvulas — FPO HC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372367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Corredores de tuberías principales de la Faja Petrolífera del Orinoco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4786907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Limpieza y mantenimiento de estaciones de válvulas en corredores de tuberías, cortafuegos perimetrales, señalización de áreas y pintura de puentes y estructuras metálicas.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omorsuelo_1" descr="foto_12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comorsuelo_2" descr="foto_12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comorsuelo_3" descr="foto_12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dragado_1" descr="foto_12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dragado_2" descr="foto_12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dragado_3" descr="foto_12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4735710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COMOR — Saneamiento de suelo contaminado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349103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 · fases II, III y IV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56932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Remoción, recolección y recuperación de crudo sobrenadante, así como la carga, transporte, tratamiento y disposición final del suelo contaminado en instalaciones de PDVSA autorizadas por el MINEC, generado en las actividades de saneamiento realizadas en el Centro Operativo de Morichal (COMOR), División Carabobo.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44120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Dragado lagunas del SIAE COMOR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154528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Lagunas A, B, C y D del SIAE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16748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Saneamiento y posterior mantenimiento de las cuatro lagunas A, B, C y D del SIAE del Centro Operacional Morichal (COMOR), en la División Carabobo, a través del dragado de sólidos.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6862317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trasegado_1" descr="foto_13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trasegado_2" descr="foto_13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trasegado_3" descr="foto_13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ef016_1" descr="foto_13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ef016_2" descr="foto_13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ef016_3" descr="foto_13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358869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Movilización y trasegado de crudo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14686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Centro Operativo Morichal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037236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Movilización y trasegado de crudo en el Sistema de Inyección y Efluentes (SIAE) ubicado en las instalaciones del Centro Operativo COMOR, con equipos de vacío tipo vacuum de mínimo 160 BLS.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07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2323951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Estación de Flujo O-16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10279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O-16 · División Carabobo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65564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Operación de maquinaria pesada para realizar los trabajos de saneamiento de áreas afectadas por derrames de hidrocarburos: remoción, estabilización, homogeneización, apilamiento y tratamiento in situ del material impactado, contención y recolección de fluidos petrolizados, nivelación de terreno y carga de sólidos.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835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2357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transv_1" descr="foto_14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transv_2" descr="foto_14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transv_3" descr="foto_14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chuto_1" descr="foto_14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chuto_2" descr="foto_14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chuto_3" descr="foto_14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11435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1985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237395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Equipos transversales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0682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Equipos para la producción de la FPO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60355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 de movimientos relacionados con remoción de suelos, carga, descarga y traslado de materiales logísticos y misceláneos, contemplados en las operaciones de rehabilitación y reacondicionamiento de pozos, subestaciones eléctricas, estaciones de flujo y descarga, asociados a las labores operacionales de las divisiones pertenecientes a la Dirección Ejecutiva de Producción FPO.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667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 –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0823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1754237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Chuto con batea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574428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Movilización de equipos y materiales de la FPO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84167" cy="766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Movilización de todos los materiales y equipos (transformadores, generadores, plantas), misceláneos y lubricantes, desde las instalaciones PDVSA a nivel nacional hasta las áreas operacionales de las divisiones Carabobo, Ayacucho, Junín y Boyacá, adscritas a la Dirección Adjunta de Logística perteneciente a la Dirección Ejecutiva de Producción FPO HC.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18717" y="23050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20720" y="2305050"/>
            <a:ext cx="897727" cy="161925"/>
          </a:xfrm>
          <a:custGeom>
            <a:avLst/>
            <a:gdLst/>
            <a:ahLst/>
            <a:cxnLst/>
            <a:rect l="l" t="t" r="r" b="b"/>
            <a:pathLst>
              <a:path w="897727" h="161925">
                <a:moveTo>
                  <a:pt x="46617" y="0"/>
                </a:moveTo>
                <a:lnTo>
                  <a:pt x="897727" y="0"/>
                </a:lnTo>
                <a:lnTo>
                  <a:pt x="85111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bombeo_1" descr="foto_15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bombeo_2" descr="foto_15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bombeo_3" descr="foto_15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sinovensa_1" descr="foto_15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sinovensa_2" descr="foto_15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sinovensa_3" descr="foto_15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44663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183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3974752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Mantenimiento de equipos de bombeo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29585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Áreas operacionales de la Faja Petrolífera del Orinoco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285035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Reparación de bombas marca Bornemann, Warren, Sulzer y Flowserve, utilizadas para el transporte de fluidos en superficie y ubicadas en instalaciones pertenecientes a la Faja Petrolífera del Orinoco.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06525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Gestión de Materiales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9186" y="23241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845569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maquinaria — SINOVENSA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18241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Activación de pozos, División Carabobo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473303" cy="357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Servicios de maquinaria pesada para realizar actividades operacionales que contribuyan con la activación de pozos en la División Carabobo.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1988046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PETROLERA SINOVENSA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1477120" y="2305050"/>
            <a:ext cx="1067243" cy="161925"/>
          </a:xfrm>
          <a:custGeom>
            <a:avLst/>
            <a:gdLst/>
            <a:ahLst/>
            <a:cxnLst/>
            <a:rect l="l" t="t" r="r" b="b"/>
            <a:pathLst>
              <a:path w="1067243" h="161925">
                <a:moveTo>
                  <a:pt x="46503" y="0"/>
                </a:moveTo>
                <a:lnTo>
                  <a:pt x="1067243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stado"/>
          <p:cNvSpPr/>
          <p:nvPr/>
        </p:nvSpPr>
        <p:spPr>
          <a:xfrm>
            <a:off x="7416107" y="2305050"/>
            <a:ext cx="1067242" cy="161925"/>
          </a:xfrm>
          <a:custGeom>
            <a:avLst/>
            <a:gdLst/>
            <a:ahLst/>
            <a:cxnLst/>
            <a:rect l="l" t="t" r="r" b="b"/>
            <a:pathLst>
              <a:path w="1067242" h="161925">
                <a:moveTo>
                  <a:pt x="46502" y="0"/>
                </a:moveTo>
                <a:lnTo>
                  <a:pt x="1067242" y="0"/>
                </a:lnTo>
                <a:lnTo>
                  <a:pt x="1020740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4966AD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6362700" y="3270795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ja-cliente"/>
          <p:cNvSpPr/>
          <p:nvPr/>
        </p:nvSpPr>
        <p:spPr>
          <a:xfrm>
            <a:off x="6362700" y="5905500"/>
            <a:ext cx="5410200" cy="628650"/>
          </a:xfrm>
          <a:custGeom>
            <a:avLst/>
            <a:gdLst/>
            <a:ahLst/>
            <a:cxnLst/>
            <a:rect l="l" t="t" r="r" b="b"/>
            <a:pathLst>
              <a:path w="5410200" h="628650">
                <a:moveTo>
                  <a:pt x="0" y="0"/>
                </a:moveTo>
                <a:lnTo>
                  <a:pt x="5410200" y="0"/>
                </a:lnTo>
                <a:lnTo>
                  <a:pt x="54102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ortafuego_1" descr="foto_16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0" name="cortafuego_2" descr="foto_16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1" name="cortafuego_3" descr="foto_16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2" name="xpmorichal_1" descr="foto_16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700" y="323850"/>
            <a:ext cx="5410200" cy="1828800"/>
          </a:xfrm>
          <a:custGeom>
            <a:avLst/>
            <a:gdLst/>
            <a:ahLst/>
            <a:cxnLst/>
            <a:rect l="l" t="t" r="r" b="b"/>
            <a:pathLst>
              <a:path w="5410200" h="1828800">
                <a:moveTo>
                  <a:pt x="0" y="0"/>
                </a:moveTo>
                <a:lnTo>
                  <a:pt x="5410200" y="0"/>
                </a:lnTo>
                <a:lnTo>
                  <a:pt x="5086350" y="1828800"/>
                </a:lnTo>
                <a:lnTo>
                  <a:pt x="0" y="1828800"/>
                </a:lnTo>
                <a:close/>
              </a:path>
            </a:pathLst>
          </a:custGeom>
        </p:spPr>
      </p:pic>
      <p:pic>
        <p:nvPicPr>
          <p:cNvPr id="13" name="xpmorichal_2" descr="foto_16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27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4" name="xpmorichal_3" descr="foto_16_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4400550"/>
            <a:ext cx="2628900" cy="1352550"/>
          </a:xfrm>
          <a:custGeom>
            <a:avLst/>
            <a:gdLst/>
            <a:ahLst/>
            <a:cxnLst/>
            <a:rect l="l" t="t" r="r" b="b"/>
            <a:pathLst>
              <a:path w="2628900" h="1352550">
                <a:moveTo>
                  <a:pt x="0" y="0"/>
                </a:moveTo>
                <a:lnTo>
                  <a:pt x="2628900" y="0"/>
                </a:lnTo>
                <a:lnTo>
                  <a:pt x="2419350" y="1352550"/>
                </a:lnTo>
                <a:lnTo>
                  <a:pt x="0" y="1352550"/>
                </a:lnTo>
                <a:close/>
              </a:path>
            </a:pathLst>
          </a:custGeom>
        </p:spPr>
      </p:pic>
      <p:pic>
        <p:nvPicPr>
          <p:cNvPr id="15" name="sobre las fotos" descr="encima_1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05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2319337"/>
            <a:ext cx="1005036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5586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" y="2609850"/>
            <a:ext cx="4075955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Cortafuegos en corredores de tuberías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" y="3018383"/>
            <a:ext cx="86305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Divisiones FPO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" y="3432869"/>
            <a:ext cx="5433714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Construcción y mantenimiento de cortafuegos en corredores de tubería y líneas eléctricas de oleoductos y diluenductos de la Faja. Incluyendo corrección de filtraciones por soldadura y encapsulamiento de grampas apernadas.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4150" y="390525"/>
            <a:ext cx="1774180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SERVICIOS Y ALQUILER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700" y="2319337"/>
            <a:ext cx="1000422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2025 –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572" y="2324100"/>
            <a:ext cx="906512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3A5599"/>
                </a:solidFill>
                <a:latin typeface="Barlow"/>
              </a:rPr>
              <a:t>EN EJECUCIÓN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2609850"/>
            <a:ext cx="3536453" cy="342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17"/>
              </a:lnSpc>
            </a:pPr>
            <a:r>
              <a:rPr sz="2250" b="1" i="0">
                <a:solidFill>
                  <a:srgbClr val="122149"/>
                </a:solidFill>
                <a:latin typeface="Barlow Condensed"/>
              </a:rPr>
              <a:t>Alquiler de equipos — XP Morichal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3018383"/>
            <a:ext cx="290244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Unidad de Producción Extrapesado, Distrito Morichal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2700" y="3432869"/>
            <a:ext cx="5331172" cy="561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12"/>
              </a:lnSpc>
            </a:pPr>
            <a:r>
              <a:rPr sz="937" b="0" i="0">
                <a:solidFill>
                  <a:srgbClr val="000000"/>
                </a:solidFill>
                <a:latin typeface="Barlow"/>
              </a:rPr>
              <a:t>Servicios para acondicionamiento y adecuación de vías de acceso y locaciones, los cuales son indispensables para el óptimo funcionamiento y operación de las unidades de producción de la División Carabobo.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602932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0" y="616267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estado"/>
          <p:cNvSpPr/>
          <p:nvPr/>
        </p:nvSpPr>
        <p:spPr>
          <a:xfrm>
            <a:off x="924968" y="3028950"/>
            <a:ext cx="897728" cy="161925"/>
          </a:xfrm>
          <a:custGeom>
            <a:avLst/>
            <a:gdLst/>
            <a:ahLst/>
            <a:cxnLst/>
            <a:rect l="l" t="t" r="r" b="b"/>
            <a:pathLst>
              <a:path w="897728" h="161925">
                <a:moveTo>
                  <a:pt x="46617" y="0"/>
                </a:moveTo>
                <a:lnTo>
                  <a:pt x="897728" y="0"/>
                </a:lnTo>
                <a:lnTo>
                  <a:pt x="851111" y="161925"/>
                </a:lnTo>
                <a:lnTo>
                  <a:pt x="0" y="161925"/>
                </a:lnTo>
                <a:close/>
              </a:path>
            </a:pathLst>
          </a:custGeom>
          <a:solidFill>
            <a:srgbClr val="122149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419100" y="4073128"/>
            <a:ext cx="742950" cy="19050"/>
          </a:xfrm>
          <a:prstGeom prst="rect">
            <a:avLst/>
          </a:prstGeom>
          <a:solidFill>
            <a:srgbClr val="4966AD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aja-cliente"/>
          <p:cNvSpPr/>
          <p:nvPr/>
        </p:nvSpPr>
        <p:spPr>
          <a:xfrm>
            <a:off x="419100" y="5962650"/>
            <a:ext cx="3810000" cy="628650"/>
          </a:xfrm>
          <a:custGeom>
            <a:avLst/>
            <a:gdLst/>
            <a:ahLst/>
            <a:cxnLst/>
            <a:rect l="l" t="t" r="r" b="b"/>
            <a:pathLst>
              <a:path w="3810000" h="628650">
                <a:moveTo>
                  <a:pt x="0" y="0"/>
                </a:moveTo>
                <a:lnTo>
                  <a:pt x="3810000" y="0"/>
                </a:lnTo>
                <a:lnTo>
                  <a:pt x="3810000" y="628650"/>
                </a:lnTo>
                <a:lnTo>
                  <a:pt x="209550" y="62865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urataqui_1" descr="foto_17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571750"/>
          </a:xfrm>
          <a:prstGeom prst="rect">
            <a:avLst/>
          </a:prstGeom>
        </p:spPr>
      </p:pic>
      <p:pic>
        <p:nvPicPr>
          <p:cNvPr id="7" name="curataqui_2" descr="foto_17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200" y="2876550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8" name="curataqui_3" descr="foto_17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2876550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9" name="curataqui_4" descr="foto_17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0200" y="4810125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0" name="curataqui_5" descr="foto_17_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0" y="4810125"/>
            <a:ext cx="3105150" cy="1781175"/>
          </a:xfrm>
          <a:custGeom>
            <a:avLst/>
            <a:gdLst/>
            <a:ahLst/>
            <a:cxnLst/>
            <a:rect l="l" t="t" r="r" b="b"/>
            <a:pathLst>
              <a:path w="3105150" h="1781175">
                <a:moveTo>
                  <a:pt x="0" y="0"/>
                </a:moveTo>
                <a:lnTo>
                  <a:pt x="3105150" y="0"/>
                </a:lnTo>
                <a:lnTo>
                  <a:pt x="2895600" y="1781175"/>
                </a:lnTo>
                <a:lnTo>
                  <a:pt x="0" y="1781175"/>
                </a:lnTo>
                <a:close/>
              </a:path>
            </a:pathLst>
          </a:custGeom>
        </p:spPr>
      </p:pic>
      <p:pic>
        <p:nvPicPr>
          <p:cNvPr id="11" name="sobre las fotos" descr="encima_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850" y="2381250"/>
            <a:ext cx="817959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8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AMBIENTE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100" y="3043237"/>
            <a:ext cx="452883" cy="1333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sz="900" b="1" i="0" spc="234">
                <a:solidFill>
                  <a:srgbClr val="7C8BBA"/>
                </a:solidFill>
                <a:latin typeface="Barlow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433" y="3048000"/>
            <a:ext cx="736996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110">
                <a:solidFill>
                  <a:srgbClr val="5C6580"/>
                </a:solidFill>
                <a:latin typeface="Barlow"/>
              </a:rPr>
              <a:t>CULMINADO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100" y="3324225"/>
            <a:ext cx="3253531" cy="438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935"/>
              </a:lnSpc>
            </a:pPr>
            <a:r>
              <a:rPr sz="2850" b="1" i="0">
                <a:solidFill>
                  <a:srgbClr val="122149"/>
                </a:solidFill>
                <a:latin typeface="Barlow Condensed"/>
              </a:rPr>
              <a:t>Laguna de Curataquiche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100" y="3820715"/>
            <a:ext cx="2162621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64"/>
              </a:lnSpc>
            </a:pPr>
            <a:r>
              <a:rPr sz="1200" b="1" i="0">
                <a:solidFill>
                  <a:srgbClr val="4966AD"/>
                </a:solidFill>
                <a:latin typeface="Barlow Condensed"/>
              </a:rPr>
              <a:t>Saneamiento y restauración ambiental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" y="4244726"/>
            <a:ext cx="4548633" cy="126771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41"/>
              </a:lnSpc>
            </a:pPr>
            <a:r>
              <a:rPr sz="1012" b="0" i="0">
                <a:solidFill>
                  <a:srgbClr val="000000"/>
                </a:solidFill>
                <a:latin typeface="Barlow"/>
              </a:rPr>
              <a:t>Saneamiento y restauración de la Laguna de Curataquiche, progresiva 15+000 del Oleoducto de 36″, desarrollando actividades de remoción de capa de hidrocarburos con barreras oleofílicas y material particulado; estabilización mecánica, carga y transporte del material contaminado; reforestación del área, toma y análisis de muestras en la laguna, ejecutadas en las diferentes fases del proceso de saneamiento.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6086475"/>
            <a:ext cx="687585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4"/>
              </a:lnSpc>
            </a:pPr>
            <a:r>
              <a:rPr sz="787" b="1" i="0" spc="252">
                <a:solidFill>
                  <a:srgbClr val="7C8BBA"/>
                </a:solidFill>
                <a:latin typeface="Barlow"/>
              </a:rPr>
              <a:t>CLIENTE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" y="6219825"/>
            <a:ext cx="2221408" cy="2762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</a:pPr>
            <a:r>
              <a:rPr sz="1800" b="1" i="0">
                <a:solidFill>
                  <a:srgbClr val="FFFFFF"/>
                </a:solidFill>
                <a:latin typeface="Barlow Condensed"/>
              </a:rPr>
              <a:t>Logística Operacional DAL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485775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flota_1" descr="foto_18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91125"/>
            <a:ext cx="3276600" cy="1666875"/>
          </a:xfrm>
          <a:custGeom>
            <a:avLst/>
            <a:gdLst/>
            <a:ahLst/>
            <a:cxnLst/>
            <a:rect l="l" t="t" r="r" b="b"/>
            <a:pathLst>
              <a:path w="3276600" h="1666875">
                <a:moveTo>
                  <a:pt x="0" y="0"/>
                </a:moveTo>
                <a:lnTo>
                  <a:pt x="3276600" y="0"/>
                </a:lnTo>
                <a:lnTo>
                  <a:pt x="278511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5" name="flota_2" descr="foto_18_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6" name="flota_3" descr="foto_18_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5191125"/>
            <a:ext cx="3505200" cy="1666875"/>
          </a:xfrm>
          <a:custGeom>
            <a:avLst/>
            <a:gdLst/>
            <a:ahLst/>
            <a:cxnLst/>
            <a:rect l="l" t="t" r="r" b="b"/>
            <a:pathLst>
              <a:path w="3505200" h="1666875">
                <a:moveTo>
                  <a:pt x="525780" y="0"/>
                </a:moveTo>
                <a:lnTo>
                  <a:pt x="3505200" y="0"/>
                </a:lnTo>
                <a:lnTo>
                  <a:pt x="297942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pic>
        <p:nvPicPr>
          <p:cNvPr id="7" name="flota_4" descr="foto_18_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5191125"/>
            <a:ext cx="3276600" cy="1666875"/>
          </a:xfrm>
          <a:custGeom>
            <a:avLst/>
            <a:gdLst/>
            <a:ahLst/>
            <a:cxnLst/>
            <a:rect l="l" t="t" r="r" b="b"/>
            <a:pathLst>
              <a:path w="3276600" h="1666875">
                <a:moveTo>
                  <a:pt x="491490" y="0"/>
                </a:moveTo>
                <a:lnTo>
                  <a:pt x="3276600" y="0"/>
                </a:lnTo>
                <a:lnTo>
                  <a:pt x="3276600" y="1666875"/>
                </a:lnTo>
                <a:lnTo>
                  <a:pt x="0" y="1666875"/>
                </a:lnTo>
                <a:close/>
              </a:path>
            </a:pathLst>
          </a:custGeom>
        </p:spPr>
      </p:pic>
      <p:sp>
        <p:nvSpPr>
          <p:cNvPr id="8" name="i"/>
          <p:cNvSpPr/>
          <p:nvPr/>
        </p:nvSpPr>
        <p:spPr>
          <a:xfrm>
            <a:off x="-325346" y="-415974"/>
            <a:ext cx="1041218" cy="6032748"/>
          </a:xfrm>
          <a:custGeom>
            <a:avLst/>
            <a:gdLst/>
            <a:ahLst/>
            <a:cxnLst/>
            <a:rect l="l" t="t" r="r" b="b"/>
            <a:pathLst>
              <a:path w="1041218" h="6032748">
                <a:moveTo>
                  <a:pt x="955448" y="0"/>
                </a:moveTo>
                <a:lnTo>
                  <a:pt x="1041218" y="0"/>
                </a:lnTo>
                <a:lnTo>
                  <a:pt x="85770" y="6032748"/>
                </a:lnTo>
                <a:lnTo>
                  <a:pt x="0" y="6032748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-96746" y="-415974"/>
            <a:ext cx="1003118" cy="6032748"/>
          </a:xfrm>
          <a:custGeom>
            <a:avLst/>
            <a:gdLst/>
            <a:ahLst/>
            <a:cxnLst/>
            <a:rect l="l" t="t" r="r" b="b"/>
            <a:pathLst>
              <a:path w="1003118" h="6032748">
                <a:moveTo>
                  <a:pt x="955467" y="0"/>
                </a:moveTo>
                <a:lnTo>
                  <a:pt x="1003118" y="0"/>
                </a:lnTo>
                <a:lnTo>
                  <a:pt x="47651" y="6032748"/>
                </a:lnTo>
                <a:lnTo>
                  <a:pt x="0" y="6032748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obre las fotos" descr="encima_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8750" y="419100"/>
            <a:ext cx="1398240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FLOTA PROPIA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57225"/>
            <a:ext cx="4635996" cy="4762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244"/>
              </a:lnSpc>
            </a:pPr>
            <a:r>
              <a:rPr sz="3150" b="1" i="0">
                <a:solidFill>
                  <a:srgbClr val="FFFFFF"/>
                </a:solidFill>
                <a:latin typeface="Barlow Condensed"/>
              </a:rPr>
              <a:t>Una flota que no para de crecer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288256"/>
            <a:ext cx="5004196" cy="66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5"/>
              </a:lnSpc>
            </a:pPr>
            <a:r>
              <a:rPr sz="1087" b="0" i="0">
                <a:solidFill>
                  <a:srgbClr val="FFFFFF"/>
                </a:solidFill>
                <a:latin typeface="Barlow"/>
              </a:rPr>
              <a:t>Respaldamos cada obra con una flota 100% propia y en constante expansión. Tras la exitosa incorporación de equipos en 2025, este 2026 sumaremos nueva maquinaria para seguir garantizando total autonomía en los proyectos más exigentes.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04800"/>
            <a:ext cx="868560" cy="8477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995"/>
              </a:lnSpc>
            </a:pPr>
            <a:r>
              <a:rPr sz="5550" b="1" i="0" spc="-55">
                <a:solidFill>
                  <a:srgbClr val="FFFFFF"/>
                </a:solidFill>
                <a:latin typeface="Barlow Condensed"/>
              </a:rPr>
              <a:t>841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1101030"/>
            <a:ext cx="156239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1" i="0" spc="281">
                <a:solidFill>
                  <a:srgbClr val="FFFFFF"/>
                </a:solidFill>
                <a:latin typeface="Barlow"/>
              </a:rPr>
              <a:t>EQUIPOS PROPIOS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5700" y="1548705"/>
            <a:ext cx="103361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44 tipos de equipo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0761" y="1548705"/>
            <a:ext cx="61049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2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38 marcas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152650"/>
            <a:ext cx="33873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514600"/>
            <a:ext cx="73178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Excavadoras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3250" y="2152650"/>
            <a:ext cx="335160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3250" y="2514600"/>
            <a:ext cx="546794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Vacuums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2250" y="2152650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2250" y="2514600"/>
            <a:ext cx="104507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Tractores de oruga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250" y="2152650"/>
            <a:ext cx="29006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514600"/>
            <a:ext cx="65424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Sidebooms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0100" y="215265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0100" y="2514600"/>
            <a:ext cx="1366688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elevadores 12 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9100" y="2152650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9100" y="2514600"/>
            <a:ext cx="1323230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elevadores 8 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884884"/>
            <a:ext cx="418802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246834"/>
            <a:ext cx="44023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Chutos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3250" y="2884884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3250" y="3246834"/>
            <a:ext cx="43308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Bateas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2250" y="2884884"/>
            <a:ext cx="335458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2250" y="3246834"/>
            <a:ext cx="460027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Volteos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1250" y="2884884"/>
            <a:ext cx="334863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1250" y="3246834"/>
            <a:ext cx="64338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Payloaders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0100" y="2884884"/>
            <a:ext cx="333821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0100" y="3246834"/>
            <a:ext cx="52744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Lowboys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9100" y="2884884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09100" y="3246834"/>
            <a:ext cx="100771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Retroexcavadoras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361711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3979068"/>
            <a:ext cx="92392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Motoniveladoras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3250" y="3617118"/>
            <a:ext cx="24169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3250" y="3979068"/>
            <a:ext cx="67672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Mototraíllas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2250" y="361711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2250" y="3979068"/>
            <a:ext cx="84117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grúa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91250" y="3617118"/>
            <a:ext cx="29393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3979068"/>
            <a:ext cx="115922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Chutos con brazo 16 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0100" y="3617118"/>
            <a:ext cx="204787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0100" y="3979068"/>
            <a:ext cx="106129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Tractores agrícolas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09100" y="3617118"/>
            <a:ext cx="32518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9100" y="3979068"/>
            <a:ext cx="129525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Otra maquinaria pesada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4473178"/>
            <a:ext cx="418504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169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835128"/>
            <a:ext cx="689669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Camionetas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3250" y="4473178"/>
            <a:ext cx="348555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3250" y="4835128"/>
            <a:ext cx="1269503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de soldadura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2250" y="447317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2250" y="4835128"/>
            <a:ext cx="691306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Cuadrilleras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91250" y="4473178"/>
            <a:ext cx="20612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1250" y="4835128"/>
            <a:ext cx="624482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Autobuses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0100" y="4473178"/>
            <a:ext cx="205829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50100" y="4835128"/>
            <a:ext cx="1172765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Camiones de servicio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09100" y="4473178"/>
            <a:ext cx="334416" cy="3524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5"/>
              </a:lnSpc>
            </a:pPr>
            <a:r>
              <a:rPr sz="2325" b="1" i="0">
                <a:solidFill>
                  <a:srgbClr val="FFFFFF"/>
                </a:solidFill>
                <a:latin typeface="Barlow Condensed"/>
              </a:rPr>
              <a:t>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09100" y="4835128"/>
            <a:ext cx="1274861" cy="152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5"/>
              </a:lnSpc>
            </a:pPr>
            <a:r>
              <a:rPr sz="937" b="0" i="0">
                <a:solidFill>
                  <a:srgbClr val="FFFFFF"/>
                </a:solidFill>
                <a:latin typeface="Barlow"/>
              </a:rPr>
              <a:t>Otros equipos de apoyo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ayita"/>
          <p:cNvSpPr/>
          <p:nvPr/>
        </p:nvSpPr>
        <p:spPr>
          <a:xfrm>
            <a:off x="908627" y="3356223"/>
            <a:ext cx="373495" cy="28575"/>
          </a:xfrm>
          <a:custGeom>
            <a:avLst/>
            <a:gdLst/>
            <a:ahLst/>
            <a:cxnLst/>
            <a:rect l="l" t="t" r="r" b="b"/>
            <a:pathLst>
              <a:path w="373495" h="28575">
                <a:moveTo>
                  <a:pt x="11545" y="0"/>
                </a:moveTo>
                <a:lnTo>
                  <a:pt x="373495" y="0"/>
                </a:lnTo>
                <a:lnTo>
                  <a:pt x="361950" y="28575"/>
                </a:lnTo>
                <a:lnTo>
                  <a:pt x="0" y="285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ayita"/>
          <p:cNvSpPr/>
          <p:nvPr/>
        </p:nvSpPr>
        <p:spPr>
          <a:xfrm>
            <a:off x="914400" y="40104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914400" y="43247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ayita"/>
          <p:cNvSpPr/>
          <p:nvPr/>
        </p:nvSpPr>
        <p:spPr>
          <a:xfrm>
            <a:off x="914400" y="46391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ayita"/>
          <p:cNvSpPr/>
          <p:nvPr/>
        </p:nvSpPr>
        <p:spPr>
          <a:xfrm>
            <a:off x="914400" y="495344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ayita"/>
          <p:cNvSpPr/>
          <p:nvPr/>
        </p:nvSpPr>
        <p:spPr>
          <a:xfrm>
            <a:off x="914400" y="526777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yita"/>
          <p:cNvSpPr/>
          <p:nvPr/>
        </p:nvSpPr>
        <p:spPr>
          <a:xfrm>
            <a:off x="914400" y="5582096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ayita"/>
          <p:cNvSpPr/>
          <p:nvPr/>
        </p:nvSpPr>
        <p:spPr>
          <a:xfrm>
            <a:off x="914400" y="5896421"/>
            <a:ext cx="114300" cy="76200"/>
          </a:xfrm>
          <a:custGeom>
            <a:avLst/>
            <a:gdLst/>
            <a:ahLst/>
            <a:cxnLst/>
            <a:rect l="l" t="t" r="r" b="b"/>
            <a:pathLst>
              <a:path w="114300" h="76200">
                <a:moveTo>
                  <a:pt x="0" y="76200"/>
                </a:moveTo>
                <a:lnTo>
                  <a:pt x="36576" y="0"/>
                </a:lnTo>
                <a:lnTo>
                  <a:pt x="114300" y="0"/>
                </a:lnTo>
                <a:lnTo>
                  <a:pt x="77724" y="762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lientes_equipo" descr="foto_19_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2857500"/>
          </a:xfrm>
          <a:prstGeom prst="rect">
            <a:avLst/>
          </a:prstGeom>
        </p:spPr>
      </p:pic>
      <p:pic>
        <p:nvPicPr>
          <p:cNvPr id="12" name="logo_pdvsa" descr="foto_19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pic>
        <p:nvPicPr>
          <p:cNvPr id="13" name="logo_petromonagas" descr="foto_19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pic>
        <p:nvPicPr>
          <p:cNvPr id="14" name="logo_sinovensa" descr="foto_19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0"/>
            <a:ext cx="12192000" cy="4000500"/>
          </a:xfrm>
          <a:prstGeom prst="rect">
            <a:avLst/>
          </a:prstGeom>
        </p:spPr>
      </p:pic>
      <p:sp>
        <p:nvSpPr>
          <p:cNvPr id="15" name="i"/>
          <p:cNvSpPr/>
          <p:nvPr/>
        </p:nvSpPr>
        <p:spPr>
          <a:xfrm>
            <a:off x="-110098" y="-228600"/>
            <a:ext cx="610721" cy="3314700"/>
          </a:xfrm>
          <a:custGeom>
            <a:avLst/>
            <a:gdLst/>
            <a:ahLst/>
            <a:cxnLst/>
            <a:rect l="l" t="t" r="r" b="b"/>
            <a:pathLst>
              <a:path w="610721" h="3314700">
                <a:moveTo>
                  <a:pt x="524996" y="0"/>
                </a:moveTo>
                <a:lnTo>
                  <a:pt x="610721" y="0"/>
                </a:lnTo>
                <a:lnTo>
                  <a:pt x="857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118501" y="-228600"/>
            <a:ext cx="572621" cy="3314700"/>
          </a:xfrm>
          <a:custGeom>
            <a:avLst/>
            <a:gdLst/>
            <a:ahLst/>
            <a:cxnLst/>
            <a:rect l="l" t="t" r="r" b="b"/>
            <a:pathLst>
              <a:path w="572621" h="3314700">
                <a:moveTo>
                  <a:pt x="524996" y="0"/>
                </a:moveTo>
                <a:lnTo>
                  <a:pt x="572621" y="0"/>
                </a:lnTo>
                <a:lnTo>
                  <a:pt x="47625" y="3314700"/>
                </a:lnTo>
                <a:lnTo>
                  <a:pt x="0" y="331470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"/>
          <p:cNvSpPr/>
          <p:nvPr/>
        </p:nvSpPr>
        <p:spPr>
          <a:xfrm>
            <a:off x="-215088" y="2537519"/>
            <a:ext cx="820701" cy="4640460"/>
          </a:xfrm>
          <a:custGeom>
            <a:avLst/>
            <a:gdLst/>
            <a:ahLst/>
            <a:cxnLst/>
            <a:rect l="l" t="t" r="r" b="b"/>
            <a:pathLst>
              <a:path w="820701" h="4640460">
                <a:moveTo>
                  <a:pt x="734946" y="0"/>
                </a:moveTo>
                <a:lnTo>
                  <a:pt x="820701" y="0"/>
                </a:lnTo>
                <a:lnTo>
                  <a:pt x="85755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"/>
          <p:cNvSpPr/>
          <p:nvPr/>
        </p:nvSpPr>
        <p:spPr>
          <a:xfrm>
            <a:off x="13511" y="2537519"/>
            <a:ext cx="782601" cy="4640460"/>
          </a:xfrm>
          <a:custGeom>
            <a:avLst/>
            <a:gdLst/>
            <a:ahLst/>
            <a:cxnLst/>
            <a:rect l="l" t="t" r="r" b="b"/>
            <a:pathLst>
              <a:path w="782601" h="4640460">
                <a:moveTo>
                  <a:pt x="734959" y="0"/>
                </a:moveTo>
                <a:lnTo>
                  <a:pt x="782601" y="0"/>
                </a:lnTo>
                <a:lnTo>
                  <a:pt x="47642" y="4640460"/>
                </a:lnTo>
                <a:lnTo>
                  <a:pt x="0" y="4640460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obre las fotos" descr="encima_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28750" y="1708695"/>
            <a:ext cx="979437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</a:pPr>
            <a:r>
              <a:rPr sz="1012" b="1" i="0" spc="324">
                <a:solidFill>
                  <a:srgbClr val="FFFFFF"/>
                </a:solidFill>
                <a:latin typeface="Barlow"/>
              </a:rPr>
              <a:t>CLIENTES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937295"/>
            <a:ext cx="3343870" cy="6191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4171"/>
              </a:lnSpc>
            </a:pPr>
            <a:r>
              <a:rPr sz="4050" b="1" i="0">
                <a:solidFill>
                  <a:srgbClr val="FFFFFF"/>
                </a:solidFill>
                <a:latin typeface="Barlow Condensed"/>
              </a:rPr>
              <a:t>Nuestros clientes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3295650"/>
            <a:ext cx="2652414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CONTRATOS DIRECTOS CON SIETE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3507730"/>
            <a:ext cx="3346995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70"/>
              </a:lnSpc>
            </a:pPr>
            <a:r>
              <a:rPr sz="1012" b="1" i="0" spc="182">
                <a:solidFill>
                  <a:srgbClr val="FFFFFF"/>
                </a:solidFill>
                <a:latin typeface="Barlow"/>
              </a:rPr>
              <a:t>GERENCIAS Y COORDINACIONES DE LA FPO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929360"/>
            <a:ext cx="3303835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Proyectos Mayores de Producción FPO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243685"/>
            <a:ext cx="27670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Distribución y Transporte Faja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58010"/>
            <a:ext cx="2829520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Logística Operacional DAL FPO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72335"/>
            <a:ext cx="2842766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Gestión de Materiales DAL-FPO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186660"/>
            <a:ext cx="3211859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Tratamiento y Calidad de Fluidos TCF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500985"/>
            <a:ext cx="1611064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Gerencia de Perforación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815310"/>
            <a:ext cx="2309812" cy="1809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95"/>
              </a:lnSpc>
            </a:pPr>
            <a:r>
              <a:rPr sz="1162" b="0" i="0">
                <a:solidFill>
                  <a:srgbClr val="FFFFFF"/>
                </a:solidFill>
                <a:latin typeface="Barlow"/>
              </a:rPr>
              <a:t>Coordinación Operacional Faja COF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7350" y="3770114"/>
            <a:ext cx="1685329" cy="25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PETRÓLEOS DE VENEZUELA, S.A.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7350" y="485209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350" y="5861744"/>
            <a:ext cx="996106" cy="114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39"/>
              </a:lnSpc>
            </a:pPr>
            <a:r>
              <a:rPr sz="712" b="1" i="0" spc="157">
                <a:solidFill>
                  <a:srgbClr val="5F6980"/>
                </a:solidFill>
                <a:latin typeface="Barlow"/>
              </a:rPr>
              <a:t>EMPRESA MIXTA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_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una-ice"/>
          <p:cNvSpPr/>
          <p:nvPr/>
        </p:nvSpPr>
        <p:spPr>
          <a:xfrm>
            <a:off x="0" y="1690389"/>
            <a:ext cx="5905500" cy="2757785"/>
          </a:xfrm>
          <a:custGeom>
            <a:avLst/>
            <a:gdLst/>
            <a:ahLst/>
            <a:cxnLst/>
            <a:rect l="l" t="t" r="r" b="b"/>
            <a:pathLst>
              <a:path w="5905500" h="2757785">
                <a:moveTo>
                  <a:pt x="0" y="717024"/>
                </a:moveTo>
                <a:lnTo>
                  <a:pt x="5905500" y="0"/>
                </a:lnTo>
                <a:lnTo>
                  <a:pt x="5905500" y="2757785"/>
                </a:lnTo>
                <a:lnTo>
                  <a:pt x="0" y="2757785"/>
                </a:lnTo>
                <a:close/>
              </a:path>
            </a:pathLst>
          </a:custGeom>
          <a:solidFill>
            <a:srgbClr val="EB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inea"/>
          <p:cNvSpPr/>
          <p:nvPr/>
        </p:nvSpPr>
        <p:spPr>
          <a:xfrm>
            <a:off x="762000" y="1398835"/>
            <a:ext cx="4476750" cy="9525"/>
          </a:xfrm>
          <a:prstGeom prst="rect">
            <a:avLst/>
          </a:prstGeom>
          <a:solidFill>
            <a:srgbClr val="122149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ayita"/>
          <p:cNvSpPr/>
          <p:nvPr/>
        </p:nvSpPr>
        <p:spPr>
          <a:xfrm>
            <a:off x="752379" y="1370260"/>
            <a:ext cx="1086041" cy="47625"/>
          </a:xfrm>
          <a:custGeom>
            <a:avLst/>
            <a:gdLst/>
            <a:ahLst/>
            <a:cxnLst/>
            <a:rect l="l" t="t" r="r" b="b"/>
            <a:pathLst>
              <a:path w="1086041" h="47625">
                <a:moveTo>
                  <a:pt x="19242" y="0"/>
                </a:moveTo>
                <a:lnTo>
                  <a:pt x="1086041" y="0"/>
                </a:lnTo>
                <a:lnTo>
                  <a:pt x="1066799" y="47625"/>
                </a:lnTo>
                <a:lnTo>
                  <a:pt x="0" y="47625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"/>
          <p:cNvSpPr/>
          <p:nvPr/>
        </p:nvSpPr>
        <p:spPr>
          <a:xfrm>
            <a:off x="18430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0C1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"/>
          <p:cNvSpPr/>
          <p:nvPr/>
        </p:nvSpPr>
        <p:spPr>
          <a:xfrm>
            <a:off x="16525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122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"/>
          <p:cNvSpPr/>
          <p:nvPr/>
        </p:nvSpPr>
        <p:spPr>
          <a:xfrm>
            <a:off x="14620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"/>
          <p:cNvSpPr/>
          <p:nvPr/>
        </p:nvSpPr>
        <p:spPr>
          <a:xfrm>
            <a:off x="1271542" y="3629025"/>
            <a:ext cx="323939" cy="495300"/>
          </a:xfrm>
          <a:custGeom>
            <a:avLst/>
            <a:gdLst/>
            <a:ahLst/>
            <a:cxnLst/>
            <a:rect l="l" t="t" r="r" b="b"/>
            <a:pathLst>
              <a:path w="323939" h="495300">
                <a:moveTo>
                  <a:pt x="200114" y="0"/>
                </a:moveTo>
                <a:lnTo>
                  <a:pt x="323939" y="0"/>
                </a:lnTo>
                <a:lnTo>
                  <a:pt x="123825" y="495300"/>
                </a:lnTo>
                <a:lnTo>
                  <a:pt x="0" y="495300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logo" descr="foto_20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33400"/>
            <a:ext cx="3467100" cy="617785"/>
          </a:xfrm>
          <a:prstGeom prst="rect">
            <a:avLst/>
          </a:prstGeom>
        </p:spPr>
      </p:pic>
      <p:pic>
        <p:nvPicPr>
          <p:cNvPr id="11" name="flota_equipo_cierre" descr="foto_20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975" y="-9525"/>
            <a:ext cx="6296025" cy="4457700"/>
          </a:xfrm>
          <a:custGeom>
            <a:avLst/>
            <a:gdLst/>
            <a:ahLst/>
            <a:cxnLst/>
            <a:rect l="l" t="t" r="r" b="b"/>
            <a:pathLst>
              <a:path w="6296025" h="4457700">
                <a:moveTo>
                  <a:pt x="692563" y="0"/>
                </a:moveTo>
                <a:lnTo>
                  <a:pt x="6296025" y="0"/>
                </a:lnTo>
                <a:lnTo>
                  <a:pt x="6296025" y="4457700"/>
                </a:lnTo>
                <a:lnTo>
                  <a:pt x="125921" y="4457700"/>
                </a:lnTo>
                <a:close/>
              </a:path>
            </a:pathLst>
          </a:custGeom>
        </p:spPr>
      </p:pic>
      <p:sp>
        <p:nvSpPr>
          <p:cNvPr id="12" name="i"/>
          <p:cNvSpPr/>
          <p:nvPr/>
        </p:nvSpPr>
        <p:spPr>
          <a:xfrm>
            <a:off x="5212321" y="-95250"/>
            <a:ext cx="767232" cy="4543425"/>
          </a:xfrm>
          <a:custGeom>
            <a:avLst/>
            <a:gdLst/>
            <a:ahLst/>
            <a:cxnLst/>
            <a:rect l="l" t="t" r="r" b="b"/>
            <a:pathLst>
              <a:path w="767232" h="4543425">
                <a:moveTo>
                  <a:pt x="719607" y="0"/>
                </a:moveTo>
                <a:lnTo>
                  <a:pt x="767232" y="0"/>
                </a:lnTo>
                <a:lnTo>
                  <a:pt x="476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C3C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"/>
          <p:cNvSpPr/>
          <p:nvPr/>
        </p:nvSpPr>
        <p:spPr>
          <a:xfrm>
            <a:off x="5383771" y="-95250"/>
            <a:ext cx="805332" cy="4543425"/>
          </a:xfrm>
          <a:custGeom>
            <a:avLst/>
            <a:gdLst/>
            <a:ahLst/>
            <a:cxnLst/>
            <a:rect l="l" t="t" r="r" b="b"/>
            <a:pathLst>
              <a:path w="805332" h="4543425">
                <a:moveTo>
                  <a:pt x="719607" y="0"/>
                </a:moveTo>
                <a:lnTo>
                  <a:pt x="805332" y="0"/>
                </a:lnTo>
                <a:lnTo>
                  <a:pt x="85725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2A3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"/>
          <p:cNvSpPr/>
          <p:nvPr/>
        </p:nvSpPr>
        <p:spPr>
          <a:xfrm>
            <a:off x="5593320" y="-95250"/>
            <a:ext cx="757707" cy="4543425"/>
          </a:xfrm>
          <a:custGeom>
            <a:avLst/>
            <a:gdLst/>
            <a:ahLst/>
            <a:cxnLst/>
            <a:rect l="l" t="t" r="r" b="b"/>
            <a:pathLst>
              <a:path w="757707" h="4543425">
                <a:moveTo>
                  <a:pt x="719607" y="0"/>
                </a:moveTo>
                <a:lnTo>
                  <a:pt x="757707" y="0"/>
                </a:lnTo>
                <a:lnTo>
                  <a:pt x="38100" y="4543425"/>
                </a:lnTo>
                <a:lnTo>
                  <a:pt x="0" y="4543425"/>
                </a:lnTo>
                <a:close/>
              </a:path>
            </a:pathLst>
          </a:custGeom>
          <a:solidFill>
            <a:srgbClr val="8FA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"/>
          <p:cNvSpPr/>
          <p:nvPr/>
        </p:nvSpPr>
        <p:spPr>
          <a:xfrm>
            <a:off x="-69837" y="4245173"/>
            <a:ext cx="530199" cy="2806303"/>
          </a:xfrm>
          <a:custGeom>
            <a:avLst/>
            <a:gdLst/>
            <a:ahLst/>
            <a:cxnLst/>
            <a:rect l="l" t="t" r="r" b="b"/>
            <a:pathLst>
              <a:path w="530199" h="2806303">
                <a:moveTo>
                  <a:pt x="444565" y="0"/>
                </a:moveTo>
                <a:lnTo>
                  <a:pt x="530199" y="0"/>
                </a:lnTo>
                <a:lnTo>
                  <a:pt x="85634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49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"/>
          <p:cNvSpPr/>
          <p:nvPr/>
        </p:nvSpPr>
        <p:spPr>
          <a:xfrm>
            <a:off x="158762" y="4245173"/>
            <a:ext cx="492099" cy="2806303"/>
          </a:xfrm>
          <a:custGeom>
            <a:avLst/>
            <a:gdLst/>
            <a:ahLst/>
            <a:cxnLst/>
            <a:rect l="l" t="t" r="r" b="b"/>
            <a:pathLst>
              <a:path w="492099" h="2806303">
                <a:moveTo>
                  <a:pt x="444529" y="0"/>
                </a:moveTo>
                <a:lnTo>
                  <a:pt x="492099" y="0"/>
                </a:lnTo>
                <a:lnTo>
                  <a:pt x="47570" y="2806303"/>
                </a:lnTo>
                <a:lnTo>
                  <a:pt x="0" y="2806303"/>
                </a:lnTo>
                <a:close/>
              </a:path>
            </a:pathLst>
          </a:custGeom>
          <a:solidFill>
            <a:srgbClr val="7C8BB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obre las fotos" descr="encima_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2000" y="1722685"/>
            <a:ext cx="4001095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630"/>
              </a:lnSpc>
            </a:pPr>
            <a:r>
              <a:rPr sz="3525" b="1" i="0">
                <a:solidFill>
                  <a:srgbClr val="122149"/>
                </a:solidFill>
                <a:latin typeface="Barlow Condensed"/>
              </a:rPr>
              <a:t>La fuerza que construye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2183755"/>
            <a:ext cx="4458146" cy="533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3630"/>
              </a:lnSpc>
            </a:pPr>
            <a:r>
              <a:rPr sz="3525" b="1" i="0">
                <a:solidFill>
                  <a:srgbClr val="122149"/>
                </a:solidFill>
                <a:latin typeface="Barlow Condensed"/>
              </a:rPr>
              <a:t>nuestra industria petrolera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525" y="4884687"/>
            <a:ext cx="1507331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SEDE CORPORATIVA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172075"/>
            <a:ext cx="3227486" cy="4018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Calle París entre New York y Caroní, Edif. #177, Urb. Las Mercedes, Municipio Baruta, Edo. Miranda Caracas.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5875" y="4867275"/>
            <a:ext cx="1734889" cy="2317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SEDE ADMINISTRATIVA ORIENTE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7750" y="5245000"/>
            <a:ext cx="173444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Lechería, estado Anzoátegui.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9975" y="4884687"/>
            <a:ext cx="831353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TELÉFONO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1850" y="5172075"/>
            <a:ext cx="2124372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+58 212 994.1106 / 1253 / 0987 / 0730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7697" y="4884687"/>
            <a:ext cx="649188" cy="1238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849"/>
              </a:lnSpc>
            </a:pPr>
            <a:r>
              <a:rPr sz="825" b="1" i="0" spc="247">
                <a:solidFill>
                  <a:srgbClr val="FFFFFF"/>
                </a:solidFill>
                <a:latin typeface="Barlow"/>
              </a:rPr>
              <a:t>CORREO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9572" y="5172075"/>
            <a:ext cx="1282451" cy="1619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sz="1050" b="0" i="0">
                <a:solidFill>
                  <a:srgbClr val="FFFFFF"/>
                </a:solidFill>
                <a:latin typeface="Barlow"/>
              </a:rPr>
              <a:t>Info@cvidalsa27.com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