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Relationship Id="rId7" Type="http://schemas.openxmlformats.org/officeDocument/2006/relationships/image" Target="../media/image23.jpg"/><Relationship Id="rId8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31.jpg"/><Relationship Id="rId7" Type="http://schemas.openxmlformats.org/officeDocument/2006/relationships/image" Target="../media/image32.jpg"/><Relationship Id="rId8" Type="http://schemas.openxmlformats.org/officeDocument/2006/relationships/image" Target="../media/image33.jpg"/><Relationship Id="rId9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image" Target="../media/image37.jpg"/><Relationship Id="rId5" Type="http://schemas.openxmlformats.org/officeDocument/2006/relationships/image" Target="../media/image38.jpg"/><Relationship Id="rId6" Type="http://schemas.openxmlformats.org/officeDocument/2006/relationships/image" Target="../media/image39.jpg"/><Relationship Id="rId7" Type="http://schemas.openxmlformats.org/officeDocument/2006/relationships/image" Target="../media/image40.jpg"/><Relationship Id="rId8" Type="http://schemas.openxmlformats.org/officeDocument/2006/relationships/image" Target="../media/image41.jpg"/><Relationship Id="rId9" Type="http://schemas.openxmlformats.org/officeDocument/2006/relationships/image" Target="../media/image4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Relationship Id="rId4" Type="http://schemas.openxmlformats.org/officeDocument/2006/relationships/image" Target="../media/image45.jpg"/><Relationship Id="rId5" Type="http://schemas.openxmlformats.org/officeDocument/2006/relationships/image" Target="../media/image46.jpg"/><Relationship Id="rId6" Type="http://schemas.openxmlformats.org/officeDocument/2006/relationships/image" Target="../media/image47.jpg"/><Relationship Id="rId7" Type="http://schemas.openxmlformats.org/officeDocument/2006/relationships/image" Target="../media/image48.jpg"/><Relationship Id="rId8" Type="http://schemas.openxmlformats.org/officeDocument/2006/relationships/image" Target="../media/image49.jpg"/><Relationship Id="rId9" Type="http://schemas.openxmlformats.org/officeDocument/2006/relationships/image" Target="../media/image5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image" Target="../media/image52.jpg"/><Relationship Id="rId4" Type="http://schemas.openxmlformats.org/officeDocument/2006/relationships/image" Target="../media/image53.jpg"/><Relationship Id="rId5" Type="http://schemas.openxmlformats.org/officeDocument/2006/relationships/image" Target="../media/image54.jpg"/><Relationship Id="rId6" Type="http://schemas.openxmlformats.org/officeDocument/2006/relationships/image" Target="../media/image55.jpg"/><Relationship Id="rId7" Type="http://schemas.openxmlformats.org/officeDocument/2006/relationships/image" Target="../media/image56.jpg"/><Relationship Id="rId8" Type="http://schemas.openxmlformats.org/officeDocument/2006/relationships/image" Target="../media/image57.jpg"/><Relationship Id="rId9" Type="http://schemas.openxmlformats.org/officeDocument/2006/relationships/image" Target="../media/image5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0.jpg"/><Relationship Id="rId4" Type="http://schemas.openxmlformats.org/officeDocument/2006/relationships/image" Target="../media/image61.jpg"/><Relationship Id="rId5" Type="http://schemas.openxmlformats.org/officeDocument/2006/relationships/image" Target="../media/image62.jpg"/><Relationship Id="rId6" Type="http://schemas.openxmlformats.org/officeDocument/2006/relationships/image" Target="../media/image63.jpg"/><Relationship Id="rId7" Type="http://schemas.openxmlformats.org/officeDocument/2006/relationships/image" Target="../media/image64.jpg"/><Relationship Id="rId8" Type="http://schemas.openxmlformats.org/officeDocument/2006/relationships/image" Target="../media/image65.jpg"/><Relationship Id="rId9" Type="http://schemas.openxmlformats.org/officeDocument/2006/relationships/image" Target="../media/image6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Relationship Id="rId3" Type="http://schemas.openxmlformats.org/officeDocument/2006/relationships/image" Target="../media/image68.jpg"/><Relationship Id="rId4" Type="http://schemas.openxmlformats.org/officeDocument/2006/relationships/image" Target="../media/image69.jpg"/><Relationship Id="rId5" Type="http://schemas.openxmlformats.org/officeDocument/2006/relationships/image" Target="../media/image70.jpg"/><Relationship Id="rId6" Type="http://schemas.openxmlformats.org/officeDocument/2006/relationships/image" Target="../media/image71.jpg"/><Relationship Id="rId7" Type="http://schemas.openxmlformats.org/officeDocument/2006/relationships/image" Target="../media/image72.jpg"/><Relationship Id="rId8" Type="http://schemas.openxmlformats.org/officeDocument/2006/relationships/image" Target="../media/image73.jpg"/><Relationship Id="rId9" Type="http://schemas.openxmlformats.org/officeDocument/2006/relationships/image" Target="../media/image6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Relationship Id="rId3" Type="http://schemas.openxmlformats.org/officeDocument/2006/relationships/image" Target="../media/image75.jpg"/><Relationship Id="rId4" Type="http://schemas.openxmlformats.org/officeDocument/2006/relationships/image" Target="../media/image76.jpg"/><Relationship Id="rId5" Type="http://schemas.openxmlformats.org/officeDocument/2006/relationships/image" Target="../media/image77.jpg"/><Relationship Id="rId6" Type="http://schemas.openxmlformats.org/officeDocument/2006/relationships/image" Target="../media/image78.jpg"/><Relationship Id="rId7" Type="http://schemas.openxmlformats.org/officeDocument/2006/relationships/image" Target="../media/image79.jpg"/><Relationship Id="rId8" Type="http://schemas.openxmlformats.org/officeDocument/2006/relationships/image" Target="../media/image80.jpg"/><Relationship Id="rId9" Type="http://schemas.openxmlformats.org/officeDocument/2006/relationships/image" Target="../media/image8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Relationship Id="rId3" Type="http://schemas.openxmlformats.org/officeDocument/2006/relationships/image" Target="../media/image83.jpg"/><Relationship Id="rId4" Type="http://schemas.openxmlformats.org/officeDocument/2006/relationships/image" Target="../media/image84.jpg"/><Relationship Id="rId5" Type="http://schemas.openxmlformats.org/officeDocument/2006/relationships/image" Target="../media/image85.jpg"/><Relationship Id="rId6" Type="http://schemas.openxmlformats.org/officeDocument/2006/relationships/image" Target="../media/image86.jpg"/><Relationship Id="rId7" Type="http://schemas.openxmlformats.org/officeDocument/2006/relationships/image" Target="../media/image87.jpg"/><Relationship Id="rId8" Type="http://schemas.openxmlformats.org/officeDocument/2006/relationships/image" Target="../media/image88.jpg"/><Relationship Id="rId9" Type="http://schemas.openxmlformats.org/officeDocument/2006/relationships/image" Target="../media/image8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Relationship Id="rId3" Type="http://schemas.openxmlformats.org/officeDocument/2006/relationships/image" Target="../media/image91.jpg"/><Relationship Id="rId4" Type="http://schemas.openxmlformats.org/officeDocument/2006/relationships/image" Target="../media/image92.jpg"/><Relationship Id="rId5" Type="http://schemas.openxmlformats.org/officeDocument/2006/relationships/image" Target="../media/image93.jpg"/><Relationship Id="rId6" Type="http://schemas.openxmlformats.org/officeDocument/2006/relationships/image" Target="../media/image94.jpg"/><Relationship Id="rId7" Type="http://schemas.openxmlformats.org/officeDocument/2006/relationships/image" Target="../media/image95.jpg"/><Relationship Id="rId8" Type="http://schemas.openxmlformats.org/officeDocument/2006/relationships/image" Target="../media/image96.jpg"/><Relationship Id="rId9" Type="http://schemas.openxmlformats.org/officeDocument/2006/relationships/image" Target="../media/image9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Relationship Id="rId3" Type="http://schemas.openxmlformats.org/officeDocument/2006/relationships/image" Target="../media/image99.jpg"/><Relationship Id="rId4" Type="http://schemas.openxmlformats.org/officeDocument/2006/relationships/image" Target="../media/image100.jpg"/><Relationship Id="rId5" Type="http://schemas.openxmlformats.org/officeDocument/2006/relationships/image" Target="../media/image101.jpg"/><Relationship Id="rId6" Type="http://schemas.openxmlformats.org/officeDocument/2006/relationships/image" Target="../media/image102.jpg"/><Relationship Id="rId7" Type="http://schemas.openxmlformats.org/officeDocument/2006/relationships/image" Target="../media/image103.jpg"/><Relationship Id="rId8" Type="http://schemas.openxmlformats.org/officeDocument/2006/relationships/image" Target="../media/image10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Relationship Id="rId3" Type="http://schemas.openxmlformats.org/officeDocument/2006/relationships/image" Target="../media/image106.jpg"/><Relationship Id="rId4" Type="http://schemas.openxmlformats.org/officeDocument/2006/relationships/image" Target="../media/image107.jpg"/><Relationship Id="rId5" Type="http://schemas.openxmlformats.org/officeDocument/2006/relationships/image" Target="../media/image108.jpg"/><Relationship Id="rId6" Type="http://schemas.openxmlformats.org/officeDocument/2006/relationships/image" Target="../media/image109.jpg"/><Relationship Id="rId7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Relationship Id="rId3" Type="http://schemas.openxmlformats.org/officeDocument/2006/relationships/image" Target="../media/image111.jpg"/><Relationship Id="rId4" Type="http://schemas.openxmlformats.org/officeDocument/2006/relationships/image" Target="../media/image112.png"/><Relationship Id="rId5" Type="http://schemas.openxmlformats.org/officeDocument/2006/relationships/image" Target="../media/image1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Relationship Id="rId3" Type="http://schemas.openxmlformats.org/officeDocument/2006/relationships/image" Target="../media/image115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ayita"/>
          <p:cNvSpPr/>
          <p:nvPr/>
        </p:nvSpPr>
        <p:spPr>
          <a:xfrm>
            <a:off x="7073088" y="4104828"/>
            <a:ext cx="373494" cy="28575"/>
          </a:xfrm>
          <a:custGeom>
            <a:avLst/>
            <a:gdLst/>
            <a:ahLst/>
            <a:cxnLst/>
            <a:rect l="l" t="t" r="r" b="b"/>
            <a:pathLst>
              <a:path w="373494" h="28575">
                <a:moveTo>
                  <a:pt x="11545" y="0"/>
                </a:moveTo>
                <a:lnTo>
                  <a:pt x="373494" y="0"/>
                </a:lnTo>
                <a:lnTo>
                  <a:pt x="361949" y="28575"/>
                </a:lnTo>
                <a:lnTo>
                  <a:pt x="0" y="285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"/>
          <p:cNvSpPr/>
          <p:nvPr/>
        </p:nvSpPr>
        <p:spPr>
          <a:xfrm>
            <a:off x="7550303" y="5640139"/>
            <a:ext cx="323939" cy="495300"/>
          </a:xfrm>
          <a:custGeom>
            <a:avLst/>
            <a:gdLst/>
            <a:ahLst/>
            <a:cxnLst/>
            <a:rect l="l" t="t" r="r" b="b"/>
            <a:pathLst>
              <a:path w="323939" h="495300">
                <a:moveTo>
                  <a:pt x="200114" y="0"/>
                </a:moveTo>
                <a:lnTo>
                  <a:pt x="323939" y="0"/>
                </a:lnTo>
                <a:lnTo>
                  <a:pt x="123825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"/>
          <p:cNvSpPr/>
          <p:nvPr/>
        </p:nvSpPr>
        <p:spPr>
          <a:xfrm>
            <a:off x="7359803" y="5640139"/>
            <a:ext cx="323939" cy="495300"/>
          </a:xfrm>
          <a:custGeom>
            <a:avLst/>
            <a:gdLst/>
            <a:ahLst/>
            <a:cxnLst/>
            <a:rect l="l" t="t" r="r" b="b"/>
            <a:pathLst>
              <a:path w="323939" h="495300">
                <a:moveTo>
                  <a:pt x="200114" y="0"/>
                </a:moveTo>
                <a:lnTo>
                  <a:pt x="323939" y="0"/>
                </a:lnTo>
                <a:lnTo>
                  <a:pt x="123825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7C8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"/>
          <p:cNvSpPr/>
          <p:nvPr/>
        </p:nvSpPr>
        <p:spPr>
          <a:xfrm>
            <a:off x="7169303" y="5640139"/>
            <a:ext cx="323939" cy="495300"/>
          </a:xfrm>
          <a:custGeom>
            <a:avLst/>
            <a:gdLst/>
            <a:ahLst/>
            <a:cxnLst/>
            <a:rect l="l" t="t" r="r" b="b"/>
            <a:pathLst>
              <a:path w="323939" h="495300">
                <a:moveTo>
                  <a:pt x="200114" y="0"/>
                </a:moveTo>
                <a:lnTo>
                  <a:pt x="323939" y="0"/>
                </a:lnTo>
                <a:lnTo>
                  <a:pt x="123825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96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"/>
          <p:cNvSpPr/>
          <p:nvPr/>
        </p:nvSpPr>
        <p:spPr>
          <a:xfrm>
            <a:off x="6978803" y="5640139"/>
            <a:ext cx="323939" cy="495300"/>
          </a:xfrm>
          <a:custGeom>
            <a:avLst/>
            <a:gdLst/>
            <a:ahLst/>
            <a:cxnLst/>
            <a:rect l="l" t="t" r="r" b="b"/>
            <a:pathLst>
              <a:path w="323939" h="495300">
                <a:moveTo>
                  <a:pt x="200114" y="0"/>
                </a:moveTo>
                <a:lnTo>
                  <a:pt x="323939" y="0"/>
                </a:lnTo>
                <a:lnTo>
                  <a:pt x="123825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sede_edificio" descr="foto_01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83560" cy="6858000"/>
          </a:xfrm>
          <a:prstGeom prst="rect">
            <a:avLst/>
          </a:prstGeom>
        </p:spPr>
      </p:pic>
      <p:pic>
        <p:nvPicPr>
          <p:cNvPr id="9" name="logo_cuadrado" descr="foto_01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9464" y="669577"/>
            <a:ext cx="3056483" cy="1952625"/>
          </a:xfrm>
          <a:prstGeom prst="rect">
            <a:avLst/>
          </a:prstGeom>
        </p:spPr>
      </p:pic>
      <p:pic>
        <p:nvPicPr>
          <p:cNvPr id="10" name="sobre las fotos" descr="encima_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3900" y="6305550"/>
            <a:ext cx="2735460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200"/>
              </a:lnSpc>
            </a:pPr>
            <a:r>
              <a:rPr sz="1200" b="1" i="0" spc="360">
                <a:solidFill>
                  <a:srgbClr val="FFFFFF"/>
                </a:solidFill>
                <a:latin typeface="Barlow"/>
              </a:rPr>
              <a:t>BROCHURE CORPORATIVO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5471070"/>
            <a:ext cx="783431" cy="933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5745"/>
              </a:lnSpc>
            </a:pPr>
            <a:r>
              <a:rPr sz="6112" b="1" i="0" spc="61">
                <a:solidFill>
                  <a:srgbClr val="FFFFFF"/>
                </a:solidFill>
                <a:latin typeface="Barlow Condensed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1131" y="5471070"/>
            <a:ext cx="773310" cy="933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5745"/>
              </a:lnSpc>
            </a:pPr>
            <a:r>
              <a:rPr sz="6112" b="1" i="0" spc="61">
                <a:solidFill>
                  <a:srgbClr val="4966AD"/>
                </a:solidFill>
                <a:latin typeface="Barlow Condensed"/>
              </a:rPr>
              <a:t>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93210" y="4014341"/>
            <a:ext cx="4107209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75"/>
              </a:lnSpc>
            </a:pPr>
            <a:r>
              <a:rPr sz="1312" b="1" i="0" spc="420">
                <a:solidFill>
                  <a:srgbClr val="FFFFFF"/>
                </a:solidFill>
                <a:latin typeface="Barlow"/>
              </a:rPr>
              <a:t>CONSTRUCTORA VIDALSA 27, C.A.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8860" y="4309616"/>
            <a:ext cx="4338637" cy="447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76"/>
              </a:lnSpc>
            </a:pPr>
            <a:r>
              <a:rPr sz="2887" b="1" i="0">
                <a:solidFill>
                  <a:srgbClr val="FFFFFF"/>
                </a:solidFill>
                <a:latin typeface="Barlow Condensed"/>
              </a:rPr>
              <a:t>Construyendo la infraestructura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8860" y="4712940"/>
            <a:ext cx="2449562" cy="447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76"/>
              </a:lnSpc>
            </a:pPr>
            <a:r>
              <a:rPr sz="2887" b="1" i="0">
                <a:solidFill>
                  <a:srgbClr val="FFFFFF"/>
                </a:solidFill>
                <a:latin typeface="Barlow Condensed"/>
              </a:rPr>
              <a:t>que mueve el país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qse-panel"/>
          <p:cNvSpPr/>
          <p:nvPr/>
        </p:nvSpPr>
        <p:spPr>
          <a:xfrm>
            <a:off x="0" y="0"/>
            <a:ext cx="5242470" cy="6858000"/>
          </a:xfrm>
          <a:prstGeom prst="rect">
            <a:avLst/>
          </a:pr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empresa_sede" descr="foto_02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945" y="0"/>
            <a:ext cx="6958905" cy="3429000"/>
          </a:xfrm>
          <a:prstGeom prst="rect">
            <a:avLst/>
          </a:prstGeom>
        </p:spPr>
      </p:pic>
      <p:pic>
        <p:nvPicPr>
          <p:cNvPr id="5" name="empresa_tendido" descr="foto_02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2945" y="3429000"/>
            <a:ext cx="6958905" cy="3429000"/>
          </a:xfrm>
          <a:prstGeom prst="rect">
            <a:avLst/>
          </a:prstGeom>
        </p:spPr>
      </p:pic>
      <p:sp>
        <p:nvSpPr>
          <p:cNvPr id="6" name="i"/>
          <p:cNvSpPr/>
          <p:nvPr/>
        </p:nvSpPr>
        <p:spPr>
          <a:xfrm>
            <a:off x="-477586" y="-548580"/>
            <a:ext cx="1345698" cy="7955160"/>
          </a:xfrm>
          <a:custGeom>
            <a:avLst/>
            <a:gdLst/>
            <a:ahLst/>
            <a:cxnLst/>
            <a:rect l="l" t="t" r="r" b="b"/>
            <a:pathLst>
              <a:path w="1345698" h="7955160">
                <a:moveTo>
                  <a:pt x="1259955" y="0"/>
                </a:moveTo>
                <a:lnTo>
                  <a:pt x="1345698" y="0"/>
                </a:lnTo>
                <a:lnTo>
                  <a:pt x="85743" y="7955160"/>
                </a:lnTo>
                <a:lnTo>
                  <a:pt x="0" y="795516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"/>
          <p:cNvSpPr/>
          <p:nvPr/>
        </p:nvSpPr>
        <p:spPr>
          <a:xfrm>
            <a:off x="-248986" y="-548580"/>
            <a:ext cx="1307598" cy="7955160"/>
          </a:xfrm>
          <a:custGeom>
            <a:avLst/>
            <a:gdLst/>
            <a:ahLst/>
            <a:cxnLst/>
            <a:rect l="l" t="t" r="r" b="b"/>
            <a:pathLst>
              <a:path w="1307598" h="7955160">
                <a:moveTo>
                  <a:pt x="1259963" y="0"/>
                </a:moveTo>
                <a:lnTo>
                  <a:pt x="1307598" y="0"/>
                </a:lnTo>
                <a:lnTo>
                  <a:pt x="47635" y="7955160"/>
                </a:lnTo>
                <a:lnTo>
                  <a:pt x="0" y="7955160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"/>
          <p:cNvSpPr/>
          <p:nvPr/>
        </p:nvSpPr>
        <p:spPr>
          <a:xfrm>
            <a:off x="4288633" y="-548580"/>
            <a:ext cx="1345698" cy="7955160"/>
          </a:xfrm>
          <a:custGeom>
            <a:avLst/>
            <a:gdLst/>
            <a:ahLst/>
            <a:cxnLst/>
            <a:rect l="l" t="t" r="r" b="b"/>
            <a:pathLst>
              <a:path w="1345698" h="7955160">
                <a:moveTo>
                  <a:pt x="1259955" y="0"/>
                </a:moveTo>
                <a:lnTo>
                  <a:pt x="1345698" y="0"/>
                </a:lnTo>
                <a:lnTo>
                  <a:pt x="85743" y="7955160"/>
                </a:lnTo>
                <a:lnTo>
                  <a:pt x="0" y="795516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"/>
          <p:cNvSpPr/>
          <p:nvPr/>
        </p:nvSpPr>
        <p:spPr>
          <a:xfrm>
            <a:off x="4517233" y="-548580"/>
            <a:ext cx="1307598" cy="7955160"/>
          </a:xfrm>
          <a:custGeom>
            <a:avLst/>
            <a:gdLst/>
            <a:ahLst/>
            <a:cxnLst/>
            <a:rect l="l" t="t" r="r" b="b"/>
            <a:pathLst>
              <a:path w="1307598" h="7955160">
                <a:moveTo>
                  <a:pt x="1259963" y="0"/>
                </a:moveTo>
                <a:lnTo>
                  <a:pt x="1307598" y="0"/>
                </a:lnTo>
                <a:lnTo>
                  <a:pt x="47635" y="7955160"/>
                </a:lnTo>
                <a:lnTo>
                  <a:pt x="0" y="7955160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ip"/>
          <p:cNvSpPr/>
          <p:nvPr/>
        </p:nvSpPr>
        <p:spPr>
          <a:xfrm>
            <a:off x="5047643" y="0"/>
            <a:ext cx="3897980" cy="257175"/>
          </a:xfrm>
          <a:custGeom>
            <a:avLst/>
            <a:gdLst/>
            <a:ahLst/>
            <a:cxnLst/>
            <a:rect l="l" t="t" r="r" b="b"/>
            <a:pathLst>
              <a:path w="3897980" h="257175">
                <a:moveTo>
                  <a:pt x="103989" y="0"/>
                </a:moveTo>
                <a:lnTo>
                  <a:pt x="3897980" y="0"/>
                </a:lnTo>
                <a:lnTo>
                  <a:pt x="3793991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5F698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"/>
          <p:cNvSpPr/>
          <p:nvPr/>
        </p:nvSpPr>
        <p:spPr>
          <a:xfrm>
            <a:off x="11900381" y="-274290"/>
            <a:ext cx="363863" cy="3977580"/>
          </a:xfrm>
          <a:custGeom>
            <a:avLst/>
            <a:gdLst/>
            <a:ahLst/>
            <a:cxnLst/>
            <a:rect l="l" t="t" r="r" b="b"/>
            <a:pathLst>
              <a:path w="363863" h="3977580">
                <a:moveTo>
                  <a:pt x="278202" y="0"/>
                </a:moveTo>
                <a:lnTo>
                  <a:pt x="363863" y="0"/>
                </a:lnTo>
                <a:lnTo>
                  <a:pt x="85661" y="3977580"/>
                </a:lnTo>
                <a:lnTo>
                  <a:pt x="0" y="397758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"/>
          <p:cNvSpPr/>
          <p:nvPr/>
        </p:nvSpPr>
        <p:spPr>
          <a:xfrm>
            <a:off x="12005156" y="-274290"/>
            <a:ext cx="325763" cy="3977580"/>
          </a:xfrm>
          <a:custGeom>
            <a:avLst/>
            <a:gdLst/>
            <a:ahLst/>
            <a:cxnLst/>
            <a:rect l="l" t="t" r="r" b="b"/>
            <a:pathLst>
              <a:path w="325763" h="3977580">
                <a:moveTo>
                  <a:pt x="278178" y="0"/>
                </a:moveTo>
                <a:lnTo>
                  <a:pt x="325763" y="0"/>
                </a:lnTo>
                <a:lnTo>
                  <a:pt x="47585" y="3977580"/>
                </a:lnTo>
                <a:lnTo>
                  <a:pt x="0" y="3977580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ip"/>
          <p:cNvSpPr/>
          <p:nvPr/>
        </p:nvSpPr>
        <p:spPr>
          <a:xfrm>
            <a:off x="5047643" y="3429000"/>
            <a:ext cx="2847551" cy="257175"/>
          </a:xfrm>
          <a:custGeom>
            <a:avLst/>
            <a:gdLst/>
            <a:ahLst/>
            <a:cxnLst/>
            <a:rect l="l" t="t" r="r" b="b"/>
            <a:pathLst>
              <a:path w="2847551" h="257175">
                <a:moveTo>
                  <a:pt x="103922" y="0"/>
                </a:moveTo>
                <a:lnTo>
                  <a:pt x="2847551" y="0"/>
                </a:lnTo>
                <a:lnTo>
                  <a:pt x="2743629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5F698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"/>
          <p:cNvSpPr/>
          <p:nvPr/>
        </p:nvSpPr>
        <p:spPr>
          <a:xfrm>
            <a:off x="11900381" y="3154709"/>
            <a:ext cx="363863" cy="3977580"/>
          </a:xfrm>
          <a:custGeom>
            <a:avLst/>
            <a:gdLst/>
            <a:ahLst/>
            <a:cxnLst/>
            <a:rect l="l" t="t" r="r" b="b"/>
            <a:pathLst>
              <a:path w="363863" h="3977580">
                <a:moveTo>
                  <a:pt x="278202" y="0"/>
                </a:moveTo>
                <a:lnTo>
                  <a:pt x="363863" y="0"/>
                </a:lnTo>
                <a:lnTo>
                  <a:pt x="85661" y="3977580"/>
                </a:lnTo>
                <a:lnTo>
                  <a:pt x="0" y="397758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"/>
          <p:cNvSpPr/>
          <p:nvPr/>
        </p:nvSpPr>
        <p:spPr>
          <a:xfrm>
            <a:off x="12005156" y="3154709"/>
            <a:ext cx="325763" cy="3977580"/>
          </a:xfrm>
          <a:custGeom>
            <a:avLst/>
            <a:gdLst/>
            <a:ahLst/>
            <a:cxnLst/>
            <a:rect l="l" t="t" r="r" b="b"/>
            <a:pathLst>
              <a:path w="325763" h="3977580">
                <a:moveTo>
                  <a:pt x="278178" y="0"/>
                </a:moveTo>
                <a:lnTo>
                  <a:pt x="325763" y="0"/>
                </a:lnTo>
                <a:lnTo>
                  <a:pt x="47585" y="3977580"/>
                </a:lnTo>
                <a:lnTo>
                  <a:pt x="0" y="3977580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ayita"/>
          <p:cNvSpPr/>
          <p:nvPr/>
        </p:nvSpPr>
        <p:spPr>
          <a:xfrm>
            <a:off x="756227" y="2537073"/>
            <a:ext cx="373495" cy="28575"/>
          </a:xfrm>
          <a:custGeom>
            <a:avLst/>
            <a:gdLst/>
            <a:ahLst/>
            <a:cxnLst/>
            <a:rect l="l" t="t" r="r" b="b"/>
            <a:pathLst>
              <a:path w="373495" h="28575">
                <a:moveTo>
                  <a:pt x="11545" y="0"/>
                </a:moveTo>
                <a:lnTo>
                  <a:pt x="373495" y="0"/>
                </a:lnTo>
                <a:lnTo>
                  <a:pt x="361950" y="28575"/>
                </a:lnTo>
                <a:lnTo>
                  <a:pt x="0" y="285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bre las fotos" descr="encima_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76350" y="2470398"/>
            <a:ext cx="1599009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i="0" spc="336">
                <a:solidFill>
                  <a:srgbClr val="FFFFFF"/>
                </a:solidFill>
                <a:latin typeface="Barlow"/>
              </a:rPr>
              <a:t>QUIÉNES SOMOS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2708523"/>
            <a:ext cx="2362051" cy="447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974"/>
              </a:lnSpc>
            </a:pPr>
            <a:r>
              <a:rPr sz="2887" b="1" i="0">
                <a:solidFill>
                  <a:srgbClr val="FFFFFF"/>
                </a:solidFill>
                <a:latin typeface="Barlow Condensed"/>
              </a:rPr>
              <a:t>Nuestra empresa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429000"/>
            <a:ext cx="2478434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962"/>
              </a:lnSpc>
            </a:pPr>
            <a:r>
              <a:rPr sz="1102" b="1" i="0">
                <a:solidFill>
                  <a:srgbClr val="FFFFFF"/>
                </a:solidFill>
                <a:latin typeface="Barlow"/>
              </a:rPr>
              <a:t>CONSTRUCTORA VIDALSA 27 C.A.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3429000"/>
            <a:ext cx="3794670" cy="9188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962"/>
              </a:lnSpc>
            </a:pPr>
            <a:r>
              <a:rPr sz="1102" b="0" i="0">
                <a:solidFill>
                  <a:srgbClr val="FFFFFF"/>
                </a:solidFill>
                <a:latin typeface="Barlow"/>
              </a:rPr>
              <a:t>es una empresa venezolana fundada en el año 2007, desde entonces sumamos años de trayectoria en la construcción de infraestructura civil y petrolera, con enfoque en la Faja Petrolífera del Orinoco.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4395" y="66675"/>
            <a:ext cx="3317825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OBRA: OLEODUCTO 30″ VELADERO · TRAMO 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4395" y="3495675"/>
            <a:ext cx="226739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PATIO DE MÁQUINAS EL TIGRE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anel"/>
          <p:cNvSpPr/>
          <p:nvPr/>
        </p:nvSpPr>
        <p:spPr>
          <a:xfrm>
            <a:off x="0" y="4467225"/>
            <a:ext cx="12192000" cy="2390775"/>
          </a:xfrm>
          <a:prstGeom prst="rect">
            <a:avLst/>
          </a:pr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um"/>
          <p:cNvSpPr/>
          <p:nvPr/>
        </p:nvSpPr>
        <p:spPr>
          <a:xfrm>
            <a:off x="864371" y="4867275"/>
            <a:ext cx="510673" cy="247650"/>
          </a:xfrm>
          <a:custGeom>
            <a:avLst/>
            <a:gdLst/>
            <a:ahLst/>
            <a:cxnLst/>
            <a:rect l="l" t="t" r="r" b="b"/>
            <a:pathLst>
              <a:path w="510673" h="247650">
                <a:moveTo>
                  <a:pt x="100261" y="0"/>
                </a:moveTo>
                <a:lnTo>
                  <a:pt x="510673" y="0"/>
                </a:lnTo>
                <a:lnTo>
                  <a:pt x="410412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um"/>
          <p:cNvSpPr/>
          <p:nvPr/>
        </p:nvSpPr>
        <p:spPr>
          <a:xfrm>
            <a:off x="6388871" y="4867275"/>
            <a:ext cx="540439" cy="247650"/>
          </a:xfrm>
          <a:custGeom>
            <a:avLst/>
            <a:gdLst/>
            <a:ahLst/>
            <a:cxnLst/>
            <a:rect l="l" t="t" r="r" b="b"/>
            <a:pathLst>
              <a:path w="540439" h="247650">
                <a:moveTo>
                  <a:pt x="100472" y="0"/>
                </a:moveTo>
                <a:lnTo>
                  <a:pt x="540439" y="0"/>
                </a:lnTo>
                <a:lnTo>
                  <a:pt x="439967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flota_equipo" descr="foto_03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4476750"/>
          </a:xfrm>
          <a:prstGeom prst="rect">
            <a:avLst/>
          </a:prstGeom>
        </p:spPr>
      </p:pic>
      <p:sp>
        <p:nvSpPr>
          <p:cNvPr id="7" name="i"/>
          <p:cNvSpPr/>
          <p:nvPr/>
        </p:nvSpPr>
        <p:spPr>
          <a:xfrm>
            <a:off x="-258838" y="-358080"/>
            <a:ext cx="908201" cy="5192910"/>
          </a:xfrm>
          <a:custGeom>
            <a:avLst/>
            <a:gdLst/>
            <a:ahLst/>
            <a:cxnLst/>
            <a:rect l="l" t="t" r="r" b="b"/>
            <a:pathLst>
              <a:path w="908201" h="5192910">
                <a:moveTo>
                  <a:pt x="822449" y="0"/>
                </a:moveTo>
                <a:lnTo>
                  <a:pt x="908201" y="0"/>
                </a:lnTo>
                <a:lnTo>
                  <a:pt x="85752" y="5192910"/>
                </a:lnTo>
                <a:lnTo>
                  <a:pt x="0" y="519291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"/>
          <p:cNvSpPr/>
          <p:nvPr/>
        </p:nvSpPr>
        <p:spPr>
          <a:xfrm>
            <a:off x="-30238" y="-358080"/>
            <a:ext cx="870101" cy="5192910"/>
          </a:xfrm>
          <a:custGeom>
            <a:avLst/>
            <a:gdLst/>
            <a:ahLst/>
            <a:cxnLst/>
            <a:rect l="l" t="t" r="r" b="b"/>
            <a:pathLst>
              <a:path w="870101" h="5192910">
                <a:moveTo>
                  <a:pt x="822460" y="0"/>
                </a:moveTo>
                <a:lnTo>
                  <a:pt x="870101" y="0"/>
                </a:lnTo>
                <a:lnTo>
                  <a:pt x="47641" y="5192910"/>
                </a:lnTo>
                <a:lnTo>
                  <a:pt x="0" y="5192910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"/>
          <p:cNvSpPr/>
          <p:nvPr/>
        </p:nvSpPr>
        <p:spPr>
          <a:xfrm>
            <a:off x="-67220" y="4275980"/>
            <a:ext cx="524966" cy="2773263"/>
          </a:xfrm>
          <a:custGeom>
            <a:avLst/>
            <a:gdLst/>
            <a:ahLst/>
            <a:cxnLst/>
            <a:rect l="l" t="t" r="r" b="b"/>
            <a:pathLst>
              <a:path w="524966" h="2773263">
                <a:moveTo>
                  <a:pt x="439202" y="0"/>
                </a:moveTo>
                <a:lnTo>
                  <a:pt x="524966" y="0"/>
                </a:lnTo>
                <a:lnTo>
                  <a:pt x="85764" y="2773263"/>
                </a:lnTo>
                <a:lnTo>
                  <a:pt x="0" y="2773263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"/>
          <p:cNvSpPr/>
          <p:nvPr/>
        </p:nvSpPr>
        <p:spPr>
          <a:xfrm>
            <a:off x="161379" y="4275980"/>
            <a:ext cx="486866" cy="2773263"/>
          </a:xfrm>
          <a:custGeom>
            <a:avLst/>
            <a:gdLst/>
            <a:ahLst/>
            <a:cxnLst/>
            <a:rect l="l" t="t" r="r" b="b"/>
            <a:pathLst>
              <a:path w="486866" h="2773263">
                <a:moveTo>
                  <a:pt x="439218" y="0"/>
                </a:moveTo>
                <a:lnTo>
                  <a:pt x="486866" y="0"/>
                </a:lnTo>
                <a:lnTo>
                  <a:pt x="47648" y="2773263"/>
                </a:lnTo>
                <a:lnTo>
                  <a:pt x="0" y="2773263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ip"/>
          <p:cNvSpPr/>
          <p:nvPr/>
        </p:nvSpPr>
        <p:spPr>
          <a:xfrm>
            <a:off x="8511171" y="3800475"/>
            <a:ext cx="2818381" cy="257175"/>
          </a:xfrm>
          <a:custGeom>
            <a:avLst/>
            <a:gdLst/>
            <a:ahLst/>
            <a:cxnLst/>
            <a:rect l="l" t="t" r="r" b="b"/>
            <a:pathLst>
              <a:path w="2818381" h="257175">
                <a:moveTo>
                  <a:pt x="103900" y="0"/>
                </a:moveTo>
                <a:lnTo>
                  <a:pt x="2818381" y="0"/>
                </a:lnTo>
                <a:lnTo>
                  <a:pt x="2714481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5F698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obre las fotos" descr="encima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28750" y="3323034"/>
            <a:ext cx="1599009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i="0" spc="336">
                <a:solidFill>
                  <a:srgbClr val="FFFFFF"/>
                </a:solidFill>
                <a:latin typeface="Barlow"/>
              </a:rPr>
              <a:t>QUIÉNES SOMOS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51634"/>
            <a:ext cx="2819846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4210"/>
              </a:lnSpc>
            </a:pPr>
            <a:r>
              <a:rPr sz="4087" b="1" i="0">
                <a:solidFill>
                  <a:srgbClr val="FFFFFF"/>
                </a:solidFill>
                <a:latin typeface="Barlow Condensed"/>
              </a:rPr>
              <a:t>Misión y visión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7923" y="3867150"/>
            <a:ext cx="223822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PATIO DE MÁQUINAS MATURÍN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275" y="4905375"/>
            <a:ext cx="201066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087" b="1" i="0">
                <a:solidFill>
                  <a:srgbClr val="FFFFFF"/>
                </a:solidFill>
                <a:latin typeface="Barlow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7891" y="4908351"/>
            <a:ext cx="68550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004"/>
              </a:lnSpc>
            </a:pPr>
            <a:r>
              <a:rPr sz="975" b="1" i="0" spc="292">
                <a:solidFill>
                  <a:srgbClr val="FFFFFF"/>
                </a:solidFill>
                <a:latin typeface="Barlow"/>
              </a:rPr>
              <a:t>MISIÓN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24475"/>
            <a:ext cx="4914900" cy="42267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979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Desarrollar proyectos de infraestructura civil y petrolera, mediante soluciones constructivas, innovadoras y sostenibles.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1775" y="4905375"/>
            <a:ext cx="230832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087" b="1" i="0">
                <a:solidFill>
                  <a:srgbClr val="FFFFFF"/>
                </a:solidFill>
                <a:latin typeface="Barlow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2157" y="4908351"/>
            <a:ext cx="672554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004"/>
              </a:lnSpc>
            </a:pPr>
            <a:r>
              <a:rPr sz="975" b="1" i="0" spc="292">
                <a:solidFill>
                  <a:srgbClr val="FFFFFF"/>
                </a:solidFill>
                <a:latin typeface="Barlow"/>
              </a:rPr>
              <a:t>VISIÓN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900" y="5324475"/>
            <a:ext cx="4914900" cy="9251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979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Ser el referente líder en la ejecución de proyectos de infraestructura, reconocidos por transformar desafíos complejos en proyectos tangibles, seguros, de alta calidad y con compromiso socioambiental, que impulsen el desarrollo económico y social del país.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valores_equipo" descr="foto_04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4" name="i"/>
          <p:cNvSpPr/>
          <p:nvPr/>
        </p:nvSpPr>
        <p:spPr>
          <a:xfrm>
            <a:off x="5008812" y="-548580"/>
            <a:ext cx="1345699" cy="7955160"/>
          </a:xfrm>
          <a:custGeom>
            <a:avLst/>
            <a:gdLst/>
            <a:ahLst/>
            <a:cxnLst/>
            <a:rect l="l" t="t" r="r" b="b"/>
            <a:pathLst>
              <a:path w="1345699" h="7955160">
                <a:moveTo>
                  <a:pt x="1259956" y="0"/>
                </a:moveTo>
                <a:lnTo>
                  <a:pt x="1345699" y="0"/>
                </a:lnTo>
                <a:lnTo>
                  <a:pt x="85743" y="7955160"/>
                </a:lnTo>
                <a:lnTo>
                  <a:pt x="0" y="795516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"/>
          <p:cNvSpPr/>
          <p:nvPr/>
        </p:nvSpPr>
        <p:spPr>
          <a:xfrm>
            <a:off x="5237412" y="-548580"/>
            <a:ext cx="1307599" cy="7955160"/>
          </a:xfrm>
          <a:custGeom>
            <a:avLst/>
            <a:gdLst/>
            <a:ahLst/>
            <a:cxnLst/>
            <a:rect l="l" t="t" r="r" b="b"/>
            <a:pathLst>
              <a:path w="1307599" h="7955160">
                <a:moveTo>
                  <a:pt x="1259964" y="0"/>
                </a:moveTo>
                <a:lnTo>
                  <a:pt x="1307599" y="0"/>
                </a:lnTo>
                <a:lnTo>
                  <a:pt x="47635" y="7955160"/>
                </a:lnTo>
                <a:lnTo>
                  <a:pt x="0" y="7955160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ayita"/>
          <p:cNvSpPr/>
          <p:nvPr/>
        </p:nvSpPr>
        <p:spPr>
          <a:xfrm>
            <a:off x="6242627" y="600075"/>
            <a:ext cx="373494" cy="28575"/>
          </a:xfrm>
          <a:custGeom>
            <a:avLst/>
            <a:gdLst/>
            <a:ahLst/>
            <a:cxnLst/>
            <a:rect l="l" t="t" r="r" b="b"/>
            <a:pathLst>
              <a:path w="373494" h="28575">
                <a:moveTo>
                  <a:pt x="11545" y="0"/>
                </a:moveTo>
                <a:lnTo>
                  <a:pt x="373494" y="0"/>
                </a:lnTo>
                <a:lnTo>
                  <a:pt x="361949" y="28575"/>
                </a:lnTo>
                <a:lnTo>
                  <a:pt x="0" y="285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um"/>
          <p:cNvSpPr/>
          <p:nvPr/>
        </p:nvSpPr>
        <p:spPr>
          <a:xfrm>
            <a:off x="6198371" y="2114550"/>
            <a:ext cx="510673" cy="247650"/>
          </a:xfrm>
          <a:custGeom>
            <a:avLst/>
            <a:gdLst/>
            <a:ahLst/>
            <a:cxnLst/>
            <a:rect l="l" t="t" r="r" b="b"/>
            <a:pathLst>
              <a:path w="510673" h="247650">
                <a:moveTo>
                  <a:pt x="100261" y="0"/>
                </a:moveTo>
                <a:lnTo>
                  <a:pt x="510673" y="0"/>
                </a:lnTo>
                <a:lnTo>
                  <a:pt x="410412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um"/>
          <p:cNvSpPr/>
          <p:nvPr/>
        </p:nvSpPr>
        <p:spPr>
          <a:xfrm>
            <a:off x="6198371" y="3021508"/>
            <a:ext cx="540439" cy="247650"/>
          </a:xfrm>
          <a:custGeom>
            <a:avLst/>
            <a:gdLst/>
            <a:ahLst/>
            <a:cxnLst/>
            <a:rect l="l" t="t" r="r" b="b"/>
            <a:pathLst>
              <a:path w="540439" h="247650">
                <a:moveTo>
                  <a:pt x="100472" y="0"/>
                </a:moveTo>
                <a:lnTo>
                  <a:pt x="540439" y="0"/>
                </a:lnTo>
                <a:lnTo>
                  <a:pt x="439967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um"/>
          <p:cNvSpPr/>
          <p:nvPr/>
        </p:nvSpPr>
        <p:spPr>
          <a:xfrm>
            <a:off x="6198371" y="3928467"/>
            <a:ext cx="537611" cy="247650"/>
          </a:xfrm>
          <a:custGeom>
            <a:avLst/>
            <a:gdLst/>
            <a:ahLst/>
            <a:cxnLst/>
            <a:rect l="l" t="t" r="r" b="b"/>
            <a:pathLst>
              <a:path w="537611" h="247650">
                <a:moveTo>
                  <a:pt x="99946" y="0"/>
                </a:moveTo>
                <a:lnTo>
                  <a:pt x="537611" y="0"/>
                </a:lnTo>
                <a:lnTo>
                  <a:pt x="437665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um"/>
          <p:cNvSpPr/>
          <p:nvPr/>
        </p:nvSpPr>
        <p:spPr>
          <a:xfrm>
            <a:off x="6198371" y="4835425"/>
            <a:ext cx="545052" cy="247650"/>
          </a:xfrm>
          <a:custGeom>
            <a:avLst/>
            <a:gdLst/>
            <a:ahLst/>
            <a:cxnLst/>
            <a:rect l="l" t="t" r="r" b="b"/>
            <a:pathLst>
              <a:path w="545052" h="247650">
                <a:moveTo>
                  <a:pt x="99567" y="0"/>
                </a:moveTo>
                <a:lnTo>
                  <a:pt x="545052" y="0"/>
                </a:lnTo>
                <a:lnTo>
                  <a:pt x="445485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um"/>
          <p:cNvSpPr/>
          <p:nvPr/>
        </p:nvSpPr>
        <p:spPr>
          <a:xfrm>
            <a:off x="6198371" y="5742384"/>
            <a:ext cx="537462" cy="247650"/>
          </a:xfrm>
          <a:custGeom>
            <a:avLst/>
            <a:gdLst/>
            <a:ahLst/>
            <a:cxnLst/>
            <a:rect l="l" t="t" r="r" b="b"/>
            <a:pathLst>
              <a:path w="537462" h="247650">
                <a:moveTo>
                  <a:pt x="99919" y="0"/>
                </a:moveTo>
                <a:lnTo>
                  <a:pt x="537462" y="0"/>
                </a:lnTo>
                <a:lnTo>
                  <a:pt x="437543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obre las fotos" descr="encima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62750" y="533400"/>
            <a:ext cx="1599009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i="0" spc="336">
                <a:solidFill>
                  <a:srgbClr val="FFFFFF"/>
                </a:solidFill>
                <a:latin typeface="Barlow"/>
              </a:rPr>
              <a:t>QUIÉNES SOMOS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400" y="771525"/>
            <a:ext cx="2332583" cy="447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974"/>
              </a:lnSpc>
            </a:pPr>
            <a:r>
              <a:rPr sz="2887" b="1" i="0">
                <a:solidFill>
                  <a:srgbClr val="FFFFFF"/>
                </a:solidFill>
                <a:latin typeface="Barlow Condensed"/>
              </a:rPr>
              <a:t>Nuestros valores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1349126"/>
            <a:ext cx="5257800" cy="400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800"/>
              </a:lnSpc>
            </a:pPr>
            <a:r>
              <a:rPr sz="1125" b="0" i="0">
                <a:solidFill>
                  <a:srgbClr val="FFFFFF"/>
                </a:solidFill>
                <a:latin typeface="Barlow"/>
              </a:rPr>
              <a:t>En Constructora Vidalsa27, C.A. construimos con propósito. Estos son los principios que guían nuestra conducta y nuestro compromiso social: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2152650"/>
            <a:ext cx="201066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087" b="1" i="0">
                <a:solidFill>
                  <a:srgbClr val="FFFFFF"/>
                </a:solidFill>
                <a:latin typeface="Barlow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1416" y="2095500"/>
            <a:ext cx="1070371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58"/>
              </a:lnSpc>
            </a:pPr>
            <a:r>
              <a:rPr sz="1125" b="1" i="0" spc="225">
                <a:solidFill>
                  <a:srgbClr val="FFFFFF"/>
                </a:solidFill>
                <a:latin typeface="Barlow"/>
              </a:rPr>
              <a:t>SEGURIDAD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1416" y="2337792"/>
            <a:ext cx="4633763" cy="3751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79"/>
              </a:lnSpc>
            </a:pPr>
            <a:r>
              <a:rPr sz="1050" b="0" i="0">
                <a:solidFill>
                  <a:srgbClr val="FFFFFF"/>
                </a:solidFill>
                <a:latin typeface="Barlow"/>
              </a:rPr>
              <a:t>Cuidamos a nuestra gente y a nuestros clientes. La protección en cada frente de trabajo no es negociable.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5" y="3059608"/>
            <a:ext cx="230832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087" b="1" i="0">
                <a:solidFill>
                  <a:srgbClr val="FFFFFF"/>
                </a:solidFill>
                <a:latin typeface="Barlow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1182" y="3002458"/>
            <a:ext cx="1139428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58"/>
              </a:lnSpc>
            </a:pPr>
            <a:r>
              <a:rPr sz="1125" b="1" i="0" spc="225">
                <a:solidFill>
                  <a:srgbClr val="FFFFFF"/>
                </a:solidFill>
                <a:latin typeface="Barlow"/>
              </a:rPr>
              <a:t>INTEGRIDAD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1182" y="3244750"/>
            <a:ext cx="4647455" cy="3751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79"/>
              </a:lnSpc>
            </a:pPr>
            <a:r>
              <a:rPr sz="1050" b="0" i="0">
                <a:solidFill>
                  <a:srgbClr val="FFFFFF"/>
                </a:solidFill>
                <a:latin typeface="Barlow"/>
              </a:rPr>
              <a:t>Ética y honestidad de principio a fin. Cultivamos relaciones sólidas basadas en la confianza.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275" y="3966567"/>
            <a:ext cx="228004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087" b="1" i="0">
                <a:solidFill>
                  <a:srgbClr val="FFFFFF"/>
                </a:solidFill>
                <a:latin typeface="Barlow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8354" y="3909417"/>
            <a:ext cx="108585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58"/>
              </a:lnSpc>
            </a:pPr>
            <a:r>
              <a:rPr sz="1125" b="1" i="0" spc="225">
                <a:solidFill>
                  <a:srgbClr val="FFFFFF"/>
                </a:solidFill>
                <a:latin typeface="Barlow"/>
              </a:rPr>
              <a:t>EFICIENCIA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8354" y="4151709"/>
            <a:ext cx="4245768" cy="3751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79"/>
              </a:lnSpc>
            </a:pPr>
            <a:r>
              <a:rPr sz="1050" b="0" i="0">
                <a:solidFill>
                  <a:srgbClr val="FFFFFF"/>
                </a:solidFill>
                <a:latin typeface="Barlow"/>
              </a:rPr>
              <a:t>Respetamos tu tiempo y tu inversión. Optimizamos recursos para cumplir compromisos sin margen de demora.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275" y="4873525"/>
            <a:ext cx="235446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087" b="1" i="0">
                <a:solidFill>
                  <a:srgbClr val="FFFFFF"/>
                </a:solidFill>
                <a:latin typeface="Barlow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5796" y="4816375"/>
            <a:ext cx="114806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58"/>
              </a:lnSpc>
            </a:pPr>
            <a:r>
              <a:rPr sz="1125" b="1" i="0" spc="225">
                <a:solidFill>
                  <a:srgbClr val="FFFFFF"/>
                </a:solidFill>
                <a:latin typeface="Barlow"/>
              </a:rPr>
              <a:t>INNOVACIÓN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5796" y="5058667"/>
            <a:ext cx="3884562" cy="3751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79"/>
              </a:lnSpc>
            </a:pPr>
            <a:r>
              <a:rPr sz="1050" b="0" i="0">
                <a:solidFill>
                  <a:srgbClr val="FFFFFF"/>
                </a:solidFill>
                <a:latin typeface="Barlow"/>
              </a:rPr>
              <a:t>Evolución constante. Buscamos estar siempre un paso adelante en metodologías y visión de negocio.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275" y="5780484"/>
            <a:ext cx="227855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087" b="1" i="0">
                <a:solidFill>
                  <a:srgbClr val="FFFFFF"/>
                </a:solidFill>
                <a:latin typeface="Barlow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8205" y="5723334"/>
            <a:ext cx="2277516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58"/>
              </a:lnSpc>
            </a:pPr>
            <a:r>
              <a:rPr sz="1125" b="1" i="0" spc="225">
                <a:solidFill>
                  <a:srgbClr val="FFFFFF"/>
                </a:solidFill>
                <a:latin typeface="Barlow"/>
              </a:rPr>
              <a:t>COMPROMISO AMBIENTAL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8205" y="5965626"/>
            <a:ext cx="4562921" cy="588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79"/>
              </a:lnSpc>
            </a:pPr>
            <a:r>
              <a:rPr sz="1050" b="0" i="0">
                <a:solidFill>
                  <a:srgbClr val="FFFFFF"/>
                </a:solidFill>
                <a:latin typeface="Barlow"/>
              </a:rPr>
              <a:t>Construimos el futuro sin comprometer el presente, diseñando procesos respetuosos con el entorno, salvaguardando el ambiente para las generaciones futuras.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ficina_caracas" descr="foto_05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945" y="0"/>
            <a:ext cx="6958905" cy="1714500"/>
          </a:xfrm>
          <a:prstGeom prst="rect">
            <a:avLst/>
          </a:prstGeom>
        </p:spPr>
      </p:pic>
      <p:pic>
        <p:nvPicPr>
          <p:cNvPr id="4" name="oficina_lecheria" descr="foto_05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2945" y="1714500"/>
            <a:ext cx="6958905" cy="1714500"/>
          </a:xfrm>
          <a:prstGeom prst="rect">
            <a:avLst/>
          </a:prstGeom>
        </p:spPr>
      </p:pic>
      <p:pic>
        <p:nvPicPr>
          <p:cNvPr id="5" name="oficina_eltigre" descr="foto_05_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2945" y="3429000"/>
            <a:ext cx="6958905" cy="1714500"/>
          </a:xfrm>
          <a:prstGeom prst="rect">
            <a:avLst/>
          </a:prstGeom>
        </p:spPr>
      </p:pic>
      <p:pic>
        <p:nvPicPr>
          <p:cNvPr id="6" name="oficina_maturin" descr="foto_05_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2945" y="5143500"/>
            <a:ext cx="6958905" cy="1714500"/>
          </a:xfrm>
          <a:prstGeom prst="rect">
            <a:avLst/>
          </a:prstGeom>
        </p:spPr>
      </p:pic>
      <p:sp>
        <p:nvSpPr>
          <p:cNvPr id="7" name="chip"/>
          <p:cNvSpPr/>
          <p:nvPr/>
        </p:nvSpPr>
        <p:spPr>
          <a:xfrm>
            <a:off x="5047643" y="0"/>
            <a:ext cx="1327867" cy="257175"/>
          </a:xfrm>
          <a:custGeom>
            <a:avLst/>
            <a:gdLst/>
            <a:ahLst/>
            <a:cxnLst/>
            <a:rect l="l" t="t" r="r" b="b"/>
            <a:pathLst>
              <a:path w="1327867" h="257175">
                <a:moveTo>
                  <a:pt x="103534" y="0"/>
                </a:moveTo>
                <a:lnTo>
                  <a:pt x="1327867" y="0"/>
                </a:lnTo>
                <a:lnTo>
                  <a:pt x="1224333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5F698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ip"/>
          <p:cNvSpPr/>
          <p:nvPr/>
        </p:nvSpPr>
        <p:spPr>
          <a:xfrm>
            <a:off x="5047643" y="1714500"/>
            <a:ext cx="1381743" cy="257175"/>
          </a:xfrm>
          <a:custGeom>
            <a:avLst/>
            <a:gdLst/>
            <a:ahLst/>
            <a:cxnLst/>
            <a:rect l="l" t="t" r="r" b="b"/>
            <a:pathLst>
              <a:path w="1381743" h="257175">
                <a:moveTo>
                  <a:pt x="104017" y="0"/>
                </a:moveTo>
                <a:lnTo>
                  <a:pt x="1381743" y="0"/>
                </a:lnTo>
                <a:lnTo>
                  <a:pt x="1277726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5F698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ip"/>
          <p:cNvSpPr/>
          <p:nvPr/>
        </p:nvSpPr>
        <p:spPr>
          <a:xfrm>
            <a:off x="5047643" y="3429000"/>
            <a:ext cx="1329356" cy="257175"/>
          </a:xfrm>
          <a:custGeom>
            <a:avLst/>
            <a:gdLst/>
            <a:ahLst/>
            <a:cxnLst/>
            <a:rect l="l" t="t" r="r" b="b"/>
            <a:pathLst>
              <a:path w="1329356" h="257175">
                <a:moveTo>
                  <a:pt x="103650" y="0"/>
                </a:moveTo>
                <a:lnTo>
                  <a:pt x="1329356" y="0"/>
                </a:lnTo>
                <a:lnTo>
                  <a:pt x="1225706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5F698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ip"/>
          <p:cNvSpPr/>
          <p:nvPr/>
        </p:nvSpPr>
        <p:spPr>
          <a:xfrm>
            <a:off x="5047643" y="5143500"/>
            <a:ext cx="1300185" cy="257175"/>
          </a:xfrm>
          <a:custGeom>
            <a:avLst/>
            <a:gdLst/>
            <a:ahLst/>
            <a:cxnLst/>
            <a:rect l="l" t="t" r="r" b="b"/>
            <a:pathLst>
              <a:path w="1300185" h="257175">
                <a:moveTo>
                  <a:pt x="103597" y="0"/>
                </a:moveTo>
                <a:lnTo>
                  <a:pt x="1300185" y="0"/>
                </a:lnTo>
                <a:lnTo>
                  <a:pt x="1196588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5F698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"/>
          <p:cNvSpPr/>
          <p:nvPr/>
        </p:nvSpPr>
        <p:spPr>
          <a:xfrm>
            <a:off x="-477586" y="-548580"/>
            <a:ext cx="1345698" cy="7955160"/>
          </a:xfrm>
          <a:custGeom>
            <a:avLst/>
            <a:gdLst/>
            <a:ahLst/>
            <a:cxnLst/>
            <a:rect l="l" t="t" r="r" b="b"/>
            <a:pathLst>
              <a:path w="1345698" h="7955160">
                <a:moveTo>
                  <a:pt x="1259955" y="0"/>
                </a:moveTo>
                <a:lnTo>
                  <a:pt x="1345698" y="0"/>
                </a:lnTo>
                <a:lnTo>
                  <a:pt x="85743" y="7955160"/>
                </a:lnTo>
                <a:lnTo>
                  <a:pt x="0" y="795516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"/>
          <p:cNvSpPr/>
          <p:nvPr/>
        </p:nvSpPr>
        <p:spPr>
          <a:xfrm>
            <a:off x="-248986" y="-548580"/>
            <a:ext cx="1307598" cy="7955160"/>
          </a:xfrm>
          <a:custGeom>
            <a:avLst/>
            <a:gdLst/>
            <a:ahLst/>
            <a:cxnLst/>
            <a:rect l="l" t="t" r="r" b="b"/>
            <a:pathLst>
              <a:path w="1307598" h="7955160">
                <a:moveTo>
                  <a:pt x="1259963" y="0"/>
                </a:moveTo>
                <a:lnTo>
                  <a:pt x="1307598" y="0"/>
                </a:lnTo>
                <a:lnTo>
                  <a:pt x="47635" y="7955160"/>
                </a:lnTo>
                <a:lnTo>
                  <a:pt x="0" y="7955160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ayita"/>
          <p:cNvSpPr/>
          <p:nvPr/>
        </p:nvSpPr>
        <p:spPr>
          <a:xfrm>
            <a:off x="756227" y="621208"/>
            <a:ext cx="373495" cy="28575"/>
          </a:xfrm>
          <a:custGeom>
            <a:avLst/>
            <a:gdLst/>
            <a:ahLst/>
            <a:cxnLst/>
            <a:rect l="l" t="t" r="r" b="b"/>
            <a:pathLst>
              <a:path w="373495" h="28575">
                <a:moveTo>
                  <a:pt x="11545" y="0"/>
                </a:moveTo>
                <a:lnTo>
                  <a:pt x="373495" y="0"/>
                </a:lnTo>
                <a:lnTo>
                  <a:pt x="361950" y="28575"/>
                </a:lnTo>
                <a:lnTo>
                  <a:pt x="0" y="285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stado"/>
          <p:cNvSpPr/>
          <p:nvPr/>
        </p:nvSpPr>
        <p:spPr>
          <a:xfrm>
            <a:off x="1489026" y="1609278"/>
            <a:ext cx="1268458" cy="161925"/>
          </a:xfrm>
          <a:custGeom>
            <a:avLst/>
            <a:gdLst/>
            <a:ahLst/>
            <a:cxnLst/>
            <a:rect l="l" t="t" r="r" b="b"/>
            <a:pathLst>
              <a:path w="1268458" h="161925">
                <a:moveTo>
                  <a:pt x="46535" y="0"/>
                </a:moveTo>
                <a:lnTo>
                  <a:pt x="1268458" y="0"/>
                </a:lnTo>
                <a:lnTo>
                  <a:pt x="1221923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5F698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stado"/>
          <p:cNvSpPr/>
          <p:nvPr/>
        </p:nvSpPr>
        <p:spPr>
          <a:xfrm>
            <a:off x="1525936" y="2883544"/>
            <a:ext cx="1925088" cy="161925"/>
          </a:xfrm>
          <a:custGeom>
            <a:avLst/>
            <a:gdLst/>
            <a:ahLst/>
            <a:cxnLst/>
            <a:rect l="l" t="t" r="r" b="b"/>
            <a:pathLst>
              <a:path w="1925088" h="161925">
                <a:moveTo>
                  <a:pt x="46485" y="0"/>
                </a:moveTo>
                <a:lnTo>
                  <a:pt x="1925088" y="0"/>
                </a:lnTo>
                <a:lnTo>
                  <a:pt x="1878603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5F698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stado"/>
          <p:cNvSpPr/>
          <p:nvPr/>
        </p:nvSpPr>
        <p:spPr>
          <a:xfrm>
            <a:off x="1437830" y="4355901"/>
            <a:ext cx="1252831" cy="161925"/>
          </a:xfrm>
          <a:custGeom>
            <a:avLst/>
            <a:gdLst/>
            <a:ahLst/>
            <a:cxnLst/>
            <a:rect l="l" t="t" r="r" b="b"/>
            <a:pathLst>
              <a:path w="1252831" h="161925">
                <a:moveTo>
                  <a:pt x="46310" y="0"/>
                </a:moveTo>
                <a:lnTo>
                  <a:pt x="1252831" y="0"/>
                </a:lnTo>
                <a:lnTo>
                  <a:pt x="1206521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5F698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stado"/>
          <p:cNvSpPr/>
          <p:nvPr/>
        </p:nvSpPr>
        <p:spPr>
          <a:xfrm>
            <a:off x="1430239" y="5630167"/>
            <a:ext cx="1252831" cy="161925"/>
          </a:xfrm>
          <a:custGeom>
            <a:avLst/>
            <a:gdLst/>
            <a:ahLst/>
            <a:cxnLst/>
            <a:rect l="l" t="t" r="r" b="b"/>
            <a:pathLst>
              <a:path w="1252831" h="161925">
                <a:moveTo>
                  <a:pt x="46310" y="0"/>
                </a:moveTo>
                <a:lnTo>
                  <a:pt x="1252831" y="0"/>
                </a:lnTo>
                <a:lnTo>
                  <a:pt x="1206521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5F698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obre las fotos" descr="encima_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04395" y="66675"/>
            <a:ext cx="747712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CARACAS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4395" y="1781175"/>
            <a:ext cx="80158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LECHERÍA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4395" y="3495675"/>
            <a:ext cx="749200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EL TIGRE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4395" y="5210175"/>
            <a:ext cx="720030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MATURÍN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6350" y="554533"/>
            <a:ext cx="1640532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i="0" spc="336">
                <a:solidFill>
                  <a:srgbClr val="FFFFFF"/>
                </a:solidFill>
                <a:latin typeface="Barlow"/>
              </a:rPr>
              <a:t>DÓNDE ESTAMOS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792658"/>
            <a:ext cx="2420242" cy="447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974"/>
              </a:lnSpc>
            </a:pPr>
            <a:r>
              <a:rPr sz="2887" b="1" i="0">
                <a:solidFill>
                  <a:srgbClr val="FFFFFF"/>
                </a:solidFill>
                <a:latin typeface="Barlow Condensed"/>
              </a:rPr>
              <a:t>Nuestras oficinas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1551235"/>
            <a:ext cx="712142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89"/>
              </a:lnSpc>
            </a:pPr>
            <a:r>
              <a:rPr sz="1687" b="1" i="0">
                <a:solidFill>
                  <a:srgbClr val="FFFFFF"/>
                </a:solidFill>
                <a:latin typeface="Barlow Condensed"/>
              </a:rPr>
              <a:t>Caracas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7492" y="1628328"/>
            <a:ext cx="1107727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FFFFFF"/>
                </a:solidFill>
                <a:latin typeface="Barlow"/>
              </a:rPr>
              <a:t>Sede Corporativa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1905446"/>
            <a:ext cx="3794670" cy="3504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560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Calle París entre New York y Caroní, Edif. #177, Urb. Las Mercedes, Municipio Baruta, Edo. Miranda.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2825501"/>
            <a:ext cx="749051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89"/>
              </a:lnSpc>
            </a:pPr>
            <a:r>
              <a:rPr sz="1687" b="1" i="0">
                <a:solidFill>
                  <a:srgbClr val="FFFFFF"/>
                </a:solidFill>
                <a:latin typeface="Barlow Condensed"/>
              </a:rPr>
              <a:t>Lechería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4401" y="2902594"/>
            <a:ext cx="1764357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FFFFFF"/>
                </a:solidFill>
                <a:latin typeface="Barlow"/>
              </a:rPr>
              <a:t>Sede Administrativa Oriente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3179712"/>
            <a:ext cx="3794670" cy="5485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560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Avenida Intercomunal, entre el Banco Venezolano de Crédito y el Centro Médico Meditotal, planta baja del Spa Hotel, municipio Diego Bautista Urbaneja, estado Anzoátegui.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4297858"/>
            <a:ext cx="660945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89"/>
              </a:lnSpc>
            </a:pPr>
            <a:r>
              <a:rPr sz="1687" b="1" i="0">
                <a:solidFill>
                  <a:srgbClr val="FFFFFF"/>
                </a:solidFill>
                <a:latin typeface="Barlow Condensed"/>
              </a:rPr>
              <a:t>El Tigre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6295" y="4374951"/>
            <a:ext cx="1092100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FFFFFF"/>
                </a:solidFill>
                <a:latin typeface="Barlow"/>
              </a:rPr>
              <a:t>Centro Operativo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4652069"/>
            <a:ext cx="3794670" cy="3504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560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Patio de máquinas. Avenida La Bomba, adyacente a la Finca La Valentina, municipio Simón Rodríguez, estado Anzoátegui.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" y="5572125"/>
            <a:ext cx="653355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89"/>
              </a:lnSpc>
            </a:pPr>
            <a:r>
              <a:rPr sz="1687" b="1" i="0">
                <a:solidFill>
                  <a:srgbClr val="FFFFFF"/>
                </a:solidFill>
                <a:latin typeface="Barlow Condensed"/>
              </a:rPr>
              <a:t>Maturín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48705" y="5649217"/>
            <a:ext cx="1092100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FFFFFF"/>
                </a:solidFill>
                <a:latin typeface="Barlow"/>
              </a:rPr>
              <a:t>Centro Operativo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5926335"/>
            <a:ext cx="3794670" cy="3504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560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Patio de máquinas. Vía El Rincón de Monagas, adyacente a la Urb. Sabana Club, municipio Maturín, estado Monagas.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ayita"/>
          <p:cNvSpPr/>
          <p:nvPr/>
        </p:nvSpPr>
        <p:spPr>
          <a:xfrm>
            <a:off x="908627" y="504825"/>
            <a:ext cx="373495" cy="28575"/>
          </a:xfrm>
          <a:custGeom>
            <a:avLst/>
            <a:gdLst/>
            <a:ahLst/>
            <a:cxnLst/>
            <a:rect l="l" t="t" r="r" b="b"/>
            <a:pathLst>
              <a:path w="373495" h="28575">
                <a:moveTo>
                  <a:pt x="11545" y="0"/>
                </a:moveTo>
                <a:lnTo>
                  <a:pt x="373495" y="0"/>
                </a:lnTo>
                <a:lnTo>
                  <a:pt x="361950" y="28575"/>
                </a:lnTo>
                <a:lnTo>
                  <a:pt x="0" y="28575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servicio_1_zanja" descr="foto_06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91000"/>
            <a:ext cx="2621160" cy="2667000"/>
          </a:xfrm>
          <a:custGeom>
            <a:avLst/>
            <a:gdLst/>
            <a:ahLst/>
            <a:cxnLst/>
            <a:rect l="l" t="t" r="r" b="b"/>
            <a:pathLst>
              <a:path w="2621160" h="2667000">
                <a:moveTo>
                  <a:pt x="0" y="0"/>
                </a:moveTo>
                <a:lnTo>
                  <a:pt x="2621160" y="0"/>
                </a:lnTo>
                <a:lnTo>
                  <a:pt x="2227986" y="2667000"/>
                </a:lnTo>
                <a:lnTo>
                  <a:pt x="0" y="2667000"/>
                </a:lnTo>
                <a:close/>
              </a:path>
            </a:pathLst>
          </a:custGeom>
        </p:spPr>
      </p:pic>
      <p:pic>
        <p:nvPicPr>
          <p:cNvPr id="5" name="servicio_2_tendido" descr="foto_06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5639" y="4191000"/>
            <a:ext cx="2803921" cy="2667000"/>
          </a:xfrm>
          <a:custGeom>
            <a:avLst/>
            <a:gdLst/>
            <a:ahLst/>
            <a:cxnLst/>
            <a:rect l="l" t="t" r="r" b="b"/>
            <a:pathLst>
              <a:path w="2803921" h="2667000">
                <a:moveTo>
                  <a:pt x="420588" y="0"/>
                </a:moveTo>
                <a:lnTo>
                  <a:pt x="2803921" y="0"/>
                </a:lnTo>
                <a:lnTo>
                  <a:pt x="2383333" y="2667000"/>
                </a:lnTo>
                <a:lnTo>
                  <a:pt x="0" y="2667000"/>
                </a:lnTo>
                <a:close/>
              </a:path>
            </a:pathLst>
          </a:custGeom>
        </p:spPr>
      </p:pic>
      <p:pic>
        <p:nvPicPr>
          <p:cNvPr id="6" name="servicio_3_soldadura" descr="foto_06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039" y="4191000"/>
            <a:ext cx="2803921" cy="2667000"/>
          </a:xfrm>
          <a:custGeom>
            <a:avLst/>
            <a:gdLst/>
            <a:ahLst/>
            <a:cxnLst/>
            <a:rect l="l" t="t" r="r" b="b"/>
            <a:pathLst>
              <a:path w="2803921" h="2667000">
                <a:moveTo>
                  <a:pt x="420588" y="0"/>
                </a:moveTo>
                <a:lnTo>
                  <a:pt x="2803921" y="0"/>
                </a:lnTo>
                <a:lnTo>
                  <a:pt x="2383333" y="2667000"/>
                </a:lnTo>
                <a:lnTo>
                  <a:pt x="0" y="2667000"/>
                </a:lnTo>
                <a:close/>
              </a:path>
            </a:pathLst>
          </a:custGeom>
        </p:spPr>
      </p:pic>
      <p:pic>
        <p:nvPicPr>
          <p:cNvPr id="7" name="servicio_4_valvula" descr="foto_06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439" y="4191000"/>
            <a:ext cx="2803921" cy="2667000"/>
          </a:xfrm>
          <a:custGeom>
            <a:avLst/>
            <a:gdLst/>
            <a:ahLst/>
            <a:cxnLst/>
            <a:rect l="l" t="t" r="r" b="b"/>
            <a:pathLst>
              <a:path w="2803921" h="2667000">
                <a:moveTo>
                  <a:pt x="420588" y="0"/>
                </a:moveTo>
                <a:lnTo>
                  <a:pt x="2803921" y="0"/>
                </a:lnTo>
                <a:lnTo>
                  <a:pt x="2383333" y="2667000"/>
                </a:lnTo>
                <a:lnTo>
                  <a:pt x="0" y="2667000"/>
                </a:lnTo>
                <a:close/>
              </a:path>
            </a:pathLst>
          </a:custGeom>
        </p:spPr>
      </p:pic>
      <p:pic>
        <p:nvPicPr>
          <p:cNvPr id="8" name="servicio_5_maquinaria" descr="foto_06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0839" y="4191000"/>
            <a:ext cx="2621160" cy="2667000"/>
          </a:xfrm>
          <a:custGeom>
            <a:avLst/>
            <a:gdLst/>
            <a:ahLst/>
            <a:cxnLst/>
            <a:rect l="l" t="t" r="r" b="b"/>
            <a:pathLst>
              <a:path w="2621160" h="2667000">
                <a:moveTo>
                  <a:pt x="393174" y="0"/>
                </a:moveTo>
                <a:lnTo>
                  <a:pt x="2621160" y="0"/>
                </a:lnTo>
                <a:lnTo>
                  <a:pt x="2621160" y="2667000"/>
                </a:lnTo>
                <a:lnTo>
                  <a:pt x="0" y="2667000"/>
                </a:lnTo>
                <a:close/>
              </a:path>
            </a:pathLst>
          </a:custGeom>
        </p:spPr>
      </p:pic>
      <p:sp>
        <p:nvSpPr>
          <p:cNvPr id="9" name="i"/>
          <p:cNvSpPr/>
          <p:nvPr/>
        </p:nvSpPr>
        <p:spPr>
          <a:xfrm>
            <a:off x="-93468" y="1309985"/>
            <a:ext cx="577461" cy="3104703"/>
          </a:xfrm>
          <a:custGeom>
            <a:avLst/>
            <a:gdLst/>
            <a:ahLst/>
            <a:cxnLst/>
            <a:rect l="l" t="t" r="r" b="b"/>
            <a:pathLst>
              <a:path w="577461" h="3104703">
                <a:moveTo>
                  <a:pt x="491746" y="0"/>
                </a:moveTo>
                <a:lnTo>
                  <a:pt x="577461" y="0"/>
                </a:lnTo>
                <a:lnTo>
                  <a:pt x="85715" y="3104703"/>
                </a:lnTo>
                <a:lnTo>
                  <a:pt x="0" y="3104703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"/>
          <p:cNvSpPr/>
          <p:nvPr/>
        </p:nvSpPr>
        <p:spPr>
          <a:xfrm>
            <a:off x="135131" y="1309985"/>
            <a:ext cx="539361" cy="3104703"/>
          </a:xfrm>
          <a:custGeom>
            <a:avLst/>
            <a:gdLst/>
            <a:ahLst/>
            <a:cxnLst/>
            <a:rect l="l" t="t" r="r" b="b"/>
            <a:pathLst>
              <a:path w="539361" h="3104703">
                <a:moveTo>
                  <a:pt x="491742" y="0"/>
                </a:moveTo>
                <a:lnTo>
                  <a:pt x="539361" y="0"/>
                </a:lnTo>
                <a:lnTo>
                  <a:pt x="47619" y="3104703"/>
                </a:lnTo>
                <a:lnTo>
                  <a:pt x="0" y="3104703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ayita"/>
          <p:cNvSpPr/>
          <p:nvPr/>
        </p:nvSpPr>
        <p:spPr>
          <a:xfrm>
            <a:off x="762000" y="2596455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ayita"/>
          <p:cNvSpPr/>
          <p:nvPr/>
        </p:nvSpPr>
        <p:spPr>
          <a:xfrm>
            <a:off x="762000" y="3040260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ayita"/>
          <p:cNvSpPr/>
          <p:nvPr/>
        </p:nvSpPr>
        <p:spPr>
          <a:xfrm>
            <a:off x="762000" y="3290738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ayita"/>
          <p:cNvSpPr/>
          <p:nvPr/>
        </p:nvSpPr>
        <p:spPr>
          <a:xfrm>
            <a:off x="762000" y="3734544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ayita"/>
          <p:cNvSpPr/>
          <p:nvPr/>
        </p:nvSpPr>
        <p:spPr>
          <a:xfrm>
            <a:off x="762000" y="3985021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ayita"/>
          <p:cNvSpPr/>
          <p:nvPr/>
        </p:nvSpPr>
        <p:spPr>
          <a:xfrm>
            <a:off x="3500437" y="2596455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ayita"/>
          <p:cNvSpPr/>
          <p:nvPr/>
        </p:nvSpPr>
        <p:spPr>
          <a:xfrm>
            <a:off x="3500437" y="2846933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ayita"/>
          <p:cNvSpPr/>
          <p:nvPr/>
        </p:nvSpPr>
        <p:spPr>
          <a:xfrm>
            <a:off x="3500437" y="3097410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ayita"/>
          <p:cNvSpPr/>
          <p:nvPr/>
        </p:nvSpPr>
        <p:spPr>
          <a:xfrm>
            <a:off x="3500437" y="3347888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ayita"/>
          <p:cNvSpPr/>
          <p:nvPr/>
        </p:nvSpPr>
        <p:spPr>
          <a:xfrm>
            <a:off x="3500437" y="3598366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ayita"/>
          <p:cNvSpPr/>
          <p:nvPr/>
        </p:nvSpPr>
        <p:spPr>
          <a:xfrm>
            <a:off x="6238875" y="2596455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ayita"/>
          <p:cNvSpPr/>
          <p:nvPr/>
        </p:nvSpPr>
        <p:spPr>
          <a:xfrm>
            <a:off x="6238875" y="3040260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ayita"/>
          <p:cNvSpPr/>
          <p:nvPr/>
        </p:nvSpPr>
        <p:spPr>
          <a:xfrm>
            <a:off x="6238875" y="3290738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ayita"/>
          <p:cNvSpPr/>
          <p:nvPr/>
        </p:nvSpPr>
        <p:spPr>
          <a:xfrm>
            <a:off x="6238875" y="3541216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ayita"/>
          <p:cNvSpPr/>
          <p:nvPr/>
        </p:nvSpPr>
        <p:spPr>
          <a:xfrm>
            <a:off x="8977312" y="2596455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ayita"/>
          <p:cNvSpPr/>
          <p:nvPr/>
        </p:nvSpPr>
        <p:spPr>
          <a:xfrm>
            <a:off x="8977312" y="3040260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ayita"/>
          <p:cNvSpPr/>
          <p:nvPr/>
        </p:nvSpPr>
        <p:spPr>
          <a:xfrm>
            <a:off x="8977312" y="3290738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ayita"/>
          <p:cNvSpPr/>
          <p:nvPr/>
        </p:nvSpPr>
        <p:spPr>
          <a:xfrm>
            <a:off x="8977312" y="3541216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ayita"/>
          <p:cNvSpPr/>
          <p:nvPr/>
        </p:nvSpPr>
        <p:spPr>
          <a:xfrm>
            <a:off x="8977312" y="3791694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sobre las fotos" descr="encima_0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28750" y="438150"/>
            <a:ext cx="1400770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i="0" spc="336">
                <a:solidFill>
                  <a:srgbClr val="2A3C78"/>
                </a:solidFill>
                <a:latin typeface="Barlow"/>
              </a:rPr>
              <a:t>QUÉ HACEMOS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66750"/>
            <a:ext cx="3481238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4055"/>
              </a:lnSpc>
            </a:pPr>
            <a:r>
              <a:rPr sz="3937" b="1" i="0">
                <a:solidFill>
                  <a:srgbClr val="122149"/>
                </a:solidFill>
                <a:latin typeface="Barlow Condensed"/>
              </a:rPr>
              <a:t>Nuestros servicios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1619250"/>
            <a:ext cx="245864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FFFFFF"/>
                </a:solidFill>
                <a:latin typeface="Barlow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" y="1809750"/>
            <a:ext cx="1995636" cy="5067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5"/>
              </a:lnSpc>
            </a:pPr>
            <a:r>
              <a:rPr sz="1762" b="1" i="0">
                <a:solidFill>
                  <a:srgbClr val="FFFFFF"/>
                </a:solidFill>
                <a:latin typeface="Barlow Condensed"/>
              </a:rPr>
              <a:t>Construcción de Ductos Petroleros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550" y="2536924"/>
            <a:ext cx="2204144" cy="3647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Soldadura calificada para diámetros de 3/4″ a 42″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1550" y="2980729"/>
            <a:ext cx="1871513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Tubería enterrada y superficial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550" y="3231207"/>
            <a:ext cx="1873448" cy="3647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Revestimiento y protección de tuberías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550" y="3675012"/>
            <a:ext cx="2114698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Ingeniería, topografía y excavación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550" y="3925490"/>
            <a:ext cx="1839217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Prueba hidrostática y flushing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00437" y="1619250"/>
            <a:ext cx="27146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FFFFFF"/>
                </a:solidFill>
                <a:latin typeface="Barlow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00437" y="1809750"/>
            <a:ext cx="1980455" cy="5067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5"/>
              </a:lnSpc>
            </a:pPr>
            <a:r>
              <a:rPr sz="1762" b="1" i="0">
                <a:solidFill>
                  <a:srgbClr val="FFFFFF"/>
                </a:solidFill>
                <a:latin typeface="Barlow Condensed"/>
              </a:rPr>
              <a:t>Servicios de Alquiler de Equipos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9987" y="2536924"/>
            <a:ext cx="1680418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Maquinaria pesada y liviana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9987" y="2787401"/>
            <a:ext cx="2116484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Izamiento e instalación de equipos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09987" y="3037879"/>
            <a:ext cx="2116187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Chuto/batea y lowboy con escoltas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09987" y="3288357"/>
            <a:ext cx="1617166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Vacuum y brazo hidráulico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09987" y="3538835"/>
            <a:ext cx="2252811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Cortafuegos y estaciones de válvulas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8875" y="1619250"/>
            <a:ext cx="26908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FFFFFF"/>
                </a:solidFill>
                <a:latin typeface="Barlow"/>
              </a:rP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8875" y="1809750"/>
            <a:ext cx="2085677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5"/>
              </a:lnSpc>
            </a:pPr>
            <a:r>
              <a:rPr sz="1762" b="1" i="0">
                <a:solidFill>
                  <a:srgbClr val="FFFFFF"/>
                </a:solidFill>
                <a:latin typeface="Barlow Condensed"/>
              </a:rPr>
              <a:t>Ambiente y Saneamiento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8425" y="2536924"/>
            <a:ext cx="2167681" cy="3647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Saneamiento de áreas por afectaciones con derrame de crudo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8425" y="2980729"/>
            <a:ext cx="143887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Trasegado con vacuum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8425" y="3231207"/>
            <a:ext cx="2123777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Tratamiento y disposición de suelo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8425" y="3481685"/>
            <a:ext cx="2222152" cy="3647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Saneamiento de lagunas a través del dragado de sólidos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77312" y="1619250"/>
            <a:ext cx="27548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FFFFFF"/>
                </a:solidFill>
                <a:latin typeface="Barlow"/>
              </a:rPr>
              <a:t>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77312" y="1809750"/>
            <a:ext cx="1778793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5"/>
              </a:lnSpc>
            </a:pPr>
            <a:r>
              <a:rPr sz="1762" b="1" i="0">
                <a:solidFill>
                  <a:srgbClr val="FFFFFF"/>
                </a:solidFill>
                <a:latin typeface="Barlow Condensed"/>
              </a:rPr>
              <a:t>Suministro y Procura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86862" y="2536924"/>
            <a:ext cx="2045047" cy="3647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Válvulas bridadas de compuerta y globo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86862" y="2980729"/>
            <a:ext cx="1918692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Bridas, codos, te y reducciones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6862" y="3231207"/>
            <a:ext cx="1678781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Weldolets, niples y tapones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6862" y="3481685"/>
            <a:ext cx="1678334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Empacaduras y espárragos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6862" y="3732162"/>
            <a:ext cx="1536055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Mangas y revestimientos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ayita"/>
          <p:cNvSpPr/>
          <p:nvPr/>
        </p:nvSpPr>
        <p:spPr>
          <a:xfrm>
            <a:off x="762000" y="2728912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stado"/>
          <p:cNvSpPr/>
          <p:nvPr/>
        </p:nvSpPr>
        <p:spPr>
          <a:xfrm>
            <a:off x="2247752" y="2884140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ayita"/>
          <p:cNvSpPr/>
          <p:nvPr/>
        </p:nvSpPr>
        <p:spPr>
          <a:xfrm>
            <a:off x="762000" y="3227040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stado"/>
          <p:cNvSpPr/>
          <p:nvPr/>
        </p:nvSpPr>
        <p:spPr>
          <a:xfrm>
            <a:off x="2247752" y="3575595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yita"/>
          <p:cNvSpPr/>
          <p:nvPr/>
        </p:nvSpPr>
        <p:spPr>
          <a:xfrm>
            <a:off x="762000" y="3918495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stado"/>
          <p:cNvSpPr/>
          <p:nvPr/>
        </p:nvSpPr>
        <p:spPr>
          <a:xfrm>
            <a:off x="2326334" y="4267051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ayita"/>
          <p:cNvSpPr/>
          <p:nvPr/>
        </p:nvSpPr>
        <p:spPr>
          <a:xfrm>
            <a:off x="762000" y="4609951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stado"/>
          <p:cNvSpPr/>
          <p:nvPr/>
        </p:nvSpPr>
        <p:spPr>
          <a:xfrm>
            <a:off x="2247752" y="4765178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ayita"/>
          <p:cNvSpPr/>
          <p:nvPr/>
        </p:nvSpPr>
        <p:spPr>
          <a:xfrm>
            <a:off x="762000" y="5108078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stado"/>
          <p:cNvSpPr/>
          <p:nvPr/>
        </p:nvSpPr>
        <p:spPr>
          <a:xfrm>
            <a:off x="1916461" y="5263306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ayita"/>
          <p:cNvSpPr/>
          <p:nvPr/>
        </p:nvSpPr>
        <p:spPr>
          <a:xfrm>
            <a:off x="762000" y="5606206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stado"/>
          <p:cNvSpPr/>
          <p:nvPr/>
        </p:nvSpPr>
        <p:spPr>
          <a:xfrm>
            <a:off x="2247752" y="5954762"/>
            <a:ext cx="1106682" cy="161925"/>
          </a:xfrm>
          <a:custGeom>
            <a:avLst/>
            <a:gdLst/>
            <a:ahLst/>
            <a:cxnLst/>
            <a:rect l="l" t="t" r="r" b="b"/>
            <a:pathLst>
              <a:path w="1106682" h="161925">
                <a:moveTo>
                  <a:pt x="46556" y="0"/>
                </a:moveTo>
                <a:lnTo>
                  <a:pt x="1106682" y="0"/>
                </a:lnTo>
                <a:lnTo>
                  <a:pt x="10601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ayita"/>
          <p:cNvSpPr/>
          <p:nvPr/>
        </p:nvSpPr>
        <p:spPr>
          <a:xfrm>
            <a:off x="762000" y="6297662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stado"/>
          <p:cNvSpPr/>
          <p:nvPr/>
        </p:nvSpPr>
        <p:spPr>
          <a:xfrm>
            <a:off x="2917628" y="6452889"/>
            <a:ext cx="1106682" cy="161925"/>
          </a:xfrm>
          <a:custGeom>
            <a:avLst/>
            <a:gdLst/>
            <a:ahLst/>
            <a:cxnLst/>
            <a:rect l="l" t="t" r="r" b="b"/>
            <a:pathLst>
              <a:path w="1106682" h="161925">
                <a:moveTo>
                  <a:pt x="46556" y="0"/>
                </a:moveTo>
                <a:lnTo>
                  <a:pt x="1106682" y="0"/>
                </a:lnTo>
                <a:lnTo>
                  <a:pt x="10601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ayita"/>
          <p:cNvSpPr/>
          <p:nvPr/>
        </p:nvSpPr>
        <p:spPr>
          <a:xfrm>
            <a:off x="4470350" y="2728912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stado"/>
          <p:cNvSpPr/>
          <p:nvPr/>
        </p:nvSpPr>
        <p:spPr>
          <a:xfrm>
            <a:off x="6106270" y="2884140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ayita"/>
          <p:cNvSpPr/>
          <p:nvPr/>
        </p:nvSpPr>
        <p:spPr>
          <a:xfrm>
            <a:off x="4470350" y="3227040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stado"/>
          <p:cNvSpPr/>
          <p:nvPr/>
        </p:nvSpPr>
        <p:spPr>
          <a:xfrm>
            <a:off x="6106270" y="3382267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ayita"/>
          <p:cNvSpPr/>
          <p:nvPr/>
        </p:nvSpPr>
        <p:spPr>
          <a:xfrm>
            <a:off x="4470350" y="3725167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stado"/>
          <p:cNvSpPr/>
          <p:nvPr/>
        </p:nvSpPr>
        <p:spPr>
          <a:xfrm>
            <a:off x="6106270" y="3880395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ayita"/>
          <p:cNvSpPr/>
          <p:nvPr/>
        </p:nvSpPr>
        <p:spPr>
          <a:xfrm>
            <a:off x="4470350" y="4223295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stado"/>
          <p:cNvSpPr/>
          <p:nvPr/>
        </p:nvSpPr>
        <p:spPr>
          <a:xfrm>
            <a:off x="6106270" y="4378523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ayita"/>
          <p:cNvSpPr/>
          <p:nvPr/>
        </p:nvSpPr>
        <p:spPr>
          <a:xfrm>
            <a:off x="4470350" y="4721423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stado"/>
          <p:cNvSpPr/>
          <p:nvPr/>
        </p:nvSpPr>
        <p:spPr>
          <a:xfrm>
            <a:off x="6106270" y="4876651"/>
            <a:ext cx="1106683" cy="161925"/>
          </a:xfrm>
          <a:custGeom>
            <a:avLst/>
            <a:gdLst/>
            <a:ahLst/>
            <a:cxnLst/>
            <a:rect l="l" t="t" r="r" b="b"/>
            <a:pathLst>
              <a:path w="1106683" h="161925">
                <a:moveTo>
                  <a:pt x="46556" y="0"/>
                </a:moveTo>
                <a:lnTo>
                  <a:pt x="1106683" y="0"/>
                </a:lnTo>
                <a:lnTo>
                  <a:pt x="1060127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ayita"/>
          <p:cNvSpPr/>
          <p:nvPr/>
        </p:nvSpPr>
        <p:spPr>
          <a:xfrm>
            <a:off x="8178700" y="2728912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stado"/>
          <p:cNvSpPr/>
          <p:nvPr/>
        </p:nvSpPr>
        <p:spPr>
          <a:xfrm>
            <a:off x="9798844" y="2884140"/>
            <a:ext cx="929280" cy="161925"/>
          </a:xfrm>
          <a:custGeom>
            <a:avLst/>
            <a:gdLst/>
            <a:ahLst/>
            <a:cxnLst/>
            <a:rect l="l" t="t" r="r" b="b"/>
            <a:pathLst>
              <a:path w="929280" h="161925">
                <a:moveTo>
                  <a:pt x="46283" y="0"/>
                </a:moveTo>
                <a:lnTo>
                  <a:pt x="929280" y="0"/>
                </a:lnTo>
                <a:lnTo>
                  <a:pt x="882997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ayita"/>
          <p:cNvSpPr/>
          <p:nvPr/>
        </p:nvSpPr>
        <p:spPr>
          <a:xfrm>
            <a:off x="8178700" y="3227040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stado"/>
          <p:cNvSpPr/>
          <p:nvPr/>
        </p:nvSpPr>
        <p:spPr>
          <a:xfrm>
            <a:off x="9743034" y="3382267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ayita"/>
          <p:cNvSpPr/>
          <p:nvPr/>
        </p:nvSpPr>
        <p:spPr>
          <a:xfrm>
            <a:off x="8178700" y="3725167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stado"/>
          <p:cNvSpPr/>
          <p:nvPr/>
        </p:nvSpPr>
        <p:spPr>
          <a:xfrm>
            <a:off x="9814620" y="3880395"/>
            <a:ext cx="1106683" cy="161925"/>
          </a:xfrm>
          <a:custGeom>
            <a:avLst/>
            <a:gdLst/>
            <a:ahLst/>
            <a:cxnLst/>
            <a:rect l="l" t="t" r="r" b="b"/>
            <a:pathLst>
              <a:path w="1106683" h="161925">
                <a:moveTo>
                  <a:pt x="46556" y="0"/>
                </a:moveTo>
                <a:lnTo>
                  <a:pt x="1106683" y="0"/>
                </a:lnTo>
                <a:lnTo>
                  <a:pt x="1060127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ayita"/>
          <p:cNvSpPr/>
          <p:nvPr/>
        </p:nvSpPr>
        <p:spPr>
          <a:xfrm>
            <a:off x="8178700" y="4223295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stado"/>
          <p:cNvSpPr/>
          <p:nvPr/>
        </p:nvSpPr>
        <p:spPr>
          <a:xfrm>
            <a:off x="9814620" y="4378523"/>
            <a:ext cx="1106683" cy="161925"/>
          </a:xfrm>
          <a:custGeom>
            <a:avLst/>
            <a:gdLst/>
            <a:ahLst/>
            <a:cxnLst/>
            <a:rect l="l" t="t" r="r" b="b"/>
            <a:pathLst>
              <a:path w="1106683" h="161925">
                <a:moveTo>
                  <a:pt x="46556" y="0"/>
                </a:moveTo>
                <a:lnTo>
                  <a:pt x="1106683" y="0"/>
                </a:lnTo>
                <a:lnTo>
                  <a:pt x="1060127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ayita"/>
          <p:cNvSpPr/>
          <p:nvPr/>
        </p:nvSpPr>
        <p:spPr>
          <a:xfrm>
            <a:off x="8178700" y="4721423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stado"/>
          <p:cNvSpPr/>
          <p:nvPr/>
        </p:nvSpPr>
        <p:spPr>
          <a:xfrm>
            <a:off x="9814620" y="4876651"/>
            <a:ext cx="1106683" cy="161925"/>
          </a:xfrm>
          <a:custGeom>
            <a:avLst/>
            <a:gdLst/>
            <a:ahLst/>
            <a:cxnLst/>
            <a:rect l="l" t="t" r="r" b="b"/>
            <a:pathLst>
              <a:path w="1106683" h="161925">
                <a:moveTo>
                  <a:pt x="46556" y="0"/>
                </a:moveTo>
                <a:lnTo>
                  <a:pt x="1106683" y="0"/>
                </a:lnTo>
                <a:lnTo>
                  <a:pt x="1060127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ayita"/>
          <p:cNvSpPr/>
          <p:nvPr/>
        </p:nvSpPr>
        <p:spPr>
          <a:xfrm>
            <a:off x="8178700" y="5219551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stado"/>
          <p:cNvSpPr/>
          <p:nvPr/>
        </p:nvSpPr>
        <p:spPr>
          <a:xfrm>
            <a:off x="9814620" y="5374778"/>
            <a:ext cx="1106683" cy="161925"/>
          </a:xfrm>
          <a:custGeom>
            <a:avLst/>
            <a:gdLst/>
            <a:ahLst/>
            <a:cxnLst/>
            <a:rect l="l" t="t" r="r" b="b"/>
            <a:pathLst>
              <a:path w="1106683" h="161925">
                <a:moveTo>
                  <a:pt x="46556" y="0"/>
                </a:moveTo>
                <a:lnTo>
                  <a:pt x="1106683" y="0"/>
                </a:lnTo>
                <a:lnTo>
                  <a:pt x="1060127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ayita"/>
          <p:cNvSpPr/>
          <p:nvPr/>
        </p:nvSpPr>
        <p:spPr>
          <a:xfrm>
            <a:off x="8178700" y="5717678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stado"/>
          <p:cNvSpPr/>
          <p:nvPr/>
        </p:nvSpPr>
        <p:spPr>
          <a:xfrm>
            <a:off x="9814620" y="5872906"/>
            <a:ext cx="1106683" cy="161925"/>
          </a:xfrm>
          <a:custGeom>
            <a:avLst/>
            <a:gdLst/>
            <a:ahLst/>
            <a:cxnLst/>
            <a:rect l="l" t="t" r="r" b="b"/>
            <a:pathLst>
              <a:path w="1106683" h="161925">
                <a:moveTo>
                  <a:pt x="46556" y="0"/>
                </a:moveTo>
                <a:lnTo>
                  <a:pt x="1106683" y="0"/>
                </a:lnTo>
                <a:lnTo>
                  <a:pt x="1060127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ortafolio_oleoducto" descr="foto_07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809750"/>
          </a:xfrm>
          <a:prstGeom prst="rect">
            <a:avLst/>
          </a:prstGeom>
        </p:spPr>
      </p:pic>
      <p:sp>
        <p:nvSpPr>
          <p:cNvPr id="42" name="i"/>
          <p:cNvSpPr/>
          <p:nvPr/>
        </p:nvSpPr>
        <p:spPr>
          <a:xfrm>
            <a:off x="-13841" y="-144660"/>
            <a:ext cx="418208" cy="2099220"/>
          </a:xfrm>
          <a:custGeom>
            <a:avLst/>
            <a:gdLst/>
            <a:ahLst/>
            <a:cxnLst/>
            <a:rect l="l" t="t" r="r" b="b"/>
            <a:pathLst>
              <a:path w="418208" h="2099220">
                <a:moveTo>
                  <a:pt x="332362" y="0"/>
                </a:moveTo>
                <a:lnTo>
                  <a:pt x="418208" y="0"/>
                </a:lnTo>
                <a:lnTo>
                  <a:pt x="85846" y="2099220"/>
                </a:lnTo>
                <a:lnTo>
                  <a:pt x="0" y="209922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"/>
          <p:cNvSpPr/>
          <p:nvPr/>
        </p:nvSpPr>
        <p:spPr>
          <a:xfrm>
            <a:off x="214758" y="-144660"/>
            <a:ext cx="380108" cy="2099220"/>
          </a:xfrm>
          <a:custGeom>
            <a:avLst/>
            <a:gdLst/>
            <a:ahLst/>
            <a:cxnLst/>
            <a:rect l="l" t="t" r="r" b="b"/>
            <a:pathLst>
              <a:path w="380108" h="2099220">
                <a:moveTo>
                  <a:pt x="332409" y="0"/>
                </a:moveTo>
                <a:lnTo>
                  <a:pt x="380108" y="0"/>
                </a:lnTo>
                <a:lnTo>
                  <a:pt x="47699" y="2099220"/>
                </a:lnTo>
                <a:lnTo>
                  <a:pt x="0" y="2099220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sobre las fotos" descr="encima_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428750" y="656034"/>
            <a:ext cx="1253728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i="0" spc="336">
                <a:solidFill>
                  <a:srgbClr val="FFFFFF"/>
                </a:solidFill>
                <a:latin typeface="Barlow"/>
              </a:rPr>
              <a:t>PORTAFOLIO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884634"/>
            <a:ext cx="3750022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4210"/>
              </a:lnSpc>
            </a:pPr>
            <a:r>
              <a:rPr sz="4087" b="1" i="0">
                <a:solidFill>
                  <a:srgbClr val="FFFFFF"/>
                </a:solidFill>
                <a:latin typeface="Barlow Condensed"/>
              </a:rPr>
              <a:t>Nuestros proyectos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7225" y="971550"/>
            <a:ext cx="1330374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ACTUALIZADO 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3296" y="1123950"/>
            <a:ext cx="2044303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ts val="2025"/>
              </a:lnSpc>
            </a:pPr>
            <a:r>
              <a:rPr sz="1687" b="1" i="0">
                <a:solidFill>
                  <a:srgbClr val="FFFFFF"/>
                </a:solidFill>
                <a:latin typeface="Barlow Condensed"/>
              </a:rPr>
              <a:t>10 de septiembre de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2000" y="2219325"/>
            <a:ext cx="1853654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51"/>
              </a:lnSpc>
            </a:pPr>
            <a:r>
              <a:rPr sz="1312" b="1" i="0" spc="394">
                <a:solidFill>
                  <a:srgbClr val="122149"/>
                </a:solidFill>
                <a:latin typeface="Barlow"/>
              </a:rPr>
              <a:t>CONSTRUCCIÓN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04195" y="2143125"/>
            <a:ext cx="285154" cy="2952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12"/>
              </a:lnSpc>
            </a:pPr>
            <a:r>
              <a:rPr sz="1912" b="1" i="0">
                <a:solidFill>
                  <a:srgbClr val="7C8BBA"/>
                </a:solidFill>
                <a:latin typeface="Barlow Condensed"/>
              </a:rPr>
              <a:t>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1075" y="2652712"/>
            <a:ext cx="2688877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312" b="1" i="0">
                <a:solidFill>
                  <a:srgbClr val="122149"/>
                </a:solidFill>
                <a:latin typeface="Barlow Condensed"/>
              </a:rPr>
              <a:t>Oleoducto 30″ × 17 km — Planta PDD – COPEM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1075" y="2888902"/>
            <a:ext cx="1289893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0" i="0">
                <a:solidFill>
                  <a:srgbClr val="5F6980"/>
                </a:solidFill>
                <a:latin typeface="Barlow"/>
              </a:rPr>
              <a:t>Proyectos Mayores FPO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66218" y="290319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1075" y="3150840"/>
            <a:ext cx="2982962" cy="4028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312" b="1" i="0">
                <a:solidFill>
                  <a:srgbClr val="122149"/>
                </a:solidFill>
                <a:latin typeface="Barlow Condensed"/>
              </a:rPr>
              <a:t>Completación mecánica Oleoducto de 42″ — PTO–TAEJ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1075" y="3580358"/>
            <a:ext cx="1289893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0" i="0">
                <a:solidFill>
                  <a:srgbClr val="5F6980"/>
                </a:solidFill>
                <a:latin typeface="Barlow"/>
              </a:rPr>
              <a:t>Proyectos Mayores FPO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66218" y="3594645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1075" y="3842295"/>
            <a:ext cx="2775049" cy="4028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312" b="1" i="0">
                <a:solidFill>
                  <a:srgbClr val="122149"/>
                </a:solidFill>
                <a:latin typeface="Barlow Condensed"/>
              </a:rPr>
              <a:t>Oleoducto 30″ × 14 km — Planta FF–Trampa de envío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1075" y="4271813"/>
            <a:ext cx="1368474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0" i="0">
                <a:solidFill>
                  <a:srgbClr val="5F6980"/>
                </a:solidFill>
                <a:latin typeface="Barlow"/>
              </a:rPr>
              <a:t>PETROLERA SINOVENSA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44799" y="4286101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1075" y="4533751"/>
            <a:ext cx="2660153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312" b="1" i="0">
                <a:solidFill>
                  <a:srgbClr val="122149"/>
                </a:solidFill>
                <a:latin typeface="Barlow Condensed"/>
              </a:rPr>
              <a:t>Diluenducto 20″ × 11,20 km — Palmichal–PTO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1075" y="4769941"/>
            <a:ext cx="1289893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0" i="0">
                <a:solidFill>
                  <a:srgbClr val="5F6980"/>
                </a:solidFill>
                <a:latin typeface="Barlow"/>
              </a:rPr>
              <a:t>Proyectos Mayores FPO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66218" y="4784228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1075" y="5031878"/>
            <a:ext cx="208776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312" b="1" i="0">
                <a:solidFill>
                  <a:srgbClr val="122149"/>
                </a:solidFill>
                <a:latin typeface="Barlow Condensed"/>
              </a:rPr>
              <a:t>Macolla 15 — vialidad y plataforma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1075" y="5268069"/>
            <a:ext cx="95860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0" i="0">
                <a:solidFill>
                  <a:srgbClr val="5F6980"/>
                </a:solidFill>
                <a:latin typeface="Barlow"/>
              </a:rPr>
              <a:t>PETROMONAGAS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34926" y="5282356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1075" y="5530006"/>
            <a:ext cx="2861816" cy="4028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312" b="1" i="0">
                <a:solidFill>
                  <a:srgbClr val="122149"/>
                </a:solidFill>
                <a:latin typeface="Barlow Condensed"/>
              </a:rPr>
              <a:t>Tubería 12″ agua salada × 29,6 km — COPEM – El Salto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1075" y="5959524"/>
            <a:ext cx="1289893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0" i="0">
                <a:solidFill>
                  <a:srgbClr val="5F6980"/>
                </a:solidFill>
                <a:latin typeface="Barlow"/>
              </a:rPr>
              <a:t>Proyectos Mayores FPO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66218" y="5973812"/>
            <a:ext cx="94595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1075" y="6221462"/>
            <a:ext cx="2518618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312" b="1" i="0">
                <a:solidFill>
                  <a:srgbClr val="122149"/>
                </a:solidFill>
                <a:latin typeface="Barlow Condensed"/>
              </a:rPr>
              <a:t>Oleoducto 30″ Veladero · Tramo I (5,9 km)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1075" y="6457652"/>
            <a:ext cx="195976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0" i="0">
                <a:solidFill>
                  <a:srgbClr val="5F6980"/>
                </a:solidFill>
                <a:latin typeface="Barlow"/>
              </a:rPr>
              <a:t>Coordinación Operacional Faja (COF)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36093" y="6471939"/>
            <a:ext cx="94595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70350" y="2219325"/>
            <a:ext cx="1256258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51"/>
              </a:lnSpc>
            </a:pPr>
            <a:r>
              <a:rPr sz="1312" b="1" i="0" spc="394">
                <a:solidFill>
                  <a:srgbClr val="122149"/>
                </a:solidFill>
                <a:latin typeface="Barlow"/>
              </a:rPr>
              <a:t>AMBIENTE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04807" y="2143125"/>
            <a:ext cx="292893" cy="2952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12"/>
              </a:lnSpc>
            </a:pPr>
            <a:r>
              <a:rPr sz="1912" b="1" i="0">
                <a:solidFill>
                  <a:srgbClr val="7C8BBA"/>
                </a:solidFill>
                <a:latin typeface="Barlow Condensed"/>
              </a:rPr>
              <a:t>05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89425" y="2652712"/>
            <a:ext cx="2741711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312" b="1" i="0">
                <a:solidFill>
                  <a:srgbClr val="122149"/>
                </a:solidFill>
                <a:latin typeface="Barlow Condensed"/>
              </a:rPr>
              <a:t>COMOR — Saneamiento de suelo contaminado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89425" y="2888902"/>
            <a:ext cx="144006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0" i="0">
                <a:solidFill>
                  <a:srgbClr val="5F6980"/>
                </a:solidFill>
                <a:latin typeface="Barlow"/>
              </a:rPr>
              <a:t>Logística Operacional DAL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24736" y="290319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89425" y="3150840"/>
            <a:ext cx="2525464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312" b="1" i="0">
                <a:solidFill>
                  <a:srgbClr val="122149"/>
                </a:solidFill>
                <a:latin typeface="Barlow Condensed"/>
              </a:rPr>
              <a:t>Dragado SIAE COMOR — lagunas A, B, C y 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689425" y="3387030"/>
            <a:ext cx="144006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0" i="0">
                <a:solidFill>
                  <a:srgbClr val="5F6980"/>
                </a:solidFill>
                <a:latin typeface="Barlow"/>
              </a:rPr>
              <a:t>Logística Operacional DAL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24736" y="3401317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89425" y="3648967"/>
            <a:ext cx="2163216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312" b="1" i="0">
                <a:solidFill>
                  <a:srgbClr val="122149"/>
                </a:solidFill>
                <a:latin typeface="Barlow Condensed"/>
              </a:rPr>
              <a:t>Saneamiento Estación de Flujo O-16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89425" y="3885158"/>
            <a:ext cx="144006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0" i="0">
                <a:solidFill>
                  <a:srgbClr val="5F6980"/>
                </a:solidFill>
                <a:latin typeface="Barlow"/>
              </a:rPr>
              <a:t>Logística Operacional DAL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24736" y="3899445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89425" y="4147095"/>
            <a:ext cx="2311598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312" b="1" i="0">
                <a:solidFill>
                  <a:srgbClr val="122149"/>
                </a:solidFill>
                <a:latin typeface="Barlow Condensed"/>
              </a:rPr>
              <a:t>Saneamiento Laguna de Curataquiche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89425" y="4383285"/>
            <a:ext cx="144006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0" i="0">
                <a:solidFill>
                  <a:srgbClr val="5F6980"/>
                </a:solidFill>
                <a:latin typeface="Barlow"/>
              </a:rPr>
              <a:t>Logística Operacional DAL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24736" y="4397573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689425" y="4645223"/>
            <a:ext cx="2640359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312" b="1" i="0">
                <a:solidFill>
                  <a:srgbClr val="122149"/>
                </a:solidFill>
                <a:latin typeface="Barlow Condensed"/>
              </a:rPr>
              <a:t>Movilización y trasegado de crudo — COMOR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89425" y="4881413"/>
            <a:ext cx="144006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0" i="0">
                <a:solidFill>
                  <a:srgbClr val="5F6980"/>
                </a:solidFill>
                <a:latin typeface="Barlow"/>
              </a:rPr>
              <a:t>Logística Operacional DAL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24736" y="4895701"/>
            <a:ext cx="94595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78700" y="2219325"/>
            <a:ext cx="2777579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51"/>
              </a:lnSpc>
            </a:pPr>
            <a:r>
              <a:rPr sz="1312" b="1" i="0" spc="394">
                <a:solidFill>
                  <a:srgbClr val="122149"/>
                </a:solidFill>
                <a:latin typeface="Barlow"/>
              </a:rPr>
              <a:t>SERVICIOS Y ALQUILER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221045" y="2143125"/>
            <a:ext cx="285154" cy="2952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12"/>
              </a:lnSpc>
            </a:pPr>
            <a:r>
              <a:rPr sz="1912" b="1" i="0">
                <a:solidFill>
                  <a:srgbClr val="7C8BBA"/>
                </a:solidFill>
                <a:latin typeface="Barlow Condensed"/>
              </a:rPr>
              <a:t>07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397775" y="2652712"/>
            <a:ext cx="2694979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312" b="1" i="0">
                <a:solidFill>
                  <a:srgbClr val="122149"/>
                </a:solidFill>
                <a:latin typeface="Barlow Condensed"/>
              </a:rPr>
              <a:t>Mantenimiento de equipos de bombeo — FPO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397775" y="2888902"/>
            <a:ext cx="142428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0" i="0">
                <a:solidFill>
                  <a:srgbClr val="5F6980"/>
                </a:solidFill>
                <a:latin typeface="Barlow"/>
              </a:rPr>
              <a:t>Gestión de Materiales DAL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917310" y="290319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397775" y="3150840"/>
            <a:ext cx="2759273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312" b="1" i="0">
                <a:solidFill>
                  <a:srgbClr val="122149"/>
                </a:solidFill>
                <a:latin typeface="Barlow Condensed"/>
              </a:rPr>
              <a:t>Alquiler de maquinaria — SINOVENSA Morichal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397775" y="3387030"/>
            <a:ext cx="1368474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0" i="0">
                <a:solidFill>
                  <a:srgbClr val="5F6980"/>
                </a:solidFill>
                <a:latin typeface="Barlow"/>
              </a:rPr>
              <a:t>PETROLERA SINOVENSA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861500" y="3401317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397775" y="3648967"/>
            <a:ext cx="1997273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312" b="1" i="0">
                <a:solidFill>
                  <a:srgbClr val="122149"/>
                </a:solidFill>
                <a:latin typeface="Barlow Condensed"/>
              </a:rPr>
              <a:t>Estaciones de válvulas — FPO HC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97775" y="3885158"/>
            <a:ext cx="144006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0" i="0">
                <a:solidFill>
                  <a:srgbClr val="5F6980"/>
                </a:solidFill>
                <a:latin typeface="Barlow"/>
              </a:rPr>
              <a:t>Logística Operacional DAL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933086" y="3899445"/>
            <a:ext cx="94595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397775" y="4147095"/>
            <a:ext cx="1383059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312" b="1" i="0">
                <a:solidFill>
                  <a:srgbClr val="122149"/>
                </a:solidFill>
                <a:latin typeface="Barlow Condensed"/>
              </a:rPr>
              <a:t>Equipos transversales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397775" y="4383285"/>
            <a:ext cx="144006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0" i="0">
                <a:solidFill>
                  <a:srgbClr val="5F6980"/>
                </a:solidFill>
                <a:latin typeface="Barlow"/>
              </a:rPr>
              <a:t>Logística Operacional DAL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933086" y="4397573"/>
            <a:ext cx="94595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397775" y="4645223"/>
            <a:ext cx="1034504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312" b="1" i="0">
                <a:solidFill>
                  <a:srgbClr val="122149"/>
                </a:solidFill>
                <a:latin typeface="Barlow Condensed"/>
              </a:rPr>
              <a:t>Chuto con batea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397775" y="4881413"/>
            <a:ext cx="144006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0" i="0">
                <a:solidFill>
                  <a:srgbClr val="5F6980"/>
                </a:solidFill>
                <a:latin typeface="Barlow"/>
              </a:rPr>
              <a:t>Logística Operacional DAL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933086" y="4895701"/>
            <a:ext cx="94595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397775" y="5143351"/>
            <a:ext cx="235386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312" b="1" i="0">
                <a:solidFill>
                  <a:srgbClr val="122149"/>
                </a:solidFill>
                <a:latin typeface="Barlow Condensed"/>
              </a:rPr>
              <a:t>Cortafuegos en corredores de tuberías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397775" y="5379541"/>
            <a:ext cx="144006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0" i="0">
                <a:solidFill>
                  <a:srgbClr val="5F6980"/>
                </a:solidFill>
                <a:latin typeface="Barlow"/>
              </a:rPr>
              <a:t>Logística Operacional DAL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933086" y="5393828"/>
            <a:ext cx="94595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97775" y="5641478"/>
            <a:ext cx="282446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2"/>
              </a:lnSpc>
            </a:pPr>
            <a:r>
              <a:rPr sz="1312" b="1" i="0">
                <a:solidFill>
                  <a:srgbClr val="122149"/>
                </a:solidFill>
                <a:latin typeface="Barlow Condensed"/>
              </a:rPr>
              <a:t>Alquiler de equipos — XP Extrapesado Morichal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97775" y="5877669"/>
            <a:ext cx="144006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0" i="0">
                <a:solidFill>
                  <a:srgbClr val="5F6980"/>
                </a:solidFill>
                <a:latin typeface="Barlow"/>
              </a:rPr>
              <a:t>Logística Operacional DAL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933086" y="5891956"/>
            <a:ext cx="94595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estado"/>
          <p:cNvSpPr/>
          <p:nvPr/>
        </p:nvSpPr>
        <p:spPr>
          <a:xfrm>
            <a:off x="934046" y="2305050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ayita"/>
          <p:cNvSpPr/>
          <p:nvPr/>
        </p:nvSpPr>
        <p:spPr>
          <a:xfrm>
            <a:off x="419100" y="328255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ja-cliente"/>
          <p:cNvSpPr/>
          <p:nvPr/>
        </p:nvSpPr>
        <p:spPr>
          <a:xfrm>
            <a:off x="419100" y="5905500"/>
            <a:ext cx="5410200" cy="628650"/>
          </a:xfrm>
          <a:custGeom>
            <a:avLst/>
            <a:gdLst/>
            <a:ahLst/>
            <a:cxnLst/>
            <a:rect l="l" t="t" r="r" b="b"/>
            <a:pathLst>
              <a:path w="5410200" h="628650">
                <a:moveTo>
                  <a:pt x="0" y="0"/>
                </a:moveTo>
                <a:lnTo>
                  <a:pt x="5410200" y="0"/>
                </a:lnTo>
                <a:lnTo>
                  <a:pt x="541020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stado"/>
          <p:cNvSpPr/>
          <p:nvPr/>
        </p:nvSpPr>
        <p:spPr>
          <a:xfrm>
            <a:off x="7459416" y="2305050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yita"/>
          <p:cNvSpPr/>
          <p:nvPr/>
        </p:nvSpPr>
        <p:spPr>
          <a:xfrm>
            <a:off x="6362700" y="328255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ja-cliente"/>
          <p:cNvSpPr/>
          <p:nvPr/>
        </p:nvSpPr>
        <p:spPr>
          <a:xfrm>
            <a:off x="6362700" y="5905500"/>
            <a:ext cx="5410200" cy="628650"/>
          </a:xfrm>
          <a:custGeom>
            <a:avLst/>
            <a:gdLst/>
            <a:ahLst/>
            <a:cxnLst/>
            <a:rect l="l" t="t" r="r" b="b"/>
            <a:pathLst>
              <a:path w="5410200" h="628650">
                <a:moveTo>
                  <a:pt x="0" y="0"/>
                </a:moveTo>
                <a:lnTo>
                  <a:pt x="5410200" y="0"/>
                </a:lnTo>
                <a:lnTo>
                  <a:pt x="541020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oleo30x17_1" descr="foto_08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23850"/>
            <a:ext cx="5410200" cy="1828800"/>
          </a:xfrm>
          <a:custGeom>
            <a:avLst/>
            <a:gdLst/>
            <a:ahLst/>
            <a:cxnLst/>
            <a:rect l="l" t="t" r="r" b="b"/>
            <a:pathLst>
              <a:path w="5410200" h="1828800">
                <a:moveTo>
                  <a:pt x="0" y="0"/>
                </a:moveTo>
                <a:lnTo>
                  <a:pt x="5410200" y="0"/>
                </a:lnTo>
                <a:lnTo>
                  <a:pt x="5086350" y="1828800"/>
                </a:lnTo>
                <a:lnTo>
                  <a:pt x="0" y="1828800"/>
                </a:lnTo>
                <a:close/>
              </a:path>
            </a:pathLst>
          </a:custGeom>
        </p:spPr>
      </p:pic>
      <p:pic>
        <p:nvPicPr>
          <p:cNvPr id="10" name="oleo30x17_2" descr="foto_08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1" name="oleo30x17_3" descr="foto_08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2" name="oleo42_1" descr="foto_08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700" y="323850"/>
            <a:ext cx="5410200" cy="1828800"/>
          </a:xfrm>
          <a:custGeom>
            <a:avLst/>
            <a:gdLst/>
            <a:ahLst/>
            <a:cxnLst/>
            <a:rect l="l" t="t" r="r" b="b"/>
            <a:pathLst>
              <a:path w="5410200" h="1828800">
                <a:moveTo>
                  <a:pt x="0" y="0"/>
                </a:moveTo>
                <a:lnTo>
                  <a:pt x="5410200" y="0"/>
                </a:lnTo>
                <a:lnTo>
                  <a:pt x="5086350" y="1828800"/>
                </a:lnTo>
                <a:lnTo>
                  <a:pt x="0" y="1828800"/>
                </a:lnTo>
                <a:close/>
              </a:path>
            </a:pathLst>
          </a:custGeom>
        </p:spPr>
      </p:pic>
      <p:pic>
        <p:nvPicPr>
          <p:cNvPr id="13" name="oleo42_2" descr="foto_08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27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4" name="oleo42_3" descr="foto_08_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5" name="sobre las fotos" descr="encima_0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0550" y="390525"/>
            <a:ext cx="1193452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CONSTRUCCIÓN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100" y="2309812"/>
            <a:ext cx="46196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2512" y="232410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100" y="2609850"/>
            <a:ext cx="2332583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Oleoducto 30″ × 17 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100" y="3018383"/>
            <a:ext cx="1987153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Planta PDD – Rebombeo El Aceital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100" y="3444478"/>
            <a:ext cx="5486400" cy="561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Construcción de las obras civiles, mecánicas, eléctricas e instrumentación del Oleoducto de 30″ × 17 km, desde la Planta Desaladora Deshidratadora PDD hasta el rebombeo El Aceital, Morichal, estado Monagas. Además de la aplicación y puesta en funcionamiento del sistema de protección catódica.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" y="602932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6162675"/>
            <a:ext cx="2030908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Proyectos Mayores FPO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4150" y="390525"/>
            <a:ext cx="1193452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CONSTRUCCIÓN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2700" y="2309812"/>
            <a:ext cx="104373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2025 –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7881" y="232410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2700" y="2609850"/>
            <a:ext cx="1846808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Oleoducto de 42″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2700" y="3018383"/>
            <a:ext cx="2178843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PTO – TAEJ · Completación mecánica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2700" y="3444478"/>
            <a:ext cx="5486400" cy="561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Completación mecánica de la tubería de 42″ desde el Patio de Tanques Oficina (PTO) hasta el Terminal de Almacenamiento y Embarque Jose (TAEJ), así como la construcción de 07 tanquillas de concreto en válvulas de retención de 42″.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0" y="602932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2250" y="6162675"/>
            <a:ext cx="2030908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Proyectos Mayores FPO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estado"/>
          <p:cNvSpPr/>
          <p:nvPr/>
        </p:nvSpPr>
        <p:spPr>
          <a:xfrm>
            <a:off x="1515816" y="2305050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ayita"/>
          <p:cNvSpPr/>
          <p:nvPr/>
        </p:nvSpPr>
        <p:spPr>
          <a:xfrm>
            <a:off x="419100" y="328255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ja-cliente"/>
          <p:cNvSpPr/>
          <p:nvPr/>
        </p:nvSpPr>
        <p:spPr>
          <a:xfrm>
            <a:off x="419100" y="5905500"/>
            <a:ext cx="5410200" cy="628650"/>
          </a:xfrm>
          <a:custGeom>
            <a:avLst/>
            <a:gdLst/>
            <a:ahLst/>
            <a:cxnLst/>
            <a:rect l="l" t="t" r="r" b="b"/>
            <a:pathLst>
              <a:path w="5410200" h="628650">
                <a:moveTo>
                  <a:pt x="0" y="0"/>
                </a:moveTo>
                <a:lnTo>
                  <a:pt x="5410200" y="0"/>
                </a:lnTo>
                <a:lnTo>
                  <a:pt x="541020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stado"/>
          <p:cNvSpPr/>
          <p:nvPr/>
        </p:nvSpPr>
        <p:spPr>
          <a:xfrm>
            <a:off x="6877647" y="2305050"/>
            <a:ext cx="1106682" cy="161925"/>
          </a:xfrm>
          <a:custGeom>
            <a:avLst/>
            <a:gdLst/>
            <a:ahLst/>
            <a:cxnLst/>
            <a:rect l="l" t="t" r="r" b="b"/>
            <a:pathLst>
              <a:path w="1106682" h="161925">
                <a:moveTo>
                  <a:pt x="46556" y="0"/>
                </a:moveTo>
                <a:lnTo>
                  <a:pt x="1106682" y="0"/>
                </a:lnTo>
                <a:lnTo>
                  <a:pt x="10601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yita"/>
          <p:cNvSpPr/>
          <p:nvPr/>
        </p:nvSpPr>
        <p:spPr>
          <a:xfrm>
            <a:off x="6362700" y="328255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ja-cliente"/>
          <p:cNvSpPr/>
          <p:nvPr/>
        </p:nvSpPr>
        <p:spPr>
          <a:xfrm>
            <a:off x="6362700" y="5905500"/>
            <a:ext cx="5410200" cy="628650"/>
          </a:xfrm>
          <a:custGeom>
            <a:avLst/>
            <a:gdLst/>
            <a:ahLst/>
            <a:cxnLst/>
            <a:rect l="l" t="t" r="r" b="b"/>
            <a:pathLst>
              <a:path w="5410200" h="628650">
                <a:moveTo>
                  <a:pt x="0" y="0"/>
                </a:moveTo>
                <a:lnTo>
                  <a:pt x="5410200" y="0"/>
                </a:lnTo>
                <a:lnTo>
                  <a:pt x="541020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oleo30x14_1" descr="foto_09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23850"/>
            <a:ext cx="5410200" cy="1828800"/>
          </a:xfrm>
          <a:custGeom>
            <a:avLst/>
            <a:gdLst/>
            <a:ahLst/>
            <a:cxnLst/>
            <a:rect l="l" t="t" r="r" b="b"/>
            <a:pathLst>
              <a:path w="5410200" h="1828800">
                <a:moveTo>
                  <a:pt x="0" y="0"/>
                </a:moveTo>
                <a:lnTo>
                  <a:pt x="5410200" y="0"/>
                </a:lnTo>
                <a:lnTo>
                  <a:pt x="5086350" y="1828800"/>
                </a:lnTo>
                <a:lnTo>
                  <a:pt x="0" y="1828800"/>
                </a:lnTo>
                <a:close/>
              </a:path>
            </a:pathLst>
          </a:custGeom>
        </p:spPr>
      </p:pic>
      <p:pic>
        <p:nvPicPr>
          <p:cNvPr id="10" name="oleo30x14_2" descr="foto_09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1" name="oleo30x14_3" descr="foto_09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2" name="tub12_1" descr="foto_09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700" y="323850"/>
            <a:ext cx="5410200" cy="1828800"/>
          </a:xfrm>
          <a:custGeom>
            <a:avLst/>
            <a:gdLst/>
            <a:ahLst/>
            <a:cxnLst/>
            <a:rect l="l" t="t" r="r" b="b"/>
            <a:pathLst>
              <a:path w="5410200" h="1828800">
                <a:moveTo>
                  <a:pt x="0" y="0"/>
                </a:moveTo>
                <a:lnTo>
                  <a:pt x="5410200" y="0"/>
                </a:lnTo>
                <a:lnTo>
                  <a:pt x="5086350" y="1828800"/>
                </a:lnTo>
                <a:lnTo>
                  <a:pt x="0" y="1828800"/>
                </a:lnTo>
                <a:close/>
              </a:path>
            </a:pathLst>
          </a:custGeom>
        </p:spPr>
      </p:pic>
      <p:pic>
        <p:nvPicPr>
          <p:cNvPr id="13" name="tub12_2" descr="foto_09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27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4" name="tub12_3" descr="foto_09_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5" name="sobre las fotos" descr="encima_0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0550" y="390525"/>
            <a:ext cx="1193452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CONSTRUCCIÓN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100" y="2309812"/>
            <a:ext cx="104373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2025 –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34281" y="232410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100" y="2609850"/>
            <a:ext cx="2354609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Oleoducto 30″ × 14 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100" y="3018383"/>
            <a:ext cx="3105298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Planta FF – Trampa de envío · PETROLERA SINOVENSA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100" y="3444478"/>
            <a:ext cx="5486400" cy="561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Construcción del Oleoducto de 30″ × 14 km desde la Estación de Flujo (FF) hasta el Km 0, PETROLERA SINOVENSA, necesarios para incrementar la producción desde 105 MBPD hasta 330 MBPD de crudo extrapesado. Así como la instalación y puesta en marcha del sistema de protección catódica.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" y="602932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6162675"/>
            <a:ext cx="2027932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PETROLERA SINOVENSA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4150" y="390525"/>
            <a:ext cx="1193452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CONSTRUCCIÓN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2700" y="2309812"/>
            <a:ext cx="46196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6112" y="2324100"/>
            <a:ext cx="94595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2700" y="2609850"/>
            <a:ext cx="3810744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Tubería 12″ × 29,6 km — agua salada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2700" y="3018383"/>
            <a:ext cx="2012602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COPEM – Pozos inyectores El Salto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2700" y="3444478"/>
            <a:ext cx="5486400" cy="561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Construcción de 29,60 km de tubería de 12″ de inyección de agua salada desde COPEM PETROMONAGAS hasta los pozos inyectores El Salto. Así como la instalación y puesta en marcha del sistema de protección catódica de tuberías enterradas.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0" y="602932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2250" y="6162675"/>
            <a:ext cx="2030908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Proyectos Mayores FPO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estado"/>
          <p:cNvSpPr/>
          <p:nvPr/>
        </p:nvSpPr>
        <p:spPr>
          <a:xfrm>
            <a:off x="934046" y="2305050"/>
            <a:ext cx="1106682" cy="161925"/>
          </a:xfrm>
          <a:custGeom>
            <a:avLst/>
            <a:gdLst/>
            <a:ahLst/>
            <a:cxnLst/>
            <a:rect l="l" t="t" r="r" b="b"/>
            <a:pathLst>
              <a:path w="1106682" h="161925">
                <a:moveTo>
                  <a:pt x="46556" y="0"/>
                </a:moveTo>
                <a:lnTo>
                  <a:pt x="1106682" y="0"/>
                </a:lnTo>
                <a:lnTo>
                  <a:pt x="10601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ayita"/>
          <p:cNvSpPr/>
          <p:nvPr/>
        </p:nvSpPr>
        <p:spPr>
          <a:xfrm>
            <a:off x="419100" y="328255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ja-cliente"/>
          <p:cNvSpPr/>
          <p:nvPr/>
        </p:nvSpPr>
        <p:spPr>
          <a:xfrm>
            <a:off x="419100" y="5905500"/>
            <a:ext cx="5410200" cy="628650"/>
          </a:xfrm>
          <a:custGeom>
            <a:avLst/>
            <a:gdLst/>
            <a:ahLst/>
            <a:cxnLst/>
            <a:rect l="l" t="t" r="r" b="b"/>
            <a:pathLst>
              <a:path w="5410200" h="628650">
                <a:moveTo>
                  <a:pt x="0" y="0"/>
                </a:moveTo>
                <a:lnTo>
                  <a:pt x="5410200" y="0"/>
                </a:lnTo>
                <a:lnTo>
                  <a:pt x="541020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stado"/>
          <p:cNvSpPr/>
          <p:nvPr/>
        </p:nvSpPr>
        <p:spPr>
          <a:xfrm>
            <a:off x="6876456" y="2305050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yita"/>
          <p:cNvSpPr/>
          <p:nvPr/>
        </p:nvSpPr>
        <p:spPr>
          <a:xfrm>
            <a:off x="6362700" y="328255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ja-cliente"/>
          <p:cNvSpPr/>
          <p:nvPr/>
        </p:nvSpPr>
        <p:spPr>
          <a:xfrm>
            <a:off x="6362700" y="5905500"/>
            <a:ext cx="5410200" cy="628650"/>
          </a:xfrm>
          <a:custGeom>
            <a:avLst/>
            <a:gdLst/>
            <a:ahLst/>
            <a:cxnLst/>
            <a:rect l="l" t="t" r="r" b="b"/>
            <a:pathLst>
              <a:path w="5410200" h="628650">
                <a:moveTo>
                  <a:pt x="0" y="0"/>
                </a:moveTo>
                <a:lnTo>
                  <a:pt x="5410200" y="0"/>
                </a:lnTo>
                <a:lnTo>
                  <a:pt x="541020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veladero_1" descr="foto_10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23850"/>
            <a:ext cx="5410200" cy="1828800"/>
          </a:xfrm>
          <a:custGeom>
            <a:avLst/>
            <a:gdLst/>
            <a:ahLst/>
            <a:cxnLst/>
            <a:rect l="l" t="t" r="r" b="b"/>
            <a:pathLst>
              <a:path w="5410200" h="1828800">
                <a:moveTo>
                  <a:pt x="0" y="0"/>
                </a:moveTo>
                <a:lnTo>
                  <a:pt x="5410200" y="0"/>
                </a:lnTo>
                <a:lnTo>
                  <a:pt x="5086350" y="1828800"/>
                </a:lnTo>
                <a:lnTo>
                  <a:pt x="0" y="1828800"/>
                </a:lnTo>
                <a:close/>
              </a:path>
            </a:pathLst>
          </a:custGeom>
        </p:spPr>
      </p:pic>
      <p:pic>
        <p:nvPicPr>
          <p:cNvPr id="10" name="veladero_2" descr="foto_10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1" name="veladero_3" descr="foto_10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2" name="diluen20_1" descr="foto_10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700" y="323850"/>
            <a:ext cx="5410200" cy="1828800"/>
          </a:xfrm>
          <a:custGeom>
            <a:avLst/>
            <a:gdLst/>
            <a:ahLst/>
            <a:cxnLst/>
            <a:rect l="l" t="t" r="r" b="b"/>
            <a:pathLst>
              <a:path w="5410200" h="1828800">
                <a:moveTo>
                  <a:pt x="0" y="0"/>
                </a:moveTo>
                <a:lnTo>
                  <a:pt x="5410200" y="0"/>
                </a:lnTo>
                <a:lnTo>
                  <a:pt x="5086350" y="1828800"/>
                </a:lnTo>
                <a:lnTo>
                  <a:pt x="0" y="1828800"/>
                </a:lnTo>
                <a:close/>
              </a:path>
            </a:pathLst>
          </a:custGeom>
        </p:spPr>
      </p:pic>
      <p:pic>
        <p:nvPicPr>
          <p:cNvPr id="13" name="diluen20_2" descr="foto_10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27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4" name="diluen20_3" descr="foto_10_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5" name="sobre las fotos" descr="encima_1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0550" y="390525"/>
            <a:ext cx="1193452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CONSTRUCCIÓN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100" y="2309812"/>
            <a:ext cx="46196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2512" y="2324100"/>
            <a:ext cx="94595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100" y="2609850"/>
            <a:ext cx="2574577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Oleoducto 30″ × 5,90 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100" y="3018383"/>
            <a:ext cx="2255192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Tramo I del Oleoducto de 30″ Veladero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100" y="3444478"/>
            <a:ext cx="5486400" cy="766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Reemplazo del Tramo I del Oleoducto de 30″ × 5,9 km, a fin de garantizar la confiabilidad y continuidad operacional, así como la integridad mecánica del oleoducto de 30″, en el cumplimiento del transporte de Diluente Mesa 30 para la División Carabobo, Distrito Morichal y empresas mixtas, y la formulación de la segregación Merey 16.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" y="602932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6162675"/>
            <a:ext cx="3147119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Coordinación Operacional Faja (COF)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4150" y="390525"/>
            <a:ext cx="1193452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CONSTRUCCIÓN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2700" y="2309812"/>
            <a:ext cx="46077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4921" y="232410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2700" y="2609850"/>
            <a:ext cx="2803177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Diluenducto 20″ × 11,20 km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2700" y="3018383"/>
            <a:ext cx="3409801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Palmichal – Patio de Tanques Oficina · El Tigre, Anzoátegui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2700" y="3444478"/>
            <a:ext cx="5486400" cy="766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Reemplazo de 10,5 km del Diluenducto de 20″ Palmichal – PTO, con perforación direccional bajo suelo en la Troncal 9 de la autopista Gran Mariscal de Ayacucho, con el propósito de restablecer la integridad del sistema de transporte e incrementar la presión de bombeo hasta 840 psi, permitiendo el manejo de nafta con un caudal promedio de 180 MBD de diluente.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0" y="602932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2250" y="6162675"/>
            <a:ext cx="2030908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Proyectos Mayores FPO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estado"/>
          <p:cNvSpPr/>
          <p:nvPr/>
        </p:nvSpPr>
        <p:spPr>
          <a:xfrm>
            <a:off x="1522513" y="2305050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ayita"/>
          <p:cNvSpPr/>
          <p:nvPr/>
        </p:nvSpPr>
        <p:spPr>
          <a:xfrm>
            <a:off x="419100" y="328255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ja-cliente"/>
          <p:cNvSpPr/>
          <p:nvPr/>
        </p:nvSpPr>
        <p:spPr>
          <a:xfrm>
            <a:off x="419100" y="5905500"/>
            <a:ext cx="5410200" cy="628650"/>
          </a:xfrm>
          <a:custGeom>
            <a:avLst/>
            <a:gdLst/>
            <a:ahLst/>
            <a:cxnLst/>
            <a:rect l="l" t="t" r="r" b="b"/>
            <a:pathLst>
              <a:path w="5410200" h="628650">
                <a:moveTo>
                  <a:pt x="0" y="0"/>
                </a:moveTo>
                <a:lnTo>
                  <a:pt x="5410200" y="0"/>
                </a:lnTo>
                <a:lnTo>
                  <a:pt x="541020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stado"/>
          <p:cNvSpPr/>
          <p:nvPr/>
        </p:nvSpPr>
        <p:spPr>
          <a:xfrm>
            <a:off x="7459416" y="2305050"/>
            <a:ext cx="1106682" cy="161925"/>
          </a:xfrm>
          <a:custGeom>
            <a:avLst/>
            <a:gdLst/>
            <a:ahLst/>
            <a:cxnLst/>
            <a:rect l="l" t="t" r="r" b="b"/>
            <a:pathLst>
              <a:path w="1106682" h="161925">
                <a:moveTo>
                  <a:pt x="46556" y="0"/>
                </a:moveTo>
                <a:lnTo>
                  <a:pt x="1106682" y="0"/>
                </a:lnTo>
                <a:lnTo>
                  <a:pt x="10601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yita"/>
          <p:cNvSpPr/>
          <p:nvPr/>
        </p:nvSpPr>
        <p:spPr>
          <a:xfrm>
            <a:off x="6362700" y="328255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ja-cliente"/>
          <p:cNvSpPr/>
          <p:nvPr/>
        </p:nvSpPr>
        <p:spPr>
          <a:xfrm>
            <a:off x="6362700" y="5905500"/>
            <a:ext cx="5410200" cy="628650"/>
          </a:xfrm>
          <a:custGeom>
            <a:avLst/>
            <a:gdLst/>
            <a:ahLst/>
            <a:cxnLst/>
            <a:rect l="l" t="t" r="r" b="b"/>
            <a:pathLst>
              <a:path w="5410200" h="628650">
                <a:moveTo>
                  <a:pt x="0" y="0"/>
                </a:moveTo>
                <a:lnTo>
                  <a:pt x="5410200" y="0"/>
                </a:lnTo>
                <a:lnTo>
                  <a:pt x="541020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macolla15_1" descr="foto_11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23850"/>
            <a:ext cx="5410200" cy="1828800"/>
          </a:xfrm>
          <a:custGeom>
            <a:avLst/>
            <a:gdLst/>
            <a:ahLst/>
            <a:cxnLst/>
            <a:rect l="l" t="t" r="r" b="b"/>
            <a:pathLst>
              <a:path w="5410200" h="1828800">
                <a:moveTo>
                  <a:pt x="0" y="0"/>
                </a:moveTo>
                <a:lnTo>
                  <a:pt x="5410200" y="0"/>
                </a:lnTo>
                <a:lnTo>
                  <a:pt x="5086350" y="1828800"/>
                </a:lnTo>
                <a:lnTo>
                  <a:pt x="0" y="1828800"/>
                </a:lnTo>
                <a:close/>
              </a:path>
            </a:pathLst>
          </a:custGeom>
        </p:spPr>
      </p:pic>
      <p:pic>
        <p:nvPicPr>
          <p:cNvPr id="10" name="macolla15_2" descr="foto_11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1" name="macolla15_3" descr="foto_11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2" name="valvulas_1" descr="foto_11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700" y="323850"/>
            <a:ext cx="5410200" cy="1828800"/>
          </a:xfrm>
          <a:custGeom>
            <a:avLst/>
            <a:gdLst/>
            <a:ahLst/>
            <a:cxnLst/>
            <a:rect l="l" t="t" r="r" b="b"/>
            <a:pathLst>
              <a:path w="5410200" h="1828800">
                <a:moveTo>
                  <a:pt x="0" y="0"/>
                </a:moveTo>
                <a:lnTo>
                  <a:pt x="5410200" y="0"/>
                </a:lnTo>
                <a:lnTo>
                  <a:pt x="5086350" y="1828800"/>
                </a:lnTo>
                <a:lnTo>
                  <a:pt x="0" y="1828800"/>
                </a:lnTo>
                <a:close/>
              </a:path>
            </a:pathLst>
          </a:custGeom>
        </p:spPr>
      </p:pic>
      <p:pic>
        <p:nvPicPr>
          <p:cNvPr id="13" name="valvulas_2" descr="foto_11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27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4" name="valvulas_3" descr="foto_11_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5" name="sobre las fotos" descr="encima_1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0550" y="390525"/>
            <a:ext cx="1193452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CONSTRUCCIÓN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100" y="2309812"/>
            <a:ext cx="105042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2024 –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0978" y="232410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100" y="2609850"/>
            <a:ext cx="3608933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Macolla 15 — vialidad y plataforma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100" y="3018383"/>
            <a:ext cx="2472928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Centro Operativo PETROMONAGAS (COPEM)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100" y="3444478"/>
            <a:ext cx="5486400" cy="561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Construcción de la vialidad de acceso y plataforma de perforación para la Macolla 15 del Centro Operativo PETROMONAGAS, involucrando movimientos de tierra, conformación de taludes, construcción de 39 cellars y canales de drenaje perimetrales con pases reforzados.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" y="602932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6162675"/>
            <a:ext cx="1399728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PETROMONAGAS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4150" y="390525"/>
            <a:ext cx="1774180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SERVICIOS Y ALQUILER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2700" y="2309812"/>
            <a:ext cx="104373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2025 –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7881" y="2324100"/>
            <a:ext cx="94595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2700" y="2609850"/>
            <a:ext cx="3441203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Estaciones de válvulas — FPO HC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2700" y="3018383"/>
            <a:ext cx="3951684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Corredores de tuberías principales de la Faja Petrolífera del Orinoco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2700" y="3444478"/>
            <a:ext cx="5486400" cy="3571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Limpieza y mantenimiento de estaciones de válvulas en corredores de tuberías, cortafuegos perimetrales, señalización de áreas y pintura de puentes y estructuras metálicas.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0" y="602932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2250" y="6162675"/>
            <a:ext cx="2266205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Logística Operacional DAL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estado"/>
          <p:cNvSpPr/>
          <p:nvPr/>
        </p:nvSpPr>
        <p:spPr>
          <a:xfrm>
            <a:off x="1522364" y="2305050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ayita"/>
          <p:cNvSpPr/>
          <p:nvPr/>
        </p:nvSpPr>
        <p:spPr>
          <a:xfrm>
            <a:off x="419100" y="328255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ja-cliente"/>
          <p:cNvSpPr/>
          <p:nvPr/>
        </p:nvSpPr>
        <p:spPr>
          <a:xfrm>
            <a:off x="419100" y="5905500"/>
            <a:ext cx="5410200" cy="628650"/>
          </a:xfrm>
          <a:custGeom>
            <a:avLst/>
            <a:gdLst/>
            <a:ahLst/>
            <a:cxnLst/>
            <a:rect l="l" t="t" r="r" b="b"/>
            <a:pathLst>
              <a:path w="5410200" h="628650">
                <a:moveTo>
                  <a:pt x="0" y="0"/>
                </a:moveTo>
                <a:lnTo>
                  <a:pt x="5410200" y="0"/>
                </a:lnTo>
                <a:lnTo>
                  <a:pt x="541020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stado"/>
          <p:cNvSpPr/>
          <p:nvPr/>
        </p:nvSpPr>
        <p:spPr>
          <a:xfrm>
            <a:off x="7459416" y="2305050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yita"/>
          <p:cNvSpPr/>
          <p:nvPr/>
        </p:nvSpPr>
        <p:spPr>
          <a:xfrm>
            <a:off x="6362700" y="328255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ja-cliente"/>
          <p:cNvSpPr/>
          <p:nvPr/>
        </p:nvSpPr>
        <p:spPr>
          <a:xfrm>
            <a:off x="6362700" y="5905500"/>
            <a:ext cx="5410200" cy="628650"/>
          </a:xfrm>
          <a:custGeom>
            <a:avLst/>
            <a:gdLst/>
            <a:ahLst/>
            <a:cxnLst/>
            <a:rect l="l" t="t" r="r" b="b"/>
            <a:pathLst>
              <a:path w="5410200" h="628650">
                <a:moveTo>
                  <a:pt x="0" y="0"/>
                </a:moveTo>
                <a:lnTo>
                  <a:pt x="5410200" y="0"/>
                </a:lnTo>
                <a:lnTo>
                  <a:pt x="541020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comorsuelo_1" descr="foto_12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23850"/>
            <a:ext cx="5410200" cy="1828800"/>
          </a:xfrm>
          <a:custGeom>
            <a:avLst/>
            <a:gdLst/>
            <a:ahLst/>
            <a:cxnLst/>
            <a:rect l="l" t="t" r="r" b="b"/>
            <a:pathLst>
              <a:path w="5410200" h="1828800">
                <a:moveTo>
                  <a:pt x="0" y="0"/>
                </a:moveTo>
                <a:lnTo>
                  <a:pt x="5410200" y="0"/>
                </a:lnTo>
                <a:lnTo>
                  <a:pt x="5086350" y="1828800"/>
                </a:lnTo>
                <a:lnTo>
                  <a:pt x="0" y="1828800"/>
                </a:lnTo>
                <a:close/>
              </a:path>
            </a:pathLst>
          </a:custGeom>
        </p:spPr>
      </p:pic>
      <p:pic>
        <p:nvPicPr>
          <p:cNvPr id="10" name="comorsuelo_2" descr="foto_12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1" name="comorsuelo_3" descr="foto_12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2" name="dragado_1" descr="foto_12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700" y="323850"/>
            <a:ext cx="5410200" cy="1828800"/>
          </a:xfrm>
          <a:custGeom>
            <a:avLst/>
            <a:gdLst/>
            <a:ahLst/>
            <a:cxnLst/>
            <a:rect l="l" t="t" r="r" b="b"/>
            <a:pathLst>
              <a:path w="5410200" h="1828800">
                <a:moveTo>
                  <a:pt x="0" y="0"/>
                </a:moveTo>
                <a:lnTo>
                  <a:pt x="5410200" y="0"/>
                </a:lnTo>
                <a:lnTo>
                  <a:pt x="5086350" y="1828800"/>
                </a:lnTo>
                <a:lnTo>
                  <a:pt x="0" y="1828800"/>
                </a:lnTo>
                <a:close/>
              </a:path>
            </a:pathLst>
          </a:custGeom>
        </p:spPr>
      </p:pic>
      <p:pic>
        <p:nvPicPr>
          <p:cNvPr id="13" name="dragado_2" descr="foto_12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27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4" name="dragado_3" descr="foto_12_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5" name="sobre las fotos" descr="encima_1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0550" y="390525"/>
            <a:ext cx="817959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AMBIENTE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100" y="2309812"/>
            <a:ext cx="105028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2024 –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0830" y="232410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100" y="2609850"/>
            <a:ext cx="473571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COMOR — Saneamiento de suelo contaminado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100" y="3018383"/>
            <a:ext cx="2491233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Centro Operativo Morichal · fases II, III y IV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100" y="3444478"/>
            <a:ext cx="5486400" cy="766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Remoción, recolección y recuperación de crudo sobrenadante, así como la carga, transporte, tratamiento y disposición final del suelo contaminado en instalaciones de PDVSA autorizadas por el MINEC, generado en las actividades de saneamiento realizadas en el Centro Operativo de Morichal (COMOR), División Carabobo.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" y="602932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6162675"/>
            <a:ext cx="2266205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Logística Operacional DAL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4150" y="390525"/>
            <a:ext cx="817959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AMBIENTE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2700" y="2309812"/>
            <a:ext cx="104373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2025 –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7881" y="232410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2700" y="2609850"/>
            <a:ext cx="3441203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Dragado lagunas del SIAE COMOR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2700" y="3018383"/>
            <a:ext cx="1637109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Lagunas A, B, C y D del SIAE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2700" y="3444478"/>
            <a:ext cx="5486400" cy="3571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Saneamiento y posterior mantenimiento de las cuatro lagunas A, B, C y D del SIAE del Centro Operacional Morichal (COMOR), en la División Carabobo, a través del dragado de sólidos.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0" y="602932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2250" y="6162675"/>
            <a:ext cx="2266205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Logística Operacional DAL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estado"/>
          <p:cNvSpPr/>
          <p:nvPr/>
        </p:nvSpPr>
        <p:spPr>
          <a:xfrm>
            <a:off x="1515816" y="2305050"/>
            <a:ext cx="1106682" cy="161925"/>
          </a:xfrm>
          <a:custGeom>
            <a:avLst/>
            <a:gdLst/>
            <a:ahLst/>
            <a:cxnLst/>
            <a:rect l="l" t="t" r="r" b="b"/>
            <a:pathLst>
              <a:path w="1106682" h="161925">
                <a:moveTo>
                  <a:pt x="46556" y="0"/>
                </a:moveTo>
                <a:lnTo>
                  <a:pt x="1106682" y="0"/>
                </a:lnTo>
                <a:lnTo>
                  <a:pt x="10601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ayita"/>
          <p:cNvSpPr/>
          <p:nvPr/>
        </p:nvSpPr>
        <p:spPr>
          <a:xfrm>
            <a:off x="419100" y="328255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ja-cliente"/>
          <p:cNvSpPr/>
          <p:nvPr/>
        </p:nvSpPr>
        <p:spPr>
          <a:xfrm>
            <a:off x="419100" y="5905500"/>
            <a:ext cx="5410200" cy="628650"/>
          </a:xfrm>
          <a:custGeom>
            <a:avLst/>
            <a:gdLst/>
            <a:ahLst/>
            <a:cxnLst/>
            <a:rect l="l" t="t" r="r" b="b"/>
            <a:pathLst>
              <a:path w="5410200" h="628650">
                <a:moveTo>
                  <a:pt x="0" y="0"/>
                </a:moveTo>
                <a:lnTo>
                  <a:pt x="5410200" y="0"/>
                </a:lnTo>
                <a:lnTo>
                  <a:pt x="541020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stado"/>
          <p:cNvSpPr/>
          <p:nvPr/>
        </p:nvSpPr>
        <p:spPr>
          <a:xfrm>
            <a:off x="6877647" y="2305050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yita"/>
          <p:cNvSpPr/>
          <p:nvPr/>
        </p:nvSpPr>
        <p:spPr>
          <a:xfrm>
            <a:off x="6362700" y="328255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ja-cliente"/>
          <p:cNvSpPr/>
          <p:nvPr/>
        </p:nvSpPr>
        <p:spPr>
          <a:xfrm>
            <a:off x="6362700" y="5905500"/>
            <a:ext cx="5410200" cy="628650"/>
          </a:xfrm>
          <a:custGeom>
            <a:avLst/>
            <a:gdLst/>
            <a:ahLst/>
            <a:cxnLst/>
            <a:rect l="l" t="t" r="r" b="b"/>
            <a:pathLst>
              <a:path w="5410200" h="628650">
                <a:moveTo>
                  <a:pt x="0" y="0"/>
                </a:moveTo>
                <a:lnTo>
                  <a:pt x="5410200" y="0"/>
                </a:lnTo>
                <a:lnTo>
                  <a:pt x="541020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trasegado_1" descr="foto_13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23850"/>
            <a:ext cx="5410200" cy="1828800"/>
          </a:xfrm>
          <a:custGeom>
            <a:avLst/>
            <a:gdLst/>
            <a:ahLst/>
            <a:cxnLst/>
            <a:rect l="l" t="t" r="r" b="b"/>
            <a:pathLst>
              <a:path w="5410200" h="1828800">
                <a:moveTo>
                  <a:pt x="0" y="0"/>
                </a:moveTo>
                <a:lnTo>
                  <a:pt x="5410200" y="0"/>
                </a:lnTo>
                <a:lnTo>
                  <a:pt x="5086350" y="1828800"/>
                </a:lnTo>
                <a:lnTo>
                  <a:pt x="0" y="1828800"/>
                </a:lnTo>
                <a:close/>
              </a:path>
            </a:pathLst>
          </a:custGeom>
        </p:spPr>
      </p:pic>
      <p:pic>
        <p:nvPicPr>
          <p:cNvPr id="10" name="trasegado_2" descr="foto_13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1" name="trasegado_3" descr="foto_13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2" name="ef016_1" descr="foto_13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700" y="323850"/>
            <a:ext cx="5410200" cy="1828800"/>
          </a:xfrm>
          <a:custGeom>
            <a:avLst/>
            <a:gdLst/>
            <a:ahLst/>
            <a:cxnLst/>
            <a:rect l="l" t="t" r="r" b="b"/>
            <a:pathLst>
              <a:path w="5410200" h="1828800">
                <a:moveTo>
                  <a:pt x="0" y="0"/>
                </a:moveTo>
                <a:lnTo>
                  <a:pt x="5410200" y="0"/>
                </a:lnTo>
                <a:lnTo>
                  <a:pt x="5086350" y="1828800"/>
                </a:lnTo>
                <a:lnTo>
                  <a:pt x="0" y="1828800"/>
                </a:lnTo>
                <a:close/>
              </a:path>
            </a:pathLst>
          </a:custGeom>
        </p:spPr>
      </p:pic>
      <p:pic>
        <p:nvPicPr>
          <p:cNvPr id="13" name="ef016_2" descr="foto_13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27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4" name="ef016_3" descr="foto_13_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5" name="sobre las fotos" descr="encima_1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0550" y="390525"/>
            <a:ext cx="817959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AMBIENTE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100" y="2309812"/>
            <a:ext cx="104373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2025 –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34281" y="2324100"/>
            <a:ext cx="94595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100" y="2609850"/>
            <a:ext cx="3588692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Movilización y trasegado de crudo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100" y="3018383"/>
            <a:ext cx="1555551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Centro Operativo Morichal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100" y="3444478"/>
            <a:ext cx="5486400" cy="3571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Movilización y trasegado de crudo en el Sistema de Inyección y Efluentes (SIAE) ubicado en las instalaciones del Centro Operativo COMOR, con equipos de vacío tipo vacuum de mínimo 160 BLS.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" y="602932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6162675"/>
            <a:ext cx="2266205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Logística Operacional DAL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4150" y="390525"/>
            <a:ext cx="817959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AMBIENTE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2700" y="2309812"/>
            <a:ext cx="46196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6112" y="232410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2700" y="2609850"/>
            <a:ext cx="2323951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Estación de Flujo O-16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2700" y="3018383"/>
            <a:ext cx="2229445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Saneamiento O-16 · División Carabobo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2700" y="3444478"/>
            <a:ext cx="5486400" cy="766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Operación de maquinaria pesada para realizar los trabajos de saneamiento de áreas afectadas por derrames de hidrocarburos: remoción, estabilización, homogeneización, apilamiento y tratamiento in situ del material impactado, contención y recolección de fluidos petrolizados, nivelación de terreno y carga de sólidos.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0" y="602932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2250" y="6162675"/>
            <a:ext cx="2266205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Logística Operacional DAL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estado"/>
          <p:cNvSpPr/>
          <p:nvPr/>
        </p:nvSpPr>
        <p:spPr>
          <a:xfrm>
            <a:off x="1522364" y="2305050"/>
            <a:ext cx="1106682" cy="161925"/>
          </a:xfrm>
          <a:custGeom>
            <a:avLst/>
            <a:gdLst/>
            <a:ahLst/>
            <a:cxnLst/>
            <a:rect l="l" t="t" r="r" b="b"/>
            <a:pathLst>
              <a:path w="1106682" h="161925">
                <a:moveTo>
                  <a:pt x="46556" y="0"/>
                </a:moveTo>
                <a:lnTo>
                  <a:pt x="1106682" y="0"/>
                </a:lnTo>
                <a:lnTo>
                  <a:pt x="10601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ayita"/>
          <p:cNvSpPr/>
          <p:nvPr/>
        </p:nvSpPr>
        <p:spPr>
          <a:xfrm>
            <a:off x="419100" y="328255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ja-cliente"/>
          <p:cNvSpPr/>
          <p:nvPr/>
        </p:nvSpPr>
        <p:spPr>
          <a:xfrm>
            <a:off x="419100" y="5905500"/>
            <a:ext cx="5410200" cy="628650"/>
          </a:xfrm>
          <a:custGeom>
            <a:avLst/>
            <a:gdLst/>
            <a:ahLst/>
            <a:cxnLst/>
            <a:rect l="l" t="t" r="r" b="b"/>
            <a:pathLst>
              <a:path w="5410200" h="628650">
                <a:moveTo>
                  <a:pt x="0" y="0"/>
                </a:moveTo>
                <a:lnTo>
                  <a:pt x="5410200" y="0"/>
                </a:lnTo>
                <a:lnTo>
                  <a:pt x="541020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stado"/>
          <p:cNvSpPr/>
          <p:nvPr/>
        </p:nvSpPr>
        <p:spPr>
          <a:xfrm>
            <a:off x="7461053" y="2305050"/>
            <a:ext cx="1106682" cy="161925"/>
          </a:xfrm>
          <a:custGeom>
            <a:avLst/>
            <a:gdLst/>
            <a:ahLst/>
            <a:cxnLst/>
            <a:rect l="l" t="t" r="r" b="b"/>
            <a:pathLst>
              <a:path w="1106682" h="161925">
                <a:moveTo>
                  <a:pt x="46556" y="0"/>
                </a:moveTo>
                <a:lnTo>
                  <a:pt x="1106682" y="0"/>
                </a:lnTo>
                <a:lnTo>
                  <a:pt x="10601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yita"/>
          <p:cNvSpPr/>
          <p:nvPr/>
        </p:nvSpPr>
        <p:spPr>
          <a:xfrm>
            <a:off x="6362700" y="328255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ja-cliente"/>
          <p:cNvSpPr/>
          <p:nvPr/>
        </p:nvSpPr>
        <p:spPr>
          <a:xfrm>
            <a:off x="6362700" y="5905500"/>
            <a:ext cx="5410200" cy="628650"/>
          </a:xfrm>
          <a:custGeom>
            <a:avLst/>
            <a:gdLst/>
            <a:ahLst/>
            <a:cxnLst/>
            <a:rect l="l" t="t" r="r" b="b"/>
            <a:pathLst>
              <a:path w="5410200" h="628650">
                <a:moveTo>
                  <a:pt x="0" y="0"/>
                </a:moveTo>
                <a:lnTo>
                  <a:pt x="5410200" y="0"/>
                </a:lnTo>
                <a:lnTo>
                  <a:pt x="541020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transv_1" descr="foto_14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23850"/>
            <a:ext cx="5410200" cy="1828800"/>
          </a:xfrm>
          <a:custGeom>
            <a:avLst/>
            <a:gdLst/>
            <a:ahLst/>
            <a:cxnLst/>
            <a:rect l="l" t="t" r="r" b="b"/>
            <a:pathLst>
              <a:path w="5410200" h="1828800">
                <a:moveTo>
                  <a:pt x="0" y="0"/>
                </a:moveTo>
                <a:lnTo>
                  <a:pt x="5410200" y="0"/>
                </a:lnTo>
                <a:lnTo>
                  <a:pt x="5086350" y="1828800"/>
                </a:lnTo>
                <a:lnTo>
                  <a:pt x="0" y="1828800"/>
                </a:lnTo>
                <a:close/>
              </a:path>
            </a:pathLst>
          </a:custGeom>
        </p:spPr>
      </p:pic>
      <p:pic>
        <p:nvPicPr>
          <p:cNvPr id="10" name="transv_2" descr="foto_14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1" name="transv_3" descr="foto_14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2" name="chuto_1" descr="foto_14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700" y="323850"/>
            <a:ext cx="5410200" cy="1828800"/>
          </a:xfrm>
          <a:custGeom>
            <a:avLst/>
            <a:gdLst/>
            <a:ahLst/>
            <a:cxnLst/>
            <a:rect l="l" t="t" r="r" b="b"/>
            <a:pathLst>
              <a:path w="5410200" h="1828800">
                <a:moveTo>
                  <a:pt x="0" y="0"/>
                </a:moveTo>
                <a:lnTo>
                  <a:pt x="5410200" y="0"/>
                </a:lnTo>
                <a:lnTo>
                  <a:pt x="5086350" y="1828800"/>
                </a:lnTo>
                <a:lnTo>
                  <a:pt x="0" y="1828800"/>
                </a:lnTo>
                <a:close/>
              </a:path>
            </a:pathLst>
          </a:custGeom>
        </p:spPr>
      </p:pic>
      <p:pic>
        <p:nvPicPr>
          <p:cNvPr id="13" name="chuto_2" descr="foto_14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27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4" name="chuto_3" descr="foto_14_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5" name="sobre las fotos" descr="encima_1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0550" y="390525"/>
            <a:ext cx="1774180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SERVICIOS Y ALQUILER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100" y="2309812"/>
            <a:ext cx="105028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2024 –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0830" y="2324100"/>
            <a:ext cx="94595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100" y="2609850"/>
            <a:ext cx="2373957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Equipos transversales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100" y="3018383"/>
            <a:ext cx="2192833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Equipos para la producción de la FPO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100" y="3444478"/>
            <a:ext cx="5486400" cy="766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Servicio de movimientos relacionados con remoción de suelos, carga, descarga y traslado de materiales logísticos y misceláneos, contemplados en las operaciones de rehabilitación y reacondicionamiento de pozos, subestaciones eléctricas, estaciones de flujo y descarga, asociados a las labores operacionales de las divisiones pertenecientes a la Dirección Ejecutiva de Producción FPO.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" y="602932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6162675"/>
            <a:ext cx="2266205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Logística Operacional DAL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4150" y="390525"/>
            <a:ext cx="1774180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SERVICIOS Y ALQUILER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2700" y="2309812"/>
            <a:ext cx="104536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2024 – 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9518" y="2324100"/>
            <a:ext cx="94595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2700" y="2609850"/>
            <a:ext cx="1754237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Chuto con batea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2700" y="3018383"/>
            <a:ext cx="2730549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Movilización de equipos y materiales de la FPO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2700" y="3444478"/>
            <a:ext cx="5486400" cy="766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Movilización de todos los materiales y equipos (transformadores, generadores, plantas), misceláneos y lubricantes, desde las instalaciones PDVSA a nivel nacional hasta las áreas operacionales de las divisiones Carabobo, Ayacucho, Junín y Boyacá, adscritas a la Dirección Adjunta de Logística perteneciente a la Dirección Ejecutiva de Producción FPO HC.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0" y="602932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2250" y="6162675"/>
            <a:ext cx="2266205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Logística Operacional DAL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estado"/>
          <p:cNvSpPr/>
          <p:nvPr/>
        </p:nvSpPr>
        <p:spPr>
          <a:xfrm>
            <a:off x="934046" y="2305050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ayita"/>
          <p:cNvSpPr/>
          <p:nvPr/>
        </p:nvSpPr>
        <p:spPr>
          <a:xfrm>
            <a:off x="419100" y="328255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ja-cliente"/>
          <p:cNvSpPr/>
          <p:nvPr/>
        </p:nvSpPr>
        <p:spPr>
          <a:xfrm>
            <a:off x="419100" y="5905500"/>
            <a:ext cx="5410200" cy="628650"/>
          </a:xfrm>
          <a:custGeom>
            <a:avLst/>
            <a:gdLst/>
            <a:ahLst/>
            <a:cxnLst/>
            <a:rect l="l" t="t" r="r" b="b"/>
            <a:pathLst>
              <a:path w="5410200" h="628650">
                <a:moveTo>
                  <a:pt x="0" y="0"/>
                </a:moveTo>
                <a:lnTo>
                  <a:pt x="5410200" y="0"/>
                </a:lnTo>
                <a:lnTo>
                  <a:pt x="541020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stado"/>
          <p:cNvSpPr/>
          <p:nvPr/>
        </p:nvSpPr>
        <p:spPr>
          <a:xfrm>
            <a:off x="7459416" y="2305050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yita"/>
          <p:cNvSpPr/>
          <p:nvPr/>
        </p:nvSpPr>
        <p:spPr>
          <a:xfrm>
            <a:off x="6362700" y="328255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ja-cliente"/>
          <p:cNvSpPr/>
          <p:nvPr/>
        </p:nvSpPr>
        <p:spPr>
          <a:xfrm>
            <a:off x="6362700" y="5905500"/>
            <a:ext cx="5410200" cy="628650"/>
          </a:xfrm>
          <a:custGeom>
            <a:avLst/>
            <a:gdLst/>
            <a:ahLst/>
            <a:cxnLst/>
            <a:rect l="l" t="t" r="r" b="b"/>
            <a:pathLst>
              <a:path w="5410200" h="628650">
                <a:moveTo>
                  <a:pt x="0" y="0"/>
                </a:moveTo>
                <a:lnTo>
                  <a:pt x="5410200" y="0"/>
                </a:lnTo>
                <a:lnTo>
                  <a:pt x="541020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bombeo_1" descr="foto_15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23850"/>
            <a:ext cx="5410200" cy="1828800"/>
          </a:xfrm>
          <a:custGeom>
            <a:avLst/>
            <a:gdLst/>
            <a:ahLst/>
            <a:cxnLst/>
            <a:rect l="l" t="t" r="r" b="b"/>
            <a:pathLst>
              <a:path w="5410200" h="1828800">
                <a:moveTo>
                  <a:pt x="0" y="0"/>
                </a:moveTo>
                <a:lnTo>
                  <a:pt x="5410200" y="0"/>
                </a:lnTo>
                <a:lnTo>
                  <a:pt x="5086350" y="1828800"/>
                </a:lnTo>
                <a:lnTo>
                  <a:pt x="0" y="1828800"/>
                </a:lnTo>
                <a:close/>
              </a:path>
            </a:pathLst>
          </a:custGeom>
        </p:spPr>
      </p:pic>
      <p:pic>
        <p:nvPicPr>
          <p:cNvPr id="10" name="bombeo_2" descr="foto_15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1" name="bombeo_3" descr="foto_15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2" name="sinovensa_1" descr="foto_15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700" y="323850"/>
            <a:ext cx="5410200" cy="1828800"/>
          </a:xfrm>
          <a:custGeom>
            <a:avLst/>
            <a:gdLst/>
            <a:ahLst/>
            <a:cxnLst/>
            <a:rect l="l" t="t" r="r" b="b"/>
            <a:pathLst>
              <a:path w="5410200" h="1828800">
                <a:moveTo>
                  <a:pt x="0" y="0"/>
                </a:moveTo>
                <a:lnTo>
                  <a:pt x="5410200" y="0"/>
                </a:lnTo>
                <a:lnTo>
                  <a:pt x="5086350" y="1828800"/>
                </a:lnTo>
                <a:lnTo>
                  <a:pt x="0" y="1828800"/>
                </a:lnTo>
                <a:close/>
              </a:path>
            </a:pathLst>
          </a:custGeom>
        </p:spPr>
      </p:pic>
      <p:pic>
        <p:nvPicPr>
          <p:cNvPr id="13" name="sinovensa_2" descr="foto_15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27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4" name="sinovensa_3" descr="foto_15_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5" name="sobre las fotos" descr="encima_1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0550" y="390525"/>
            <a:ext cx="1774180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SERVICIOS Y ALQUILER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100" y="2309812"/>
            <a:ext cx="46196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2512" y="232410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100" y="2609850"/>
            <a:ext cx="3974752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Mantenimiento de equipos de bombeo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100" y="3018383"/>
            <a:ext cx="3138785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Áreas operacionales de la Faja Petrolífera del Orinoco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100" y="3444478"/>
            <a:ext cx="5486400" cy="3571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Reparación de bombas marca Bornemann, Warren, Sulzer y Flowserve, utilizadas para el transporte de fluidos en superficie y ubicadas en instalaciones pertenecientes a la Faja Petrolífera del Orinoco.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" y="602932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6162675"/>
            <a:ext cx="2251025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Gestión de Materiales DAL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4150" y="390525"/>
            <a:ext cx="1774180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SERVICIOS Y ALQUILER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2700" y="2309812"/>
            <a:ext cx="104373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2025 –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7881" y="232410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2700" y="2609850"/>
            <a:ext cx="3845569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Alquiler de maquinaria — SINOVENSA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2700" y="3018383"/>
            <a:ext cx="2314128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Activación de pozos, División Carabobo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2700" y="3444478"/>
            <a:ext cx="5486400" cy="3571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Servicios de maquinaria pesada para realizar actividades operacionales que contribuyan con la activación de pozos en la División Carabobo.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0" y="602932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2250" y="6162675"/>
            <a:ext cx="2027932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PETROLERA SINOVENSA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estado"/>
          <p:cNvSpPr/>
          <p:nvPr/>
        </p:nvSpPr>
        <p:spPr>
          <a:xfrm>
            <a:off x="1515816" y="2305050"/>
            <a:ext cx="1106682" cy="161925"/>
          </a:xfrm>
          <a:custGeom>
            <a:avLst/>
            <a:gdLst/>
            <a:ahLst/>
            <a:cxnLst/>
            <a:rect l="l" t="t" r="r" b="b"/>
            <a:pathLst>
              <a:path w="1106682" h="161925">
                <a:moveTo>
                  <a:pt x="46556" y="0"/>
                </a:moveTo>
                <a:lnTo>
                  <a:pt x="1106682" y="0"/>
                </a:lnTo>
                <a:lnTo>
                  <a:pt x="10601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ayita"/>
          <p:cNvSpPr/>
          <p:nvPr/>
        </p:nvSpPr>
        <p:spPr>
          <a:xfrm>
            <a:off x="419100" y="328255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ja-cliente"/>
          <p:cNvSpPr/>
          <p:nvPr/>
        </p:nvSpPr>
        <p:spPr>
          <a:xfrm>
            <a:off x="419100" y="5905500"/>
            <a:ext cx="5410200" cy="628650"/>
          </a:xfrm>
          <a:custGeom>
            <a:avLst/>
            <a:gdLst/>
            <a:ahLst/>
            <a:cxnLst/>
            <a:rect l="l" t="t" r="r" b="b"/>
            <a:pathLst>
              <a:path w="5410200" h="628650">
                <a:moveTo>
                  <a:pt x="0" y="0"/>
                </a:moveTo>
                <a:lnTo>
                  <a:pt x="5410200" y="0"/>
                </a:lnTo>
                <a:lnTo>
                  <a:pt x="541020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stado"/>
          <p:cNvSpPr/>
          <p:nvPr/>
        </p:nvSpPr>
        <p:spPr>
          <a:xfrm>
            <a:off x="7454504" y="2305050"/>
            <a:ext cx="1106682" cy="161925"/>
          </a:xfrm>
          <a:custGeom>
            <a:avLst/>
            <a:gdLst/>
            <a:ahLst/>
            <a:cxnLst/>
            <a:rect l="l" t="t" r="r" b="b"/>
            <a:pathLst>
              <a:path w="1106682" h="161925">
                <a:moveTo>
                  <a:pt x="46556" y="0"/>
                </a:moveTo>
                <a:lnTo>
                  <a:pt x="1106682" y="0"/>
                </a:lnTo>
                <a:lnTo>
                  <a:pt x="10601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yita"/>
          <p:cNvSpPr/>
          <p:nvPr/>
        </p:nvSpPr>
        <p:spPr>
          <a:xfrm>
            <a:off x="6362700" y="328255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ja-cliente"/>
          <p:cNvSpPr/>
          <p:nvPr/>
        </p:nvSpPr>
        <p:spPr>
          <a:xfrm>
            <a:off x="6362700" y="5905500"/>
            <a:ext cx="5410200" cy="628650"/>
          </a:xfrm>
          <a:custGeom>
            <a:avLst/>
            <a:gdLst/>
            <a:ahLst/>
            <a:cxnLst/>
            <a:rect l="l" t="t" r="r" b="b"/>
            <a:pathLst>
              <a:path w="5410200" h="628650">
                <a:moveTo>
                  <a:pt x="0" y="0"/>
                </a:moveTo>
                <a:lnTo>
                  <a:pt x="5410200" y="0"/>
                </a:lnTo>
                <a:lnTo>
                  <a:pt x="541020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cortafuego_1" descr="foto_16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23850"/>
            <a:ext cx="5410200" cy="1828800"/>
          </a:xfrm>
          <a:custGeom>
            <a:avLst/>
            <a:gdLst/>
            <a:ahLst/>
            <a:cxnLst/>
            <a:rect l="l" t="t" r="r" b="b"/>
            <a:pathLst>
              <a:path w="5410200" h="1828800">
                <a:moveTo>
                  <a:pt x="0" y="0"/>
                </a:moveTo>
                <a:lnTo>
                  <a:pt x="5410200" y="0"/>
                </a:lnTo>
                <a:lnTo>
                  <a:pt x="5086350" y="1828800"/>
                </a:lnTo>
                <a:lnTo>
                  <a:pt x="0" y="1828800"/>
                </a:lnTo>
                <a:close/>
              </a:path>
            </a:pathLst>
          </a:custGeom>
        </p:spPr>
      </p:pic>
      <p:pic>
        <p:nvPicPr>
          <p:cNvPr id="10" name="cortafuego_2" descr="foto_16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1" name="cortafuego_3" descr="foto_16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2" name="xpmorichal_1" descr="foto_16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700" y="323850"/>
            <a:ext cx="5410200" cy="1828800"/>
          </a:xfrm>
          <a:custGeom>
            <a:avLst/>
            <a:gdLst/>
            <a:ahLst/>
            <a:cxnLst/>
            <a:rect l="l" t="t" r="r" b="b"/>
            <a:pathLst>
              <a:path w="5410200" h="1828800">
                <a:moveTo>
                  <a:pt x="0" y="0"/>
                </a:moveTo>
                <a:lnTo>
                  <a:pt x="5410200" y="0"/>
                </a:lnTo>
                <a:lnTo>
                  <a:pt x="5086350" y="1828800"/>
                </a:lnTo>
                <a:lnTo>
                  <a:pt x="0" y="1828800"/>
                </a:lnTo>
                <a:close/>
              </a:path>
            </a:pathLst>
          </a:custGeom>
        </p:spPr>
      </p:pic>
      <p:pic>
        <p:nvPicPr>
          <p:cNvPr id="13" name="xpmorichal_2" descr="foto_16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27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4" name="xpmorichal_3" descr="foto_16_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4400550"/>
            <a:ext cx="2628900" cy="1352550"/>
          </a:xfrm>
          <a:custGeom>
            <a:avLst/>
            <a:gdLst/>
            <a:ahLst/>
            <a:cxnLst/>
            <a:rect l="l" t="t" r="r" b="b"/>
            <a:pathLst>
              <a:path w="2628900" h="1352550">
                <a:moveTo>
                  <a:pt x="0" y="0"/>
                </a:moveTo>
                <a:lnTo>
                  <a:pt x="2628900" y="0"/>
                </a:lnTo>
                <a:lnTo>
                  <a:pt x="2419350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5" name="sobre las fotos" descr="encima_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0550" y="390525"/>
            <a:ext cx="1774180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SERVICIOS Y ALQUILER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100" y="2309812"/>
            <a:ext cx="104373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2025 –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34281" y="2324100"/>
            <a:ext cx="94595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100" y="2609850"/>
            <a:ext cx="4075955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Cortafuegos en corredores de tuberías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100" y="3018383"/>
            <a:ext cx="912316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Divisiones FPO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100" y="3444478"/>
            <a:ext cx="5486400" cy="561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Construcción y mantenimiento de cortafuegos en corredores de tubería y líneas eléctricas de oleoductos y diluenductos de la Faja. Incluyendo corrección de filtraciones por soldadura y encapsulamiento de grampas apernadas.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" y="602932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6162675"/>
            <a:ext cx="2266205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Logística Operacional DAL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4150" y="390525"/>
            <a:ext cx="1774180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SERVICIOS Y ALQUILER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2700" y="2309812"/>
            <a:ext cx="103882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2025 – 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2970" y="2324100"/>
            <a:ext cx="94595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2700" y="2609850"/>
            <a:ext cx="3536453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Alquiler de equipos — XP Morichal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2700" y="3018383"/>
            <a:ext cx="3078956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Unidad de Producción Extrapesado, Distrito Morichal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2700" y="3444478"/>
            <a:ext cx="5486400" cy="561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Servicios para acondicionamiento y adecuación de vías de acceso y locaciones, los cuales son indispensables para el óptimo funcionamiento y operación de las unidades de producción de la División Carabobo.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0" y="602932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2250" y="6162675"/>
            <a:ext cx="2266205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Logística Operacional DAL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estado"/>
          <p:cNvSpPr/>
          <p:nvPr/>
        </p:nvSpPr>
        <p:spPr>
          <a:xfrm>
            <a:off x="940595" y="3028950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ayita"/>
          <p:cNvSpPr/>
          <p:nvPr/>
        </p:nvSpPr>
        <p:spPr>
          <a:xfrm>
            <a:off x="419100" y="4084885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ja-cliente"/>
          <p:cNvSpPr/>
          <p:nvPr/>
        </p:nvSpPr>
        <p:spPr>
          <a:xfrm>
            <a:off x="419100" y="5962650"/>
            <a:ext cx="3810000" cy="628650"/>
          </a:xfrm>
          <a:custGeom>
            <a:avLst/>
            <a:gdLst/>
            <a:ahLst/>
            <a:cxnLst/>
            <a:rect l="l" t="t" r="r" b="b"/>
            <a:pathLst>
              <a:path w="3810000" h="628650">
                <a:moveTo>
                  <a:pt x="0" y="0"/>
                </a:moveTo>
                <a:lnTo>
                  <a:pt x="3810000" y="0"/>
                </a:lnTo>
                <a:lnTo>
                  <a:pt x="381000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curataqui_1" descr="foto_17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571750"/>
          </a:xfrm>
          <a:prstGeom prst="rect">
            <a:avLst/>
          </a:prstGeom>
        </p:spPr>
      </p:pic>
      <p:pic>
        <p:nvPicPr>
          <p:cNvPr id="7" name="curataqui_2" descr="foto_17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2876550"/>
            <a:ext cx="3105150" cy="1781175"/>
          </a:xfrm>
          <a:custGeom>
            <a:avLst/>
            <a:gdLst/>
            <a:ahLst/>
            <a:cxnLst/>
            <a:rect l="l" t="t" r="r" b="b"/>
            <a:pathLst>
              <a:path w="3105150" h="1781175">
                <a:moveTo>
                  <a:pt x="0" y="0"/>
                </a:moveTo>
                <a:lnTo>
                  <a:pt x="3105150" y="0"/>
                </a:lnTo>
                <a:lnTo>
                  <a:pt x="2895600" y="1781175"/>
                </a:lnTo>
                <a:lnTo>
                  <a:pt x="0" y="1781175"/>
                </a:lnTo>
                <a:close/>
              </a:path>
            </a:pathLst>
          </a:custGeom>
        </p:spPr>
      </p:pic>
      <p:pic>
        <p:nvPicPr>
          <p:cNvPr id="8" name="curataqui_3" descr="foto_17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0" y="2876550"/>
            <a:ext cx="3105150" cy="1781175"/>
          </a:xfrm>
          <a:custGeom>
            <a:avLst/>
            <a:gdLst/>
            <a:ahLst/>
            <a:cxnLst/>
            <a:rect l="l" t="t" r="r" b="b"/>
            <a:pathLst>
              <a:path w="3105150" h="1781175">
                <a:moveTo>
                  <a:pt x="0" y="0"/>
                </a:moveTo>
                <a:lnTo>
                  <a:pt x="3105150" y="0"/>
                </a:lnTo>
                <a:lnTo>
                  <a:pt x="2895600" y="1781175"/>
                </a:lnTo>
                <a:lnTo>
                  <a:pt x="0" y="1781175"/>
                </a:lnTo>
                <a:close/>
              </a:path>
            </a:pathLst>
          </a:custGeom>
        </p:spPr>
      </p:pic>
      <p:pic>
        <p:nvPicPr>
          <p:cNvPr id="9" name="curataqui_4" descr="foto_17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0200" y="4810125"/>
            <a:ext cx="3105150" cy="1781175"/>
          </a:xfrm>
          <a:custGeom>
            <a:avLst/>
            <a:gdLst/>
            <a:ahLst/>
            <a:cxnLst/>
            <a:rect l="l" t="t" r="r" b="b"/>
            <a:pathLst>
              <a:path w="3105150" h="1781175">
                <a:moveTo>
                  <a:pt x="0" y="0"/>
                </a:moveTo>
                <a:lnTo>
                  <a:pt x="3105150" y="0"/>
                </a:lnTo>
                <a:lnTo>
                  <a:pt x="2895600" y="1781175"/>
                </a:lnTo>
                <a:lnTo>
                  <a:pt x="0" y="1781175"/>
                </a:lnTo>
                <a:close/>
              </a:path>
            </a:pathLst>
          </a:custGeom>
        </p:spPr>
      </p:pic>
      <p:pic>
        <p:nvPicPr>
          <p:cNvPr id="10" name="curataqui_5" descr="foto_17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0" y="4810125"/>
            <a:ext cx="3105150" cy="1781175"/>
          </a:xfrm>
          <a:custGeom>
            <a:avLst/>
            <a:gdLst/>
            <a:ahLst/>
            <a:cxnLst/>
            <a:rect l="l" t="t" r="r" b="b"/>
            <a:pathLst>
              <a:path w="3105150" h="1781175">
                <a:moveTo>
                  <a:pt x="0" y="0"/>
                </a:moveTo>
                <a:lnTo>
                  <a:pt x="3105150" y="0"/>
                </a:lnTo>
                <a:lnTo>
                  <a:pt x="2895600" y="1781175"/>
                </a:lnTo>
                <a:lnTo>
                  <a:pt x="0" y="1781175"/>
                </a:lnTo>
                <a:close/>
              </a:path>
            </a:pathLst>
          </a:custGeom>
        </p:spPr>
      </p:pic>
      <p:pic>
        <p:nvPicPr>
          <p:cNvPr id="11" name="sobre las fotos" descr="encima_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4850" y="2381250"/>
            <a:ext cx="817959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AMBIENTE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" y="3033712"/>
            <a:ext cx="46851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060" y="304800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100" y="3324225"/>
            <a:ext cx="3253531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935"/>
              </a:lnSpc>
            </a:pPr>
            <a:r>
              <a:rPr sz="2850" b="1" i="0">
                <a:solidFill>
                  <a:srgbClr val="122149"/>
                </a:solidFill>
                <a:latin typeface="Barlow Condensed"/>
              </a:rPr>
              <a:t>Laguna de Curataquiche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3820715"/>
            <a:ext cx="2292994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Saneamiento y restauración ambiental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100" y="4256335"/>
            <a:ext cx="4552950" cy="135909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870"/>
              </a:lnSpc>
            </a:pPr>
            <a:r>
              <a:rPr sz="1087" b="0" i="0">
                <a:solidFill>
                  <a:srgbClr val="000000"/>
                </a:solidFill>
                <a:latin typeface="Barlow"/>
              </a:rPr>
              <a:t>Saneamiento y restauración de la Laguna de Curataquiche, progresiva 15+000 del Oleoducto de 36″, desarrollando actividades de remoción de capa de hidrocarburos con barreras oleofílicas y material particulado; estabilización mecánica, carga y transporte del material contaminado; reforestación del área, toma y análisis de muestras en la laguna, ejecutadas en las diferentes fases del proceso de saneamiento.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" y="608647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" y="6219825"/>
            <a:ext cx="2266205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Logística Operacional DAL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ayita"/>
          <p:cNvSpPr/>
          <p:nvPr/>
        </p:nvSpPr>
        <p:spPr>
          <a:xfrm>
            <a:off x="908627" y="485775"/>
            <a:ext cx="373495" cy="28575"/>
          </a:xfrm>
          <a:custGeom>
            <a:avLst/>
            <a:gdLst/>
            <a:ahLst/>
            <a:cxnLst/>
            <a:rect l="l" t="t" r="r" b="b"/>
            <a:pathLst>
              <a:path w="373495" h="28575">
                <a:moveTo>
                  <a:pt x="11545" y="0"/>
                </a:moveTo>
                <a:lnTo>
                  <a:pt x="373495" y="0"/>
                </a:lnTo>
                <a:lnTo>
                  <a:pt x="361950" y="28575"/>
                </a:lnTo>
                <a:lnTo>
                  <a:pt x="0" y="285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flota_1" descr="foto_18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91125"/>
            <a:ext cx="3276600" cy="1666875"/>
          </a:xfrm>
          <a:custGeom>
            <a:avLst/>
            <a:gdLst/>
            <a:ahLst/>
            <a:cxnLst/>
            <a:rect l="l" t="t" r="r" b="b"/>
            <a:pathLst>
              <a:path w="3276600" h="1666875">
                <a:moveTo>
                  <a:pt x="0" y="0"/>
                </a:moveTo>
                <a:lnTo>
                  <a:pt x="3276600" y="0"/>
                </a:lnTo>
                <a:lnTo>
                  <a:pt x="2785110" y="1666875"/>
                </a:lnTo>
                <a:lnTo>
                  <a:pt x="0" y="1666875"/>
                </a:lnTo>
                <a:close/>
              </a:path>
            </a:pathLst>
          </a:custGeom>
        </p:spPr>
      </p:pic>
      <p:pic>
        <p:nvPicPr>
          <p:cNvPr id="5" name="flota_2" descr="foto_18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0" y="5191125"/>
            <a:ext cx="3505200" cy="1666875"/>
          </a:xfrm>
          <a:custGeom>
            <a:avLst/>
            <a:gdLst/>
            <a:ahLst/>
            <a:cxnLst/>
            <a:rect l="l" t="t" r="r" b="b"/>
            <a:pathLst>
              <a:path w="3505200" h="1666875">
                <a:moveTo>
                  <a:pt x="525780" y="0"/>
                </a:moveTo>
                <a:lnTo>
                  <a:pt x="3505200" y="0"/>
                </a:lnTo>
                <a:lnTo>
                  <a:pt x="2979420" y="1666875"/>
                </a:lnTo>
                <a:lnTo>
                  <a:pt x="0" y="1666875"/>
                </a:lnTo>
                <a:close/>
              </a:path>
            </a:pathLst>
          </a:custGeom>
        </p:spPr>
      </p:pic>
      <p:pic>
        <p:nvPicPr>
          <p:cNvPr id="6" name="flota_3" descr="foto_18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0" y="5191125"/>
            <a:ext cx="3505200" cy="1666875"/>
          </a:xfrm>
          <a:custGeom>
            <a:avLst/>
            <a:gdLst/>
            <a:ahLst/>
            <a:cxnLst/>
            <a:rect l="l" t="t" r="r" b="b"/>
            <a:pathLst>
              <a:path w="3505200" h="1666875">
                <a:moveTo>
                  <a:pt x="525780" y="0"/>
                </a:moveTo>
                <a:lnTo>
                  <a:pt x="3505200" y="0"/>
                </a:lnTo>
                <a:lnTo>
                  <a:pt x="2979420" y="1666875"/>
                </a:lnTo>
                <a:lnTo>
                  <a:pt x="0" y="1666875"/>
                </a:lnTo>
                <a:close/>
              </a:path>
            </a:pathLst>
          </a:custGeom>
        </p:spPr>
      </p:pic>
      <p:pic>
        <p:nvPicPr>
          <p:cNvPr id="7" name="flota_4" descr="foto_18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5191125"/>
            <a:ext cx="3276600" cy="1666875"/>
          </a:xfrm>
          <a:custGeom>
            <a:avLst/>
            <a:gdLst/>
            <a:ahLst/>
            <a:cxnLst/>
            <a:rect l="l" t="t" r="r" b="b"/>
            <a:pathLst>
              <a:path w="3276600" h="1666875">
                <a:moveTo>
                  <a:pt x="491490" y="0"/>
                </a:moveTo>
                <a:lnTo>
                  <a:pt x="3276600" y="0"/>
                </a:lnTo>
                <a:lnTo>
                  <a:pt x="3276600" y="1666875"/>
                </a:lnTo>
                <a:lnTo>
                  <a:pt x="0" y="1666875"/>
                </a:lnTo>
                <a:close/>
              </a:path>
            </a:pathLst>
          </a:custGeom>
        </p:spPr>
      </p:pic>
      <p:sp>
        <p:nvSpPr>
          <p:cNvPr id="8" name="i"/>
          <p:cNvSpPr/>
          <p:nvPr/>
        </p:nvSpPr>
        <p:spPr>
          <a:xfrm>
            <a:off x="-325346" y="-415974"/>
            <a:ext cx="1041218" cy="6032748"/>
          </a:xfrm>
          <a:custGeom>
            <a:avLst/>
            <a:gdLst/>
            <a:ahLst/>
            <a:cxnLst/>
            <a:rect l="l" t="t" r="r" b="b"/>
            <a:pathLst>
              <a:path w="1041218" h="6032748">
                <a:moveTo>
                  <a:pt x="955448" y="0"/>
                </a:moveTo>
                <a:lnTo>
                  <a:pt x="1041218" y="0"/>
                </a:lnTo>
                <a:lnTo>
                  <a:pt x="85770" y="6032748"/>
                </a:lnTo>
                <a:lnTo>
                  <a:pt x="0" y="6032748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"/>
          <p:cNvSpPr/>
          <p:nvPr/>
        </p:nvSpPr>
        <p:spPr>
          <a:xfrm>
            <a:off x="-96746" y="-415974"/>
            <a:ext cx="1003118" cy="6032748"/>
          </a:xfrm>
          <a:custGeom>
            <a:avLst/>
            <a:gdLst/>
            <a:ahLst/>
            <a:cxnLst/>
            <a:rect l="l" t="t" r="r" b="b"/>
            <a:pathLst>
              <a:path w="1003118" h="6032748">
                <a:moveTo>
                  <a:pt x="955467" y="0"/>
                </a:moveTo>
                <a:lnTo>
                  <a:pt x="1003118" y="0"/>
                </a:lnTo>
                <a:lnTo>
                  <a:pt x="47651" y="6032748"/>
                </a:lnTo>
                <a:lnTo>
                  <a:pt x="0" y="6032748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bre las fotos" descr="encima_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28750" y="419100"/>
            <a:ext cx="1447204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i="0" spc="336">
                <a:solidFill>
                  <a:srgbClr val="FFFFFF"/>
                </a:solidFill>
                <a:latin typeface="Barlow"/>
              </a:rPr>
              <a:t>FLOTA PROPIA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47700"/>
            <a:ext cx="4690318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283"/>
              </a:lnSpc>
            </a:pPr>
            <a:r>
              <a:rPr sz="3187" b="1" i="0">
                <a:solidFill>
                  <a:srgbClr val="FFFFFF"/>
                </a:solidFill>
                <a:latin typeface="Barlow Condensed"/>
              </a:rPr>
              <a:t>Una flota que no para de crecer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02692"/>
            <a:ext cx="7315200" cy="67984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2002"/>
              </a:lnSpc>
            </a:pPr>
            <a:r>
              <a:rPr sz="1125" b="0" i="0">
                <a:solidFill>
                  <a:srgbClr val="FFFFFF"/>
                </a:solidFill>
                <a:latin typeface="Barlow"/>
              </a:rPr>
              <a:t>Respaldamos cada obra con una flota 100% propia y en constante expansión. Tras la exitosa incorporación de equipos en 2025, este 2026 sumaremos nueva maquinaria para seguir garantizando total autonomía en los proyectos más exigentes.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7350" y="304800"/>
            <a:ext cx="873918" cy="857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5028"/>
              </a:lnSpc>
            </a:pPr>
            <a:r>
              <a:rPr sz="5587" b="1" i="0" spc="-56">
                <a:solidFill>
                  <a:srgbClr val="FFFFFF"/>
                </a:solidFill>
                <a:latin typeface="Barlow Condensed"/>
              </a:rPr>
              <a:t>841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7350" y="1105346"/>
            <a:ext cx="162192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975" b="1" i="0" spc="292">
                <a:solidFill>
                  <a:srgbClr val="FFFFFF"/>
                </a:solidFill>
                <a:latin typeface="Barlow"/>
              </a:rPr>
              <a:t>EQUIPOS PROPIOS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7350" y="1553021"/>
            <a:ext cx="107200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44 tipos de equipo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20808" y="1553021"/>
            <a:ext cx="631924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38 marcas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152650"/>
            <a:ext cx="338732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514600"/>
            <a:ext cx="75798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Excavadoras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3250" y="2152650"/>
            <a:ext cx="335160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3250" y="2514600"/>
            <a:ext cx="56569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Vacuums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2250" y="2152650"/>
            <a:ext cx="348555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2250" y="2514600"/>
            <a:ext cx="1083766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Tractores de oruga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1250" y="2152650"/>
            <a:ext cx="290066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1250" y="2514600"/>
            <a:ext cx="67746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Sidebooms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0100" y="2152650"/>
            <a:ext cx="241696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0100" y="2514600"/>
            <a:ext cx="141833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Camiones elevadores 12 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9100" y="2152650"/>
            <a:ext cx="241696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9100" y="2514600"/>
            <a:ext cx="137308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Camiones elevadores 8 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891283"/>
            <a:ext cx="418802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138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253233"/>
            <a:ext cx="45481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Chutos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73250" y="2891283"/>
            <a:ext cx="325189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73250" y="3253233"/>
            <a:ext cx="447377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Bateas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2250" y="2891283"/>
            <a:ext cx="335458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62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2250" y="3253233"/>
            <a:ext cx="475357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Volteos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1250" y="2891283"/>
            <a:ext cx="334863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1250" y="3253233"/>
            <a:ext cx="66600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Payloaders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0100" y="2891283"/>
            <a:ext cx="333821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33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0100" y="3253233"/>
            <a:ext cx="54545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Lowboys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09100" y="2891283"/>
            <a:ext cx="334416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32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09100" y="3253233"/>
            <a:ext cx="104492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Retroexcavadoras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3629917"/>
            <a:ext cx="241696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3991867"/>
            <a:ext cx="95770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Motoniveladoras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73250" y="3629917"/>
            <a:ext cx="241696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73250" y="3991867"/>
            <a:ext cx="70068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Mototraíllas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2250" y="3629917"/>
            <a:ext cx="293935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2250" y="3991867"/>
            <a:ext cx="871686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Camiones grúa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1250" y="3629917"/>
            <a:ext cx="293935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1250" y="3991867"/>
            <a:ext cx="120253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Chutos con brazo 16 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0100" y="3629917"/>
            <a:ext cx="204787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0100" y="3991867"/>
            <a:ext cx="110073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Tractores agrícolas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09100" y="3629917"/>
            <a:ext cx="325189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37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09100" y="3991867"/>
            <a:ext cx="1344066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Otra maquinaria pesada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4492376"/>
            <a:ext cx="418504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169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4854326"/>
            <a:ext cx="714226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Camionetas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73250" y="4492376"/>
            <a:ext cx="348555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42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73250" y="4854326"/>
            <a:ext cx="1317277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Camiones de soldadura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32250" y="4492376"/>
            <a:ext cx="206126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32250" y="4854326"/>
            <a:ext cx="71601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Cuadrilleras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91250" y="4492376"/>
            <a:ext cx="206126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91250" y="4854326"/>
            <a:ext cx="646509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Autobuses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0100" y="4492376"/>
            <a:ext cx="205829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0100" y="4854326"/>
            <a:ext cx="1216669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Camiones de servicio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09100" y="4492376"/>
            <a:ext cx="334416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32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09100" y="4854326"/>
            <a:ext cx="1322784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Otros equipos de apoyo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ayita"/>
          <p:cNvSpPr/>
          <p:nvPr/>
        </p:nvSpPr>
        <p:spPr>
          <a:xfrm>
            <a:off x="908627" y="3359199"/>
            <a:ext cx="373495" cy="28575"/>
          </a:xfrm>
          <a:custGeom>
            <a:avLst/>
            <a:gdLst/>
            <a:ahLst/>
            <a:cxnLst/>
            <a:rect l="l" t="t" r="r" b="b"/>
            <a:pathLst>
              <a:path w="373495" h="28575">
                <a:moveTo>
                  <a:pt x="11545" y="0"/>
                </a:moveTo>
                <a:lnTo>
                  <a:pt x="373495" y="0"/>
                </a:lnTo>
                <a:lnTo>
                  <a:pt x="361950" y="28575"/>
                </a:lnTo>
                <a:lnTo>
                  <a:pt x="0" y="285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ayita"/>
          <p:cNvSpPr/>
          <p:nvPr/>
        </p:nvSpPr>
        <p:spPr>
          <a:xfrm>
            <a:off x="914400" y="4028926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0" y="76200"/>
                </a:moveTo>
                <a:lnTo>
                  <a:pt x="36576" y="0"/>
                </a:lnTo>
                <a:lnTo>
                  <a:pt x="114300" y="0"/>
                </a:lnTo>
                <a:lnTo>
                  <a:pt x="77724" y="7620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ayita"/>
          <p:cNvSpPr/>
          <p:nvPr/>
        </p:nvSpPr>
        <p:spPr>
          <a:xfrm>
            <a:off x="914400" y="4343251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0" y="76200"/>
                </a:moveTo>
                <a:lnTo>
                  <a:pt x="36576" y="0"/>
                </a:lnTo>
                <a:lnTo>
                  <a:pt x="114300" y="0"/>
                </a:lnTo>
                <a:lnTo>
                  <a:pt x="77724" y="7620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ayita"/>
          <p:cNvSpPr/>
          <p:nvPr/>
        </p:nvSpPr>
        <p:spPr>
          <a:xfrm>
            <a:off x="914400" y="4657576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0" y="76200"/>
                </a:moveTo>
                <a:lnTo>
                  <a:pt x="36576" y="0"/>
                </a:lnTo>
                <a:lnTo>
                  <a:pt x="114300" y="0"/>
                </a:lnTo>
                <a:lnTo>
                  <a:pt x="77724" y="7620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yita"/>
          <p:cNvSpPr/>
          <p:nvPr/>
        </p:nvSpPr>
        <p:spPr>
          <a:xfrm>
            <a:off x="914400" y="4971901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0" y="76200"/>
                </a:moveTo>
                <a:lnTo>
                  <a:pt x="36576" y="0"/>
                </a:lnTo>
                <a:lnTo>
                  <a:pt x="114300" y="0"/>
                </a:lnTo>
                <a:lnTo>
                  <a:pt x="77724" y="7620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ayita"/>
          <p:cNvSpPr/>
          <p:nvPr/>
        </p:nvSpPr>
        <p:spPr>
          <a:xfrm>
            <a:off x="914400" y="5286226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0" y="76200"/>
                </a:moveTo>
                <a:lnTo>
                  <a:pt x="36576" y="0"/>
                </a:lnTo>
                <a:lnTo>
                  <a:pt x="114300" y="0"/>
                </a:lnTo>
                <a:lnTo>
                  <a:pt x="77724" y="7620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ayita"/>
          <p:cNvSpPr/>
          <p:nvPr/>
        </p:nvSpPr>
        <p:spPr>
          <a:xfrm>
            <a:off x="914400" y="5600551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0" y="76200"/>
                </a:moveTo>
                <a:lnTo>
                  <a:pt x="36576" y="0"/>
                </a:lnTo>
                <a:lnTo>
                  <a:pt x="114300" y="0"/>
                </a:lnTo>
                <a:lnTo>
                  <a:pt x="77724" y="7620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ayita"/>
          <p:cNvSpPr/>
          <p:nvPr/>
        </p:nvSpPr>
        <p:spPr>
          <a:xfrm>
            <a:off x="914400" y="5914876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0" y="76200"/>
                </a:moveTo>
                <a:lnTo>
                  <a:pt x="36576" y="0"/>
                </a:lnTo>
                <a:lnTo>
                  <a:pt x="114300" y="0"/>
                </a:lnTo>
                <a:lnTo>
                  <a:pt x="77724" y="7620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clientes_equipo" descr="foto_19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857500"/>
          </a:xfrm>
          <a:prstGeom prst="rect">
            <a:avLst/>
          </a:prstGeom>
        </p:spPr>
      </p:pic>
      <p:pic>
        <p:nvPicPr>
          <p:cNvPr id="12" name="logo_pdvsa" descr="foto_19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57500"/>
            <a:ext cx="12192000" cy="4000500"/>
          </a:xfrm>
          <a:prstGeom prst="rect">
            <a:avLst/>
          </a:prstGeom>
        </p:spPr>
      </p:pic>
      <p:pic>
        <p:nvPicPr>
          <p:cNvPr id="13" name="logo_petromonagas" descr="foto_19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57500"/>
            <a:ext cx="12192000" cy="4000500"/>
          </a:xfrm>
          <a:prstGeom prst="rect">
            <a:avLst/>
          </a:prstGeom>
        </p:spPr>
      </p:pic>
      <p:pic>
        <p:nvPicPr>
          <p:cNvPr id="14" name="logo_sinovensa" descr="foto_19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57500"/>
            <a:ext cx="12192000" cy="4000500"/>
          </a:xfrm>
          <a:prstGeom prst="rect">
            <a:avLst/>
          </a:prstGeom>
        </p:spPr>
      </p:pic>
      <p:sp>
        <p:nvSpPr>
          <p:cNvPr id="15" name="i"/>
          <p:cNvSpPr/>
          <p:nvPr/>
        </p:nvSpPr>
        <p:spPr>
          <a:xfrm>
            <a:off x="-110098" y="-228600"/>
            <a:ext cx="610721" cy="3314700"/>
          </a:xfrm>
          <a:custGeom>
            <a:avLst/>
            <a:gdLst/>
            <a:ahLst/>
            <a:cxnLst/>
            <a:rect l="l" t="t" r="r" b="b"/>
            <a:pathLst>
              <a:path w="610721" h="3314700">
                <a:moveTo>
                  <a:pt x="524996" y="0"/>
                </a:moveTo>
                <a:lnTo>
                  <a:pt x="610721" y="0"/>
                </a:lnTo>
                <a:lnTo>
                  <a:pt x="85725" y="3314700"/>
                </a:lnTo>
                <a:lnTo>
                  <a:pt x="0" y="331470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"/>
          <p:cNvSpPr/>
          <p:nvPr/>
        </p:nvSpPr>
        <p:spPr>
          <a:xfrm>
            <a:off x="118501" y="-228600"/>
            <a:ext cx="572621" cy="3314700"/>
          </a:xfrm>
          <a:custGeom>
            <a:avLst/>
            <a:gdLst/>
            <a:ahLst/>
            <a:cxnLst/>
            <a:rect l="l" t="t" r="r" b="b"/>
            <a:pathLst>
              <a:path w="572621" h="3314700">
                <a:moveTo>
                  <a:pt x="524996" y="0"/>
                </a:moveTo>
                <a:lnTo>
                  <a:pt x="572621" y="0"/>
                </a:lnTo>
                <a:lnTo>
                  <a:pt x="47625" y="3314700"/>
                </a:lnTo>
                <a:lnTo>
                  <a:pt x="0" y="3314700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"/>
          <p:cNvSpPr/>
          <p:nvPr/>
        </p:nvSpPr>
        <p:spPr>
          <a:xfrm>
            <a:off x="-215088" y="2537519"/>
            <a:ext cx="820701" cy="4640460"/>
          </a:xfrm>
          <a:custGeom>
            <a:avLst/>
            <a:gdLst/>
            <a:ahLst/>
            <a:cxnLst/>
            <a:rect l="l" t="t" r="r" b="b"/>
            <a:pathLst>
              <a:path w="820701" h="4640460">
                <a:moveTo>
                  <a:pt x="734946" y="0"/>
                </a:moveTo>
                <a:lnTo>
                  <a:pt x="820701" y="0"/>
                </a:lnTo>
                <a:lnTo>
                  <a:pt x="85755" y="4640460"/>
                </a:lnTo>
                <a:lnTo>
                  <a:pt x="0" y="464046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"/>
          <p:cNvSpPr/>
          <p:nvPr/>
        </p:nvSpPr>
        <p:spPr>
          <a:xfrm>
            <a:off x="13511" y="2537519"/>
            <a:ext cx="782601" cy="4640460"/>
          </a:xfrm>
          <a:custGeom>
            <a:avLst/>
            <a:gdLst/>
            <a:ahLst/>
            <a:cxnLst/>
            <a:rect l="l" t="t" r="r" b="b"/>
            <a:pathLst>
              <a:path w="782601" h="4640460">
                <a:moveTo>
                  <a:pt x="734959" y="0"/>
                </a:moveTo>
                <a:lnTo>
                  <a:pt x="782601" y="0"/>
                </a:lnTo>
                <a:lnTo>
                  <a:pt x="47642" y="4640460"/>
                </a:lnTo>
                <a:lnTo>
                  <a:pt x="0" y="4640460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sobre las fotos" descr="encima_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28750" y="1703784"/>
            <a:ext cx="1012924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i="0" spc="336">
                <a:solidFill>
                  <a:srgbClr val="FFFFFF"/>
                </a:solidFill>
                <a:latin typeface="Barlow"/>
              </a:rPr>
              <a:t>CLIENTES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1932384"/>
            <a:ext cx="3374231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4210"/>
              </a:lnSpc>
            </a:pPr>
            <a:r>
              <a:rPr sz="4087" b="1" i="0">
                <a:solidFill>
                  <a:srgbClr val="FFFFFF"/>
                </a:solidFill>
                <a:latin typeface="Barlow Condensed"/>
              </a:rPr>
              <a:t>Nuestros clientes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8750" y="3305175"/>
            <a:ext cx="2747813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32"/>
              </a:lnSpc>
            </a:pPr>
            <a:r>
              <a:rPr sz="1050" b="1" i="0" spc="189">
                <a:solidFill>
                  <a:srgbClr val="FFFFFF"/>
                </a:solidFill>
                <a:latin typeface="Barlow"/>
              </a:rPr>
              <a:t>CONTRATOS DIRECTOS CON SIETE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8750" y="3525142"/>
            <a:ext cx="3468141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32"/>
              </a:lnSpc>
            </a:pPr>
            <a:r>
              <a:rPr sz="1050" b="1" i="0" spc="189">
                <a:solidFill>
                  <a:srgbClr val="FFFFFF"/>
                </a:solidFill>
                <a:latin typeface="Barlow"/>
              </a:rPr>
              <a:t>GERENCIAS Y COORDINACIONES DE LA FPO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945135"/>
            <a:ext cx="3407866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FFFFFF"/>
                </a:solidFill>
                <a:latin typeface="Barlow"/>
              </a:rPr>
              <a:t>Gerencia de Proyectos Mayores de Producción FPO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259460"/>
            <a:ext cx="2853779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FFFFFF"/>
                </a:solidFill>
                <a:latin typeface="Barlow"/>
              </a:rPr>
              <a:t>Gerencia de Distribución y Transporte Faja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573785"/>
            <a:ext cx="2918370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FFFFFF"/>
                </a:solidFill>
                <a:latin typeface="Barlow"/>
              </a:rPr>
              <a:t>Gerencia de Logística Operacional DAL FPO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888110"/>
            <a:ext cx="2931914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FFFFFF"/>
                </a:solidFill>
                <a:latin typeface="Barlow"/>
              </a:rPr>
              <a:t>Gerencia de Gestión de Materiales DAL-FPO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202435"/>
            <a:ext cx="3312914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FFFFFF"/>
                </a:solidFill>
                <a:latin typeface="Barlow"/>
              </a:rPr>
              <a:t>Gerencia de Tratamiento y Calidad de Fluidos TCF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516760"/>
            <a:ext cx="1660624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FFFFFF"/>
                </a:solidFill>
                <a:latin typeface="Barlow"/>
              </a:rPr>
              <a:t>Gerencia de Perforación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831085"/>
            <a:ext cx="2381994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FFFFFF"/>
                </a:solidFill>
                <a:latin typeface="Barlow"/>
              </a:rPr>
              <a:t>Coordinación Operacional Faja COF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77350" y="3771900"/>
            <a:ext cx="1770012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</a:pPr>
            <a:r>
              <a:rPr sz="750" b="1" i="0" spc="165">
                <a:solidFill>
                  <a:srgbClr val="5F6980"/>
                </a:solidFill>
                <a:latin typeface="Barlow"/>
              </a:rPr>
              <a:t>PETRÓLEOS DE VENEZUELA, S.A.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7350" y="4857750"/>
            <a:ext cx="1044475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</a:pPr>
            <a:r>
              <a:rPr sz="750" b="1" i="0" spc="165">
                <a:solidFill>
                  <a:srgbClr val="5F6980"/>
                </a:solidFill>
                <a:latin typeface="Barlow"/>
              </a:rPr>
              <a:t>EMPRESA MIXTA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7350" y="5867400"/>
            <a:ext cx="1044475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</a:pPr>
            <a:r>
              <a:rPr sz="750" b="1" i="0" spc="165">
                <a:solidFill>
                  <a:srgbClr val="5F6980"/>
                </a:solidFill>
                <a:latin typeface="Barlow"/>
              </a:rPr>
              <a:t>EMPRESA MIXTA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na-ice"/>
          <p:cNvSpPr/>
          <p:nvPr/>
        </p:nvSpPr>
        <p:spPr>
          <a:xfrm>
            <a:off x="0" y="1690389"/>
            <a:ext cx="5905500" cy="2757785"/>
          </a:xfrm>
          <a:custGeom>
            <a:avLst/>
            <a:gdLst/>
            <a:ahLst/>
            <a:cxnLst/>
            <a:rect l="l" t="t" r="r" b="b"/>
            <a:pathLst>
              <a:path w="5905500" h="2757785">
                <a:moveTo>
                  <a:pt x="0" y="717024"/>
                </a:moveTo>
                <a:lnTo>
                  <a:pt x="5905500" y="0"/>
                </a:lnTo>
                <a:lnTo>
                  <a:pt x="5905500" y="2757785"/>
                </a:lnTo>
                <a:lnTo>
                  <a:pt x="0" y="2757785"/>
                </a:lnTo>
                <a:close/>
              </a:path>
            </a:pathLst>
          </a:custGeom>
          <a:solidFill>
            <a:srgbClr val="EB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inea"/>
          <p:cNvSpPr/>
          <p:nvPr/>
        </p:nvSpPr>
        <p:spPr>
          <a:xfrm>
            <a:off x="762000" y="1398835"/>
            <a:ext cx="4476750" cy="9525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ayita"/>
          <p:cNvSpPr/>
          <p:nvPr/>
        </p:nvSpPr>
        <p:spPr>
          <a:xfrm>
            <a:off x="752379" y="1370260"/>
            <a:ext cx="1086041" cy="47625"/>
          </a:xfrm>
          <a:custGeom>
            <a:avLst/>
            <a:gdLst/>
            <a:ahLst/>
            <a:cxnLst/>
            <a:rect l="l" t="t" r="r" b="b"/>
            <a:pathLst>
              <a:path w="1086041" h="47625">
                <a:moveTo>
                  <a:pt x="19242" y="0"/>
                </a:moveTo>
                <a:lnTo>
                  <a:pt x="1086041" y="0"/>
                </a:lnTo>
                <a:lnTo>
                  <a:pt x="1066799" y="47625"/>
                </a:lnTo>
                <a:lnTo>
                  <a:pt x="0" y="47625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"/>
          <p:cNvSpPr/>
          <p:nvPr/>
        </p:nvSpPr>
        <p:spPr>
          <a:xfrm>
            <a:off x="1843042" y="3629025"/>
            <a:ext cx="323939" cy="495300"/>
          </a:xfrm>
          <a:custGeom>
            <a:avLst/>
            <a:gdLst/>
            <a:ahLst/>
            <a:cxnLst/>
            <a:rect l="l" t="t" r="r" b="b"/>
            <a:pathLst>
              <a:path w="323939" h="495300">
                <a:moveTo>
                  <a:pt x="200114" y="0"/>
                </a:moveTo>
                <a:lnTo>
                  <a:pt x="323939" y="0"/>
                </a:lnTo>
                <a:lnTo>
                  <a:pt x="123825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0C1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"/>
          <p:cNvSpPr/>
          <p:nvPr/>
        </p:nvSpPr>
        <p:spPr>
          <a:xfrm>
            <a:off x="1652542" y="3629025"/>
            <a:ext cx="323939" cy="495300"/>
          </a:xfrm>
          <a:custGeom>
            <a:avLst/>
            <a:gdLst/>
            <a:ahLst/>
            <a:cxnLst/>
            <a:rect l="l" t="t" r="r" b="b"/>
            <a:pathLst>
              <a:path w="323939" h="495300">
                <a:moveTo>
                  <a:pt x="200114" y="0"/>
                </a:moveTo>
                <a:lnTo>
                  <a:pt x="323939" y="0"/>
                </a:lnTo>
                <a:lnTo>
                  <a:pt x="123825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"/>
          <p:cNvSpPr/>
          <p:nvPr/>
        </p:nvSpPr>
        <p:spPr>
          <a:xfrm>
            <a:off x="1462042" y="3629025"/>
            <a:ext cx="323939" cy="495300"/>
          </a:xfrm>
          <a:custGeom>
            <a:avLst/>
            <a:gdLst/>
            <a:ahLst/>
            <a:cxnLst/>
            <a:rect l="l" t="t" r="r" b="b"/>
            <a:pathLst>
              <a:path w="323939" h="495300">
                <a:moveTo>
                  <a:pt x="200114" y="0"/>
                </a:moveTo>
                <a:lnTo>
                  <a:pt x="323939" y="0"/>
                </a:lnTo>
                <a:lnTo>
                  <a:pt x="123825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"/>
          <p:cNvSpPr/>
          <p:nvPr/>
        </p:nvSpPr>
        <p:spPr>
          <a:xfrm>
            <a:off x="1271542" y="3629025"/>
            <a:ext cx="323939" cy="495300"/>
          </a:xfrm>
          <a:custGeom>
            <a:avLst/>
            <a:gdLst/>
            <a:ahLst/>
            <a:cxnLst/>
            <a:rect l="l" t="t" r="r" b="b"/>
            <a:pathLst>
              <a:path w="323939" h="495300">
                <a:moveTo>
                  <a:pt x="200114" y="0"/>
                </a:moveTo>
                <a:lnTo>
                  <a:pt x="323939" y="0"/>
                </a:lnTo>
                <a:lnTo>
                  <a:pt x="123825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logo" descr="foto_20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33400"/>
            <a:ext cx="3467100" cy="617785"/>
          </a:xfrm>
          <a:prstGeom prst="rect">
            <a:avLst/>
          </a:prstGeom>
        </p:spPr>
      </p:pic>
      <p:pic>
        <p:nvPicPr>
          <p:cNvPr id="11" name="flota_equipo_cierre" descr="foto_20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975" y="-9525"/>
            <a:ext cx="6296025" cy="4457700"/>
          </a:xfrm>
          <a:custGeom>
            <a:avLst/>
            <a:gdLst/>
            <a:ahLst/>
            <a:cxnLst/>
            <a:rect l="l" t="t" r="r" b="b"/>
            <a:pathLst>
              <a:path w="6296025" h="4457700">
                <a:moveTo>
                  <a:pt x="692563" y="0"/>
                </a:moveTo>
                <a:lnTo>
                  <a:pt x="6296025" y="0"/>
                </a:lnTo>
                <a:lnTo>
                  <a:pt x="6296025" y="4457700"/>
                </a:lnTo>
                <a:lnTo>
                  <a:pt x="125921" y="4457700"/>
                </a:lnTo>
                <a:close/>
              </a:path>
            </a:pathLst>
          </a:custGeom>
        </p:spPr>
      </p:pic>
      <p:sp>
        <p:nvSpPr>
          <p:cNvPr id="12" name="i"/>
          <p:cNvSpPr/>
          <p:nvPr/>
        </p:nvSpPr>
        <p:spPr>
          <a:xfrm>
            <a:off x="5212321" y="-95250"/>
            <a:ext cx="767232" cy="4543425"/>
          </a:xfrm>
          <a:custGeom>
            <a:avLst/>
            <a:gdLst/>
            <a:ahLst/>
            <a:cxnLst/>
            <a:rect l="l" t="t" r="r" b="b"/>
            <a:pathLst>
              <a:path w="767232" h="4543425">
                <a:moveTo>
                  <a:pt x="719607" y="0"/>
                </a:moveTo>
                <a:lnTo>
                  <a:pt x="767232" y="0"/>
                </a:lnTo>
                <a:lnTo>
                  <a:pt x="47625" y="4543425"/>
                </a:lnTo>
                <a:lnTo>
                  <a:pt x="0" y="4543425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"/>
          <p:cNvSpPr/>
          <p:nvPr/>
        </p:nvSpPr>
        <p:spPr>
          <a:xfrm>
            <a:off x="5383771" y="-95250"/>
            <a:ext cx="805332" cy="4543425"/>
          </a:xfrm>
          <a:custGeom>
            <a:avLst/>
            <a:gdLst/>
            <a:ahLst/>
            <a:cxnLst/>
            <a:rect l="l" t="t" r="r" b="b"/>
            <a:pathLst>
              <a:path w="805332" h="4543425">
                <a:moveTo>
                  <a:pt x="719607" y="0"/>
                </a:moveTo>
                <a:lnTo>
                  <a:pt x="805332" y="0"/>
                </a:lnTo>
                <a:lnTo>
                  <a:pt x="85725" y="4543425"/>
                </a:lnTo>
                <a:lnTo>
                  <a:pt x="0" y="4543425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"/>
          <p:cNvSpPr/>
          <p:nvPr/>
        </p:nvSpPr>
        <p:spPr>
          <a:xfrm>
            <a:off x="5593320" y="-95250"/>
            <a:ext cx="757707" cy="4543425"/>
          </a:xfrm>
          <a:custGeom>
            <a:avLst/>
            <a:gdLst/>
            <a:ahLst/>
            <a:cxnLst/>
            <a:rect l="l" t="t" r="r" b="b"/>
            <a:pathLst>
              <a:path w="757707" h="4543425">
                <a:moveTo>
                  <a:pt x="719607" y="0"/>
                </a:moveTo>
                <a:lnTo>
                  <a:pt x="757707" y="0"/>
                </a:lnTo>
                <a:lnTo>
                  <a:pt x="38100" y="4543425"/>
                </a:lnTo>
                <a:lnTo>
                  <a:pt x="0" y="4543425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"/>
          <p:cNvSpPr/>
          <p:nvPr/>
        </p:nvSpPr>
        <p:spPr>
          <a:xfrm>
            <a:off x="-69837" y="4245173"/>
            <a:ext cx="530199" cy="2806303"/>
          </a:xfrm>
          <a:custGeom>
            <a:avLst/>
            <a:gdLst/>
            <a:ahLst/>
            <a:cxnLst/>
            <a:rect l="l" t="t" r="r" b="b"/>
            <a:pathLst>
              <a:path w="530199" h="2806303">
                <a:moveTo>
                  <a:pt x="444565" y="0"/>
                </a:moveTo>
                <a:lnTo>
                  <a:pt x="530199" y="0"/>
                </a:lnTo>
                <a:lnTo>
                  <a:pt x="85634" y="2806303"/>
                </a:lnTo>
                <a:lnTo>
                  <a:pt x="0" y="2806303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"/>
          <p:cNvSpPr/>
          <p:nvPr/>
        </p:nvSpPr>
        <p:spPr>
          <a:xfrm>
            <a:off x="158762" y="4245173"/>
            <a:ext cx="492099" cy="2806303"/>
          </a:xfrm>
          <a:custGeom>
            <a:avLst/>
            <a:gdLst/>
            <a:ahLst/>
            <a:cxnLst/>
            <a:rect l="l" t="t" r="r" b="b"/>
            <a:pathLst>
              <a:path w="492099" h="2806303">
                <a:moveTo>
                  <a:pt x="444529" y="0"/>
                </a:moveTo>
                <a:lnTo>
                  <a:pt x="492099" y="0"/>
                </a:lnTo>
                <a:lnTo>
                  <a:pt x="47570" y="2806303"/>
                </a:lnTo>
                <a:lnTo>
                  <a:pt x="0" y="2806303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bre las fotos" descr="encima_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2000" y="1713160"/>
            <a:ext cx="4042767" cy="552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669"/>
              </a:lnSpc>
            </a:pPr>
            <a:r>
              <a:rPr sz="3562" b="1" i="0">
                <a:solidFill>
                  <a:srgbClr val="122149"/>
                </a:solidFill>
                <a:latin typeface="Barlow Condensed"/>
              </a:rPr>
              <a:t>La fuerza que construye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2179141"/>
            <a:ext cx="4504729" cy="552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669"/>
              </a:lnSpc>
            </a:pPr>
            <a:r>
              <a:rPr sz="3562" b="1" i="0">
                <a:solidFill>
                  <a:srgbClr val="122149"/>
                </a:solidFill>
                <a:latin typeface="Barlow Condensed"/>
              </a:rPr>
              <a:t>nuestra industria petrolera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525" y="4872781"/>
            <a:ext cx="1572369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88"/>
              </a:lnSpc>
            </a:pPr>
            <a:r>
              <a:rPr sz="862" b="1" i="0" spc="259">
                <a:solidFill>
                  <a:srgbClr val="FFFFFF"/>
                </a:solidFill>
                <a:latin typeface="Barlow"/>
              </a:rPr>
              <a:t>SEDE CORPORATIVA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72075"/>
            <a:ext cx="3340000" cy="4199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57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Calle París entre New York y Caroní, Edif. #177, Urb. Las Mercedes, Municipio Baruta, Edo. Miranda Caracas.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43550" y="4872781"/>
            <a:ext cx="2525464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88"/>
              </a:lnSpc>
            </a:pPr>
            <a:r>
              <a:rPr sz="862" b="1" i="0" spc="259">
                <a:solidFill>
                  <a:srgbClr val="FFFFFF"/>
                </a:solidFill>
                <a:latin typeface="Barlow"/>
              </a:rPr>
              <a:t>SEDE ADMINISTRATIVA ORIENTE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5425" y="5172075"/>
            <a:ext cx="1793676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57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Lechería, estado Anzoátegui.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075" y="4872781"/>
            <a:ext cx="865584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88"/>
              </a:lnSpc>
            </a:pPr>
            <a:r>
              <a:rPr sz="862" b="1" i="0" spc="259">
                <a:solidFill>
                  <a:srgbClr val="FFFFFF"/>
                </a:solidFill>
                <a:latin typeface="Barlow"/>
              </a:rPr>
              <a:t>TELÉFONO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4950" y="5172075"/>
            <a:ext cx="2197596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57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+58 212 994.1106 / 1253 / 0987 / 0730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3075" y="5588049"/>
            <a:ext cx="675233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88"/>
              </a:lnSpc>
            </a:pPr>
            <a:r>
              <a:rPr sz="862" b="1" i="0" spc="259">
                <a:solidFill>
                  <a:srgbClr val="FFFFFF"/>
                </a:solidFill>
                <a:latin typeface="Barlow"/>
              </a:rPr>
              <a:t>CORREO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4950" y="5887342"/>
            <a:ext cx="1325463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57"/>
              </a:lnSpc>
            </a:pPr>
            <a:r>
              <a:rPr sz="1087" b="0" i="0">
                <a:solidFill>
                  <a:srgbClr val="FFFFFF"/>
                </a:solidFill>
                <a:latin typeface="Barlow"/>
              </a:rPr>
              <a:t>Info@cvidalsa27.com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