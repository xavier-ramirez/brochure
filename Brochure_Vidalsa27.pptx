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png"/><Relationship Id="rId8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image" Target="../media/image25.jpg"/><Relationship Id="rId8" Type="http://schemas.openxmlformats.org/officeDocument/2006/relationships/image" Target="../media/image26.jpg"/><Relationship Id="rId9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Relationship Id="rId9" Type="http://schemas.openxmlformats.org/officeDocument/2006/relationships/image" Target="../media/image4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image" Target="../media/image61.jpg"/><Relationship Id="rId6" Type="http://schemas.openxmlformats.org/officeDocument/2006/relationships/image" Target="../media/image62.jpg"/><Relationship Id="rId7" Type="http://schemas.openxmlformats.org/officeDocument/2006/relationships/image" Target="../media/image63.jpg"/><Relationship Id="rId8" Type="http://schemas.openxmlformats.org/officeDocument/2006/relationships/image" Target="../media/image64.jpg"/><Relationship Id="rId9" Type="http://schemas.openxmlformats.org/officeDocument/2006/relationships/image" Target="../media/image6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7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image" Target="../media/image82.jpg"/><Relationship Id="rId4" Type="http://schemas.openxmlformats.org/officeDocument/2006/relationships/image" Target="../media/image83.jpg"/><Relationship Id="rId5" Type="http://schemas.openxmlformats.org/officeDocument/2006/relationships/image" Target="../media/image84.jpg"/><Relationship Id="rId6" Type="http://schemas.openxmlformats.org/officeDocument/2006/relationships/image" Target="../media/image85.jpg"/><Relationship Id="rId7" Type="http://schemas.openxmlformats.org/officeDocument/2006/relationships/image" Target="../media/image86.jpg"/><Relationship Id="rId8" Type="http://schemas.openxmlformats.org/officeDocument/2006/relationships/image" Target="../media/image87.jpg"/><Relationship Id="rId9" Type="http://schemas.openxmlformats.org/officeDocument/2006/relationships/image" Target="../media/image7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image" Target="../media/image89.jpg"/><Relationship Id="rId4" Type="http://schemas.openxmlformats.org/officeDocument/2006/relationships/image" Target="../media/image90.jpg"/><Relationship Id="rId5" Type="http://schemas.openxmlformats.org/officeDocument/2006/relationships/image" Target="../media/image91.jpg"/><Relationship Id="rId6" Type="http://schemas.openxmlformats.org/officeDocument/2006/relationships/image" Target="../media/image92.jpg"/><Relationship Id="rId7" Type="http://schemas.openxmlformats.org/officeDocument/2006/relationships/image" Target="../media/image93.jpg"/><Relationship Id="rId8" Type="http://schemas.openxmlformats.org/officeDocument/2006/relationships/image" Target="../media/image9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png"/><Relationship Id="rId4" Type="http://schemas.openxmlformats.org/officeDocument/2006/relationships/image" Target="../media/image97.jpg"/><Relationship Id="rId5" Type="http://schemas.openxmlformats.org/officeDocument/2006/relationships/image" Target="../media/image98.jpg"/><Relationship Id="rId6" Type="http://schemas.openxmlformats.org/officeDocument/2006/relationships/image" Target="../media/image99.png"/><Relationship Id="rId7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1.jpg"/><Relationship Id="rId4" Type="http://schemas.openxmlformats.org/officeDocument/2006/relationships/image" Target="../media/image102.png"/><Relationship Id="rId5" Type="http://schemas.openxmlformats.org/officeDocument/2006/relationships/image" Target="../media/image10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jpg"/><Relationship Id="rId3" Type="http://schemas.openxmlformats.org/officeDocument/2006/relationships/image" Target="../media/image5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i"/>
          <p:cNvSpPr/>
          <p:nvPr/>
        </p:nvSpPr>
        <p:spPr>
          <a:xfrm>
            <a:off x="10270496" y="-537120"/>
            <a:ext cx="2309482" cy="5551140"/>
          </a:xfrm>
          <a:custGeom>
            <a:avLst/>
            <a:gdLst/>
            <a:ahLst/>
            <a:cxnLst/>
            <a:rect l="l" t="t" r="r" b="b"/>
            <a:pathLst>
              <a:path w="2309482" h="5551140">
                <a:moveTo>
                  <a:pt x="2242830" y="0"/>
                </a:moveTo>
                <a:lnTo>
                  <a:pt x="2309482" y="0"/>
                </a:lnTo>
                <a:lnTo>
                  <a:pt x="6665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"/>
          <p:cNvSpPr/>
          <p:nvPr/>
        </p:nvSpPr>
        <p:spPr>
          <a:xfrm>
            <a:off x="10441946" y="-537120"/>
            <a:ext cx="2357107" cy="5551140"/>
          </a:xfrm>
          <a:custGeom>
            <a:avLst/>
            <a:gdLst/>
            <a:ahLst/>
            <a:cxnLst/>
            <a:rect l="l" t="t" r="r" b="b"/>
            <a:pathLst>
              <a:path w="2357107" h="5551140">
                <a:moveTo>
                  <a:pt x="2242845" y="0"/>
                </a:moveTo>
                <a:lnTo>
                  <a:pt x="2357107" y="0"/>
                </a:lnTo>
                <a:lnTo>
                  <a:pt x="11426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"/>
          <p:cNvSpPr/>
          <p:nvPr/>
        </p:nvSpPr>
        <p:spPr>
          <a:xfrm>
            <a:off x="10670546" y="-537120"/>
            <a:ext cx="2290432" cy="5551140"/>
          </a:xfrm>
          <a:custGeom>
            <a:avLst/>
            <a:gdLst/>
            <a:ahLst/>
            <a:cxnLst/>
            <a:rect l="l" t="t" r="r" b="b"/>
            <a:pathLst>
              <a:path w="2290432" h="5551140">
                <a:moveTo>
                  <a:pt x="2242823" y="0"/>
                </a:moveTo>
                <a:lnTo>
                  <a:pt x="2290432" y="0"/>
                </a:lnTo>
                <a:lnTo>
                  <a:pt x="47609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8841746" y="-537120"/>
            <a:ext cx="2309481" cy="5551140"/>
          </a:xfrm>
          <a:custGeom>
            <a:avLst/>
            <a:gdLst/>
            <a:ahLst/>
            <a:cxnLst/>
            <a:rect l="l" t="t" r="r" b="b"/>
            <a:pathLst>
              <a:path w="2309481" h="5551140">
                <a:moveTo>
                  <a:pt x="2242829" y="0"/>
                </a:moveTo>
                <a:lnTo>
                  <a:pt x="2309481" y="0"/>
                </a:lnTo>
                <a:lnTo>
                  <a:pt x="6665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9013196" y="-537120"/>
            <a:ext cx="2357106" cy="5551140"/>
          </a:xfrm>
          <a:custGeom>
            <a:avLst/>
            <a:gdLst/>
            <a:ahLst/>
            <a:cxnLst/>
            <a:rect l="l" t="t" r="r" b="b"/>
            <a:pathLst>
              <a:path w="2357106" h="5551140">
                <a:moveTo>
                  <a:pt x="2242844" y="0"/>
                </a:moveTo>
                <a:lnTo>
                  <a:pt x="2357106" y="0"/>
                </a:lnTo>
                <a:lnTo>
                  <a:pt x="11426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9241796" y="-537120"/>
            <a:ext cx="2290431" cy="5551140"/>
          </a:xfrm>
          <a:custGeom>
            <a:avLst/>
            <a:gdLst/>
            <a:ahLst/>
            <a:cxnLst/>
            <a:rect l="l" t="t" r="r" b="b"/>
            <a:pathLst>
              <a:path w="2290431" h="5551140">
                <a:moveTo>
                  <a:pt x="2242822" y="0"/>
                </a:moveTo>
                <a:lnTo>
                  <a:pt x="2290431" y="0"/>
                </a:lnTo>
                <a:lnTo>
                  <a:pt x="47609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7412996" y="-537120"/>
            <a:ext cx="2309481" cy="5551140"/>
          </a:xfrm>
          <a:custGeom>
            <a:avLst/>
            <a:gdLst/>
            <a:ahLst/>
            <a:cxnLst/>
            <a:rect l="l" t="t" r="r" b="b"/>
            <a:pathLst>
              <a:path w="2309481" h="5551140">
                <a:moveTo>
                  <a:pt x="2242829" y="0"/>
                </a:moveTo>
                <a:lnTo>
                  <a:pt x="2309481" y="0"/>
                </a:lnTo>
                <a:lnTo>
                  <a:pt x="6665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7584446" y="-537120"/>
            <a:ext cx="2357106" cy="5551140"/>
          </a:xfrm>
          <a:custGeom>
            <a:avLst/>
            <a:gdLst/>
            <a:ahLst/>
            <a:cxnLst/>
            <a:rect l="l" t="t" r="r" b="b"/>
            <a:pathLst>
              <a:path w="2357106" h="5551140">
                <a:moveTo>
                  <a:pt x="2242844" y="0"/>
                </a:moveTo>
                <a:lnTo>
                  <a:pt x="2357106" y="0"/>
                </a:lnTo>
                <a:lnTo>
                  <a:pt x="11426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7813046" y="-537120"/>
            <a:ext cx="2290431" cy="5551140"/>
          </a:xfrm>
          <a:custGeom>
            <a:avLst/>
            <a:gdLst/>
            <a:ahLst/>
            <a:cxnLst/>
            <a:rect l="l" t="t" r="r" b="b"/>
            <a:pathLst>
              <a:path w="2290431" h="5551140">
                <a:moveTo>
                  <a:pt x="2242822" y="0"/>
                </a:moveTo>
                <a:lnTo>
                  <a:pt x="2290431" y="0"/>
                </a:lnTo>
                <a:lnTo>
                  <a:pt x="47609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"/>
          <p:cNvSpPr/>
          <p:nvPr/>
        </p:nvSpPr>
        <p:spPr>
          <a:xfrm>
            <a:off x="5984246" y="-537120"/>
            <a:ext cx="2309481" cy="5551140"/>
          </a:xfrm>
          <a:custGeom>
            <a:avLst/>
            <a:gdLst/>
            <a:ahLst/>
            <a:cxnLst/>
            <a:rect l="l" t="t" r="r" b="b"/>
            <a:pathLst>
              <a:path w="2309481" h="5551140">
                <a:moveTo>
                  <a:pt x="2242829" y="0"/>
                </a:moveTo>
                <a:lnTo>
                  <a:pt x="2309481" y="0"/>
                </a:lnTo>
                <a:lnTo>
                  <a:pt x="6665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6155696" y="-537120"/>
            <a:ext cx="2357106" cy="5551140"/>
          </a:xfrm>
          <a:custGeom>
            <a:avLst/>
            <a:gdLst/>
            <a:ahLst/>
            <a:cxnLst/>
            <a:rect l="l" t="t" r="r" b="b"/>
            <a:pathLst>
              <a:path w="2357106" h="5551140">
                <a:moveTo>
                  <a:pt x="2242844" y="0"/>
                </a:moveTo>
                <a:lnTo>
                  <a:pt x="2357106" y="0"/>
                </a:lnTo>
                <a:lnTo>
                  <a:pt x="11426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6384296" y="-537120"/>
            <a:ext cx="2290431" cy="5551140"/>
          </a:xfrm>
          <a:custGeom>
            <a:avLst/>
            <a:gdLst/>
            <a:ahLst/>
            <a:cxnLst/>
            <a:rect l="l" t="t" r="r" b="b"/>
            <a:pathLst>
              <a:path w="2290431" h="5551140">
                <a:moveTo>
                  <a:pt x="2242822" y="0"/>
                </a:moveTo>
                <a:lnTo>
                  <a:pt x="2290431" y="0"/>
                </a:lnTo>
                <a:lnTo>
                  <a:pt x="47609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4555496" y="-537120"/>
            <a:ext cx="2309481" cy="5551140"/>
          </a:xfrm>
          <a:custGeom>
            <a:avLst/>
            <a:gdLst/>
            <a:ahLst/>
            <a:cxnLst/>
            <a:rect l="l" t="t" r="r" b="b"/>
            <a:pathLst>
              <a:path w="2309481" h="5551140">
                <a:moveTo>
                  <a:pt x="2242829" y="0"/>
                </a:moveTo>
                <a:lnTo>
                  <a:pt x="2309481" y="0"/>
                </a:lnTo>
                <a:lnTo>
                  <a:pt x="6665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4726946" y="-537120"/>
            <a:ext cx="2357106" cy="5551140"/>
          </a:xfrm>
          <a:custGeom>
            <a:avLst/>
            <a:gdLst/>
            <a:ahLst/>
            <a:cxnLst/>
            <a:rect l="l" t="t" r="r" b="b"/>
            <a:pathLst>
              <a:path w="2357106" h="5551140">
                <a:moveTo>
                  <a:pt x="2242844" y="0"/>
                </a:moveTo>
                <a:lnTo>
                  <a:pt x="2357106" y="0"/>
                </a:lnTo>
                <a:lnTo>
                  <a:pt x="114262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4955546" y="-537120"/>
            <a:ext cx="2290431" cy="5551140"/>
          </a:xfrm>
          <a:custGeom>
            <a:avLst/>
            <a:gdLst/>
            <a:ahLst/>
            <a:cxnLst/>
            <a:rect l="l" t="t" r="r" b="b"/>
            <a:pathLst>
              <a:path w="2290431" h="5551140">
                <a:moveTo>
                  <a:pt x="2242822" y="0"/>
                </a:moveTo>
                <a:lnTo>
                  <a:pt x="2290431" y="0"/>
                </a:lnTo>
                <a:lnTo>
                  <a:pt x="47609" y="5551140"/>
                </a:lnTo>
                <a:lnTo>
                  <a:pt x="0" y="555114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um"/>
          <p:cNvSpPr/>
          <p:nvPr/>
        </p:nvSpPr>
        <p:spPr>
          <a:xfrm>
            <a:off x="866295" y="4972050"/>
            <a:ext cx="502509" cy="238125"/>
          </a:xfrm>
          <a:custGeom>
            <a:avLst/>
            <a:gdLst/>
            <a:ahLst/>
            <a:cxnLst/>
            <a:rect l="l" t="t" r="r" b="b"/>
            <a:pathLst>
              <a:path w="502509" h="238125">
                <a:moveTo>
                  <a:pt x="95586" y="0"/>
                </a:moveTo>
                <a:lnTo>
                  <a:pt x="502509" y="0"/>
                </a:lnTo>
                <a:lnTo>
                  <a:pt x="40692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um"/>
          <p:cNvSpPr/>
          <p:nvPr/>
        </p:nvSpPr>
        <p:spPr>
          <a:xfrm>
            <a:off x="2457714" y="4972050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um"/>
          <p:cNvSpPr/>
          <p:nvPr/>
        </p:nvSpPr>
        <p:spPr>
          <a:xfrm>
            <a:off x="4438468" y="4972050"/>
            <a:ext cx="528554" cy="238125"/>
          </a:xfrm>
          <a:custGeom>
            <a:avLst/>
            <a:gdLst/>
            <a:ahLst/>
            <a:cxnLst/>
            <a:rect l="l" t="t" r="r" b="b"/>
            <a:pathLst>
              <a:path w="528554" h="238125">
                <a:moveTo>
                  <a:pt x="96891" y="0"/>
                </a:moveTo>
                <a:lnTo>
                  <a:pt x="528554" y="0"/>
                </a:lnTo>
                <a:lnTo>
                  <a:pt x="43166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logo" descr="foto_0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476750"/>
          </a:xfrm>
          <a:prstGeom prst="rect">
            <a:avLst/>
          </a:prstGeom>
        </p:spPr>
      </p:pic>
      <p:sp>
        <p:nvSpPr>
          <p:cNvPr id="22" name="i"/>
          <p:cNvSpPr/>
          <p:nvPr/>
        </p:nvSpPr>
        <p:spPr>
          <a:xfrm>
            <a:off x="-258838" y="-358080"/>
            <a:ext cx="908201" cy="5192910"/>
          </a:xfrm>
          <a:custGeom>
            <a:avLst/>
            <a:gdLst/>
            <a:ahLst/>
            <a:cxnLst/>
            <a:rect l="l" t="t" r="r" b="b"/>
            <a:pathLst>
              <a:path w="908201" h="5192910">
                <a:moveTo>
                  <a:pt x="822449" y="0"/>
                </a:moveTo>
                <a:lnTo>
                  <a:pt x="908201" y="0"/>
                </a:lnTo>
                <a:lnTo>
                  <a:pt x="85752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"/>
          <p:cNvSpPr/>
          <p:nvPr/>
        </p:nvSpPr>
        <p:spPr>
          <a:xfrm>
            <a:off x="-30238" y="-358080"/>
            <a:ext cx="870101" cy="5192910"/>
          </a:xfrm>
          <a:custGeom>
            <a:avLst/>
            <a:gdLst/>
            <a:ahLst/>
            <a:cxnLst/>
            <a:rect l="l" t="t" r="r" b="b"/>
            <a:pathLst>
              <a:path w="870101" h="5192910">
                <a:moveTo>
                  <a:pt x="822460" y="0"/>
                </a:moveTo>
                <a:lnTo>
                  <a:pt x="870101" y="0"/>
                </a:lnTo>
                <a:lnTo>
                  <a:pt x="47641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i"/>
          <p:cNvSpPr/>
          <p:nvPr/>
        </p:nvSpPr>
        <p:spPr>
          <a:xfrm>
            <a:off x="-66348" y="4286250"/>
            <a:ext cx="523222" cy="2762250"/>
          </a:xfrm>
          <a:custGeom>
            <a:avLst/>
            <a:gdLst/>
            <a:ahLst/>
            <a:cxnLst/>
            <a:rect l="l" t="t" r="r" b="b"/>
            <a:pathLst>
              <a:path w="523222" h="2762250">
                <a:moveTo>
                  <a:pt x="437497" y="0"/>
                </a:moveTo>
                <a:lnTo>
                  <a:pt x="523222" y="0"/>
                </a:lnTo>
                <a:lnTo>
                  <a:pt x="857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"/>
          <p:cNvSpPr/>
          <p:nvPr/>
        </p:nvSpPr>
        <p:spPr>
          <a:xfrm>
            <a:off x="162251" y="4286250"/>
            <a:ext cx="485122" cy="2762250"/>
          </a:xfrm>
          <a:custGeom>
            <a:avLst/>
            <a:gdLst/>
            <a:ahLst/>
            <a:cxnLst/>
            <a:rect l="l" t="t" r="r" b="b"/>
            <a:pathLst>
              <a:path w="485122" h="2762250">
                <a:moveTo>
                  <a:pt x="437497" y="0"/>
                </a:moveTo>
                <a:lnTo>
                  <a:pt x="485122" y="0"/>
                </a:lnTo>
                <a:lnTo>
                  <a:pt x="476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sobre las fotos" descr="encima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7275" y="501015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4050" y="5014912"/>
            <a:ext cx="68981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122149"/>
                </a:solidFill>
                <a:latin typeface="Barlow"/>
              </a:rPr>
              <a:t>DISEÑO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8694" y="5010150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4193" y="5014912"/>
            <a:ext cx="105042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122149"/>
                </a:solidFill>
                <a:latin typeface="Barlow"/>
              </a:rPr>
              <a:t>INGENIERÍA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9447" y="5010150"/>
            <a:ext cx="2227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2268" y="5014912"/>
            <a:ext cx="62120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122149"/>
                </a:solidFill>
                <a:latin typeface="Barlow"/>
              </a:rPr>
              <a:t>OBRAS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267450"/>
            <a:ext cx="2569368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50"/>
              </a:lnSpc>
            </a:pPr>
            <a:r>
              <a:rPr sz="1125" b="1" i="0" spc="338">
                <a:solidFill>
                  <a:srgbClr val="4966AD"/>
                </a:solidFill>
                <a:latin typeface="Barlow"/>
              </a:rPr>
              <a:t>BROCHURE CORPORATIVO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una-ice"/>
          <p:cNvSpPr/>
          <p:nvPr/>
        </p:nvSpPr>
        <p:spPr>
          <a:xfrm>
            <a:off x="0" y="3257550"/>
            <a:ext cx="6400800" cy="3600450"/>
          </a:xfrm>
          <a:custGeom>
            <a:avLst/>
            <a:gdLst/>
            <a:ahLst/>
            <a:cxnLst/>
            <a:rect l="l" t="t" r="r" b="b"/>
            <a:pathLst>
              <a:path w="6400800" h="3600450">
                <a:moveTo>
                  <a:pt x="0" y="684085"/>
                </a:moveTo>
                <a:lnTo>
                  <a:pt x="6400800" y="0"/>
                </a:lnTo>
                <a:lnTo>
                  <a:pt x="6400800" y="3600450"/>
                </a:lnTo>
                <a:lnTo>
                  <a:pt x="0" y="36004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squina-navy"/>
          <p:cNvSpPr/>
          <p:nvPr/>
        </p:nvSpPr>
        <p:spPr>
          <a:xfrm>
            <a:off x="0" y="6076950"/>
            <a:ext cx="1447800" cy="781050"/>
          </a:xfrm>
          <a:custGeom>
            <a:avLst/>
            <a:gdLst/>
            <a:ahLst/>
            <a:cxnLst/>
            <a:rect l="l" t="t" r="r" b="b"/>
            <a:pathLst>
              <a:path w="1447800" h="781050">
                <a:moveTo>
                  <a:pt x="0" y="0"/>
                </a:moveTo>
                <a:lnTo>
                  <a:pt x="1447800" y="781050"/>
                </a:lnTo>
                <a:lnTo>
                  <a:pt x="0" y="781050"/>
                </a:lnTo>
                <a:close/>
              </a:path>
            </a:pathLst>
          </a:custGeom>
          <a:solidFill>
            <a:srgbClr val="0C1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762000" y="1475035"/>
            <a:ext cx="4476750" cy="9525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752379" y="1446460"/>
            <a:ext cx="1086041" cy="47625"/>
          </a:xfrm>
          <a:custGeom>
            <a:avLst/>
            <a:gdLst/>
            <a:ahLst/>
            <a:cxnLst/>
            <a:rect l="l" t="t" r="r" b="b"/>
            <a:pathLst>
              <a:path w="1086041" h="47625">
                <a:moveTo>
                  <a:pt x="19242" y="0"/>
                </a:moveTo>
                <a:lnTo>
                  <a:pt x="1086041" y="0"/>
                </a:lnTo>
                <a:lnTo>
                  <a:pt x="1066799" y="47625"/>
                </a:lnTo>
                <a:lnTo>
                  <a:pt x="0" y="47625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uion"/>
          <p:cNvSpPr/>
          <p:nvPr/>
        </p:nvSpPr>
        <p:spPr>
          <a:xfrm>
            <a:off x="790479" y="3403848"/>
            <a:ext cx="1086041" cy="47625"/>
          </a:xfrm>
          <a:custGeom>
            <a:avLst/>
            <a:gdLst/>
            <a:ahLst/>
            <a:cxnLst/>
            <a:rect l="l" t="t" r="r" b="b"/>
            <a:pathLst>
              <a:path w="1086041" h="47625">
                <a:moveTo>
                  <a:pt x="19242" y="0"/>
                </a:moveTo>
                <a:lnTo>
                  <a:pt x="1086041" y="0"/>
                </a:lnTo>
                <a:lnTo>
                  <a:pt x="1066799" y="47625"/>
                </a:lnTo>
                <a:lnTo>
                  <a:pt x="0" y="47625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26050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0C1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24145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22240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20335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"/>
          <p:cNvSpPr/>
          <p:nvPr/>
        </p:nvSpPr>
        <p:spPr>
          <a:xfrm>
            <a:off x="18430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7C8B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16525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96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14620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1271542" y="5981700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3467100" cy="617785"/>
          </a:xfrm>
          <a:prstGeom prst="rect">
            <a:avLst/>
          </a:prstGeom>
        </p:spPr>
      </p:pic>
      <p:pic>
        <p:nvPicPr>
          <p:cNvPr id="17" name="portada_valvulas" descr="foto_02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0"/>
            <a:ext cx="5800725" cy="3276600"/>
          </a:xfrm>
          <a:custGeom>
            <a:avLst/>
            <a:gdLst/>
            <a:ahLst/>
            <a:cxnLst/>
            <a:rect l="l" t="t" r="r" b="b"/>
            <a:pathLst>
              <a:path w="5800725" h="3276600">
                <a:moveTo>
                  <a:pt x="522065" y="0"/>
                </a:moveTo>
                <a:lnTo>
                  <a:pt x="5800725" y="0"/>
                </a:lnTo>
                <a:lnTo>
                  <a:pt x="5800725" y="3276600"/>
                </a:lnTo>
                <a:lnTo>
                  <a:pt x="0" y="3276600"/>
                </a:lnTo>
                <a:close/>
              </a:path>
            </a:pathLst>
          </a:custGeom>
        </p:spPr>
      </p:pic>
      <p:pic>
        <p:nvPicPr>
          <p:cNvPr id="18" name="portada_bombeo" descr="foto_02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275" y="3400425"/>
            <a:ext cx="5800725" cy="3457575"/>
          </a:xfrm>
          <a:custGeom>
            <a:avLst/>
            <a:gdLst/>
            <a:ahLst/>
            <a:cxnLst/>
            <a:rect l="l" t="t" r="r" b="b"/>
            <a:pathLst>
              <a:path w="5800725" h="3457575">
                <a:moveTo>
                  <a:pt x="638080" y="0"/>
                </a:moveTo>
                <a:lnTo>
                  <a:pt x="5800725" y="0"/>
                </a:lnTo>
                <a:lnTo>
                  <a:pt x="5800725" y="3457575"/>
                </a:lnTo>
                <a:lnTo>
                  <a:pt x="116014" y="3457575"/>
                </a:lnTo>
                <a:close/>
              </a:path>
            </a:pathLst>
          </a:custGeom>
        </p:spPr>
      </p:pic>
      <p:sp>
        <p:nvSpPr>
          <p:cNvPr id="19" name="i"/>
          <p:cNvSpPr/>
          <p:nvPr/>
        </p:nvSpPr>
        <p:spPr>
          <a:xfrm>
            <a:off x="5233486" y="-152400"/>
            <a:ext cx="1182101" cy="7162800"/>
          </a:xfrm>
          <a:custGeom>
            <a:avLst/>
            <a:gdLst/>
            <a:ahLst/>
            <a:cxnLst/>
            <a:rect l="l" t="t" r="r" b="b"/>
            <a:pathLst>
              <a:path w="1182101" h="7162800">
                <a:moveTo>
                  <a:pt x="1134476" y="0"/>
                </a:moveTo>
                <a:lnTo>
                  <a:pt x="1182101" y="0"/>
                </a:lnTo>
                <a:lnTo>
                  <a:pt x="47625" y="7162800"/>
                </a:lnTo>
                <a:lnTo>
                  <a:pt x="0" y="716280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"/>
          <p:cNvSpPr/>
          <p:nvPr/>
        </p:nvSpPr>
        <p:spPr>
          <a:xfrm>
            <a:off x="5404936" y="-152400"/>
            <a:ext cx="1220201" cy="7162800"/>
          </a:xfrm>
          <a:custGeom>
            <a:avLst/>
            <a:gdLst/>
            <a:ahLst/>
            <a:cxnLst/>
            <a:rect l="l" t="t" r="r" b="b"/>
            <a:pathLst>
              <a:path w="1220201" h="7162800">
                <a:moveTo>
                  <a:pt x="1134476" y="0"/>
                </a:moveTo>
                <a:lnTo>
                  <a:pt x="1220201" y="0"/>
                </a:lnTo>
                <a:lnTo>
                  <a:pt x="85725" y="7162800"/>
                </a:lnTo>
                <a:lnTo>
                  <a:pt x="0" y="716280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"/>
          <p:cNvSpPr/>
          <p:nvPr/>
        </p:nvSpPr>
        <p:spPr>
          <a:xfrm>
            <a:off x="5614486" y="-152400"/>
            <a:ext cx="1172576" cy="7162800"/>
          </a:xfrm>
          <a:custGeom>
            <a:avLst/>
            <a:gdLst/>
            <a:ahLst/>
            <a:cxnLst/>
            <a:rect l="l" t="t" r="r" b="b"/>
            <a:pathLst>
              <a:path w="1172576" h="7162800">
                <a:moveTo>
                  <a:pt x="1134476" y="0"/>
                </a:moveTo>
                <a:lnTo>
                  <a:pt x="1172576" y="0"/>
                </a:lnTo>
                <a:lnTo>
                  <a:pt x="38100" y="7162800"/>
                </a:lnTo>
                <a:lnTo>
                  <a:pt x="0" y="7162800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obre las fotos" descr="encima_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2000" y="1627435"/>
            <a:ext cx="665261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DISEÑO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4411" y="1627435"/>
            <a:ext cx="13632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7C8BBA"/>
                </a:solidFill>
                <a:latin typeface="Barlow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7888" y="1627435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INGENIERÍA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6474" y="1627435"/>
            <a:ext cx="13632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7C8BBA"/>
                </a:solidFill>
                <a:latin typeface="Barlow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39950" y="1627435"/>
            <a:ext cx="59947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OBRAS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2160835"/>
            <a:ext cx="4726037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244"/>
              </a:lnSpc>
            </a:pPr>
            <a:r>
              <a:rPr sz="3150" b="1" i="0">
                <a:solidFill>
                  <a:srgbClr val="122149"/>
                </a:solidFill>
                <a:latin typeface="Barlow Condensed"/>
              </a:rPr>
              <a:t>Construyendo la infraestructura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572791"/>
            <a:ext cx="2665362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244"/>
              </a:lnSpc>
            </a:pPr>
            <a:r>
              <a:rPr sz="3150" b="1" i="0">
                <a:solidFill>
                  <a:srgbClr val="122149"/>
                </a:solidFill>
                <a:latin typeface="Barlow Condensed"/>
              </a:rPr>
              <a:t>que mueve el país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4042023"/>
            <a:ext cx="4533900" cy="9644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2081"/>
              </a:lnSpc>
            </a:pPr>
            <a:r>
              <a:rPr sz="1125" b="0" i="0">
                <a:solidFill>
                  <a:srgbClr val="FFFFFF"/>
                </a:solidFill>
                <a:latin typeface="Barlow"/>
              </a:rPr>
              <a:t>Desde 2017, sumamos 9 años de experiencia aportando soluciones integrales a la industria civil y petrolera del oriente del país. Nuestro compromiso se mide en resultados: obras entregadas con excelencia, operando siempre con flota propia y personal altamente calificado.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anel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"/>
          <p:cNvSpPr/>
          <p:nvPr/>
        </p:nvSpPr>
        <p:spPr>
          <a:xfrm>
            <a:off x="866295" y="4400550"/>
            <a:ext cx="502509" cy="238125"/>
          </a:xfrm>
          <a:custGeom>
            <a:avLst/>
            <a:gdLst/>
            <a:ahLst/>
            <a:cxnLst/>
            <a:rect l="l" t="t" r="r" b="b"/>
            <a:pathLst>
              <a:path w="502509" h="238125">
                <a:moveTo>
                  <a:pt x="95586" y="0"/>
                </a:moveTo>
                <a:lnTo>
                  <a:pt x="502509" y="0"/>
                </a:lnTo>
                <a:lnTo>
                  <a:pt x="40692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um"/>
          <p:cNvSpPr/>
          <p:nvPr/>
        </p:nvSpPr>
        <p:spPr>
          <a:xfrm>
            <a:off x="4492046" y="4400550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"/>
          <p:cNvSpPr/>
          <p:nvPr/>
        </p:nvSpPr>
        <p:spPr>
          <a:xfrm>
            <a:off x="8117945" y="4400550"/>
            <a:ext cx="528554" cy="238125"/>
          </a:xfrm>
          <a:custGeom>
            <a:avLst/>
            <a:gdLst/>
            <a:ahLst/>
            <a:cxnLst/>
            <a:rect l="l" t="t" r="r" b="b"/>
            <a:pathLst>
              <a:path w="528554" h="238125">
                <a:moveTo>
                  <a:pt x="96891" y="0"/>
                </a:moveTo>
                <a:lnTo>
                  <a:pt x="528554" y="0"/>
                </a:lnTo>
                <a:lnTo>
                  <a:pt x="43166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flota_equipo" descr="foto_03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810000"/>
          </a:xfrm>
          <a:prstGeom prst="rect">
            <a:avLst/>
          </a:prstGeom>
        </p:spPr>
      </p:pic>
      <p:sp>
        <p:nvSpPr>
          <p:cNvPr id="8" name="i"/>
          <p:cNvSpPr/>
          <p:nvPr/>
        </p:nvSpPr>
        <p:spPr>
          <a:xfrm>
            <a:off x="-197597" y="-304800"/>
            <a:ext cx="785720" cy="4419600"/>
          </a:xfrm>
          <a:custGeom>
            <a:avLst/>
            <a:gdLst/>
            <a:ahLst/>
            <a:cxnLst/>
            <a:rect l="l" t="t" r="r" b="b"/>
            <a:pathLst>
              <a:path w="785720" h="4419600">
                <a:moveTo>
                  <a:pt x="699995" y="0"/>
                </a:moveTo>
                <a:lnTo>
                  <a:pt x="785720" y="0"/>
                </a:lnTo>
                <a:lnTo>
                  <a:pt x="85725" y="4419600"/>
                </a:lnTo>
                <a:lnTo>
                  <a:pt x="0" y="44196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31002" y="-304800"/>
            <a:ext cx="747620" cy="4419600"/>
          </a:xfrm>
          <a:custGeom>
            <a:avLst/>
            <a:gdLst/>
            <a:ahLst/>
            <a:cxnLst/>
            <a:rect l="l" t="t" r="r" b="b"/>
            <a:pathLst>
              <a:path w="747620" h="4419600">
                <a:moveTo>
                  <a:pt x="699995" y="0"/>
                </a:moveTo>
                <a:lnTo>
                  <a:pt x="747620" y="0"/>
                </a:lnTo>
                <a:lnTo>
                  <a:pt x="47625" y="4419600"/>
                </a:lnTo>
                <a:lnTo>
                  <a:pt x="0" y="441960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-127588" y="3566219"/>
            <a:ext cx="645702" cy="3535560"/>
          </a:xfrm>
          <a:custGeom>
            <a:avLst/>
            <a:gdLst/>
            <a:ahLst/>
            <a:cxnLst/>
            <a:rect l="l" t="t" r="r" b="b"/>
            <a:pathLst>
              <a:path w="645702" h="3535560">
                <a:moveTo>
                  <a:pt x="559939" y="0"/>
                </a:moveTo>
                <a:lnTo>
                  <a:pt x="645702" y="0"/>
                </a:lnTo>
                <a:lnTo>
                  <a:pt x="85763" y="3535560"/>
                </a:lnTo>
                <a:lnTo>
                  <a:pt x="0" y="35355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101011" y="3566219"/>
            <a:ext cx="607602" cy="3535560"/>
          </a:xfrm>
          <a:custGeom>
            <a:avLst/>
            <a:gdLst/>
            <a:ahLst/>
            <a:cxnLst/>
            <a:rect l="l" t="t" r="r" b="b"/>
            <a:pathLst>
              <a:path w="607602" h="3535560">
                <a:moveTo>
                  <a:pt x="559955" y="0"/>
                </a:moveTo>
                <a:lnTo>
                  <a:pt x="607602" y="0"/>
                </a:lnTo>
                <a:lnTo>
                  <a:pt x="47647" y="3535560"/>
                </a:lnTo>
                <a:lnTo>
                  <a:pt x="0" y="35355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obre las fotos" descr="encima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8750" y="2661195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89795"/>
            <a:ext cx="4499223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Misión, visión y objetivo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7275" y="443865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575" y="4439245"/>
            <a:ext cx="6619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MISIÓN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8225"/>
            <a:ext cx="3187600" cy="1211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2047"/>
              </a:lnSpc>
            </a:pPr>
            <a:r>
              <a:rPr sz="1125" b="0" i="0">
                <a:solidFill>
                  <a:srgbClr val="FFFFFF"/>
                </a:solidFill>
                <a:latin typeface="Barlow"/>
              </a:rPr>
              <a:t>Ser partícipes en el desarrollo del país a través de la elaboración de proyectos y la ejecución de obras civiles, mediante la implementación de los últimos avances e innovación en técnicas de ingeniería y procesos de construcción.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3025" y="4438650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8050" y="4439245"/>
            <a:ext cx="64948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VISIÓN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0150" y="4848225"/>
            <a:ext cx="3187749" cy="9514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2047"/>
              </a:lnSpc>
            </a:pPr>
            <a:r>
              <a:rPr sz="1125" b="0" i="0">
                <a:solidFill>
                  <a:srgbClr val="FFFFFF"/>
                </a:solidFill>
                <a:latin typeface="Barlow"/>
              </a:rPr>
              <a:t>Consolidarnos como referente nacional en la construcción de infraestructura civil y petrolera, manteniendo excelencia operativa y compromiso socioambiental.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925" y="4438650"/>
            <a:ext cx="2227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271" y="4439245"/>
            <a:ext cx="89296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OBJETIVO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6050" y="4848225"/>
            <a:ext cx="3187600" cy="9514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2047"/>
              </a:lnSpc>
            </a:pPr>
            <a:r>
              <a:rPr sz="1125" b="0" i="0">
                <a:solidFill>
                  <a:srgbClr val="FFFFFF"/>
                </a:solidFill>
                <a:latin typeface="Barlow"/>
              </a:rPr>
              <a:t>Ser referentes en calidad, innovación y satisfacción del cliente durante la próxima década, impulsando la transformación del área de construcción civil y petrolera.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50482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762000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62000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762000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762000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ayita"/>
          <p:cNvSpPr/>
          <p:nvPr/>
        </p:nvSpPr>
        <p:spPr>
          <a:xfrm>
            <a:off x="762000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3500437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ayita"/>
          <p:cNvSpPr/>
          <p:nvPr/>
        </p:nvSpPr>
        <p:spPr>
          <a:xfrm>
            <a:off x="3500437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3500437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ayita"/>
          <p:cNvSpPr/>
          <p:nvPr/>
        </p:nvSpPr>
        <p:spPr>
          <a:xfrm>
            <a:off x="3500437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3500437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ayita"/>
          <p:cNvSpPr/>
          <p:nvPr/>
        </p:nvSpPr>
        <p:spPr>
          <a:xfrm>
            <a:off x="6238875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6238875" y="312881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ayita"/>
          <p:cNvSpPr/>
          <p:nvPr/>
        </p:nvSpPr>
        <p:spPr>
          <a:xfrm>
            <a:off x="6238875" y="340116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6238875" y="367352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ayita"/>
          <p:cNvSpPr/>
          <p:nvPr/>
        </p:nvSpPr>
        <p:spPr>
          <a:xfrm>
            <a:off x="8977312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8977312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ayita"/>
          <p:cNvSpPr/>
          <p:nvPr/>
        </p:nvSpPr>
        <p:spPr>
          <a:xfrm>
            <a:off x="8977312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8977312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ayita"/>
          <p:cNvSpPr/>
          <p:nvPr/>
        </p:nvSpPr>
        <p:spPr>
          <a:xfrm>
            <a:off x="8977312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servicio_1_zanja" descr="foto_04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760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24" name="servicio_2_tendido" descr="foto_04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56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25" name="servicio_3_soldadura" descr="foto_04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0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26" name="servicio_4_valvula" descr="foto_04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4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27" name="servicio_5_maquinaria" descr="foto_04_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08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sp>
        <p:nvSpPr>
          <p:cNvPr id="28" name="i"/>
          <p:cNvSpPr/>
          <p:nvPr/>
        </p:nvSpPr>
        <p:spPr>
          <a:xfrm>
            <a:off x="-92596" y="1310729"/>
            <a:ext cx="575717" cy="3093690"/>
          </a:xfrm>
          <a:custGeom>
            <a:avLst/>
            <a:gdLst/>
            <a:ahLst/>
            <a:cxnLst/>
            <a:rect l="l" t="t" r="r" b="b"/>
            <a:pathLst>
              <a:path w="575717" h="3093690">
                <a:moveTo>
                  <a:pt x="490037" y="0"/>
                </a:moveTo>
                <a:lnTo>
                  <a:pt x="575717" y="0"/>
                </a:lnTo>
                <a:lnTo>
                  <a:pt x="85680" y="3093690"/>
                </a:lnTo>
                <a:lnTo>
                  <a:pt x="0" y="309369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"/>
          <p:cNvSpPr/>
          <p:nvPr/>
        </p:nvSpPr>
        <p:spPr>
          <a:xfrm>
            <a:off x="136003" y="1310729"/>
            <a:ext cx="537617" cy="3093690"/>
          </a:xfrm>
          <a:custGeom>
            <a:avLst/>
            <a:gdLst/>
            <a:ahLst/>
            <a:cxnLst/>
            <a:rect l="l" t="t" r="r" b="b"/>
            <a:pathLst>
              <a:path w="537617" h="3093690">
                <a:moveTo>
                  <a:pt x="490019" y="0"/>
                </a:moveTo>
                <a:lnTo>
                  <a:pt x="537617" y="0"/>
                </a:lnTo>
                <a:lnTo>
                  <a:pt x="47598" y="3093690"/>
                </a:lnTo>
                <a:lnTo>
                  <a:pt x="0" y="309369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sobre las fotos" descr="encima_0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28750" y="438150"/>
            <a:ext cx="13535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2A3C78"/>
                </a:solidFill>
                <a:latin typeface="Barlow"/>
              </a:rPr>
              <a:t>QUÉ HACEMOS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66750"/>
            <a:ext cx="3448794" cy="590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017"/>
              </a:lnSpc>
            </a:pPr>
            <a:r>
              <a:rPr sz="3900" b="1" i="0">
                <a:solidFill>
                  <a:srgbClr val="122149"/>
                </a:solidFill>
                <a:latin typeface="Barlow Condensed"/>
              </a:rPr>
              <a:t>Nuestros servicios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1676400"/>
            <a:ext cx="239017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847850"/>
            <a:ext cx="1948011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Construcción de ductos petroleros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550" y="2612677"/>
            <a:ext cx="196884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Soldadura de 3/4″ a 42″ calificada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550" y="2885033"/>
            <a:ext cx="18096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Tubería enterrada y superficial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" y="3157388"/>
            <a:ext cx="230534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Revestimiento y protección de tuberías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550" y="3429744"/>
            <a:ext cx="204445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Ingeniería, topografía y excavación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" y="3702099"/>
            <a:ext cx="177849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Prueba hidrostática y flushing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0437" y="1676400"/>
            <a:ext cx="26357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0437" y="1847850"/>
            <a:ext cx="1932086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Servicios de alquiler de equipos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9987" y="2612677"/>
            <a:ext cx="1625203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Maquinaria pesada y liviana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9987" y="2885033"/>
            <a:ext cx="204608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Izamiento e instalación de equipos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9987" y="3157388"/>
            <a:ext cx="20457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Chuto/batea y lowboy con escoltas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9987" y="3429744"/>
            <a:ext cx="156403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Vacuum y brazo hidráulico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9987" y="3702099"/>
            <a:ext cx="21778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Cortafuegos y estaciones de válvulas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1676400"/>
            <a:ext cx="2613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8875" y="1847850"/>
            <a:ext cx="203596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Ambiente y saneamiento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8425" y="2612677"/>
            <a:ext cx="2095648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Saneamiento de áreas por afectaciones con derrame de crudo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8425" y="3071663"/>
            <a:ext cx="13918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Trasegado con vacuum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8425" y="3344019"/>
            <a:ext cx="205323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Tratamiento y disposición de suelo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8425" y="3616374"/>
            <a:ext cx="2148185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Saneamiento de lagunas a través del dragado de sólidos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77312" y="1676400"/>
            <a:ext cx="26744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7312" y="1847850"/>
            <a:ext cx="173875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Suministro y procura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6862" y="2612677"/>
            <a:ext cx="231948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Válvulas bridadas de compuerta y globo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6862" y="2885033"/>
            <a:ext cx="19175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Bridas, codos, tes y reducciones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6862" y="3157388"/>
            <a:ext cx="162356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Weldolets, niples y tapones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6862" y="3429744"/>
            <a:ext cx="162311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Empacaduras y espárragos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6862" y="3702099"/>
            <a:ext cx="148560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Mangas y revestimientos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76200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stado"/>
          <p:cNvSpPr/>
          <p:nvPr/>
        </p:nvSpPr>
        <p:spPr>
          <a:xfrm>
            <a:off x="2092673" y="2873871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6200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2092673" y="3554313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762000" y="38972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stado"/>
          <p:cNvSpPr/>
          <p:nvPr/>
        </p:nvSpPr>
        <p:spPr>
          <a:xfrm>
            <a:off x="2166790" y="4046934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762000" y="43898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stado"/>
          <p:cNvSpPr/>
          <p:nvPr/>
        </p:nvSpPr>
        <p:spPr>
          <a:xfrm>
            <a:off x="2092673" y="4539555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762000" y="4882455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stado"/>
          <p:cNvSpPr/>
          <p:nvPr/>
        </p:nvSpPr>
        <p:spPr>
          <a:xfrm>
            <a:off x="1806775" y="5032176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762000" y="53750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stado"/>
          <p:cNvSpPr/>
          <p:nvPr/>
        </p:nvSpPr>
        <p:spPr>
          <a:xfrm>
            <a:off x="2092673" y="5524797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762000" y="5867697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stado"/>
          <p:cNvSpPr/>
          <p:nvPr/>
        </p:nvSpPr>
        <p:spPr>
          <a:xfrm>
            <a:off x="2673996" y="6017418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447035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stado"/>
          <p:cNvSpPr/>
          <p:nvPr/>
        </p:nvSpPr>
        <p:spPr>
          <a:xfrm>
            <a:off x="5929909" y="2873871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447035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stado"/>
          <p:cNvSpPr/>
          <p:nvPr/>
        </p:nvSpPr>
        <p:spPr>
          <a:xfrm>
            <a:off x="5929909" y="3366492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4470350" y="370939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stado"/>
          <p:cNvSpPr/>
          <p:nvPr/>
        </p:nvSpPr>
        <p:spPr>
          <a:xfrm>
            <a:off x="5929909" y="3859113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4470350" y="42020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stado"/>
          <p:cNvSpPr/>
          <p:nvPr/>
        </p:nvSpPr>
        <p:spPr>
          <a:xfrm>
            <a:off x="5929909" y="4351734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4470350" y="46946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stado"/>
          <p:cNvSpPr/>
          <p:nvPr/>
        </p:nvSpPr>
        <p:spPr>
          <a:xfrm>
            <a:off x="5929909" y="4844355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817870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stado"/>
          <p:cNvSpPr/>
          <p:nvPr/>
        </p:nvSpPr>
        <p:spPr>
          <a:xfrm>
            <a:off x="9627246" y="2873871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817870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stado"/>
          <p:cNvSpPr/>
          <p:nvPr/>
        </p:nvSpPr>
        <p:spPr>
          <a:xfrm>
            <a:off x="9583491" y="3366492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ayita"/>
          <p:cNvSpPr/>
          <p:nvPr/>
        </p:nvSpPr>
        <p:spPr>
          <a:xfrm>
            <a:off x="8178700" y="370939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stado"/>
          <p:cNvSpPr/>
          <p:nvPr/>
        </p:nvSpPr>
        <p:spPr>
          <a:xfrm>
            <a:off x="9638259" y="3859113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ayita"/>
          <p:cNvSpPr/>
          <p:nvPr/>
        </p:nvSpPr>
        <p:spPr>
          <a:xfrm>
            <a:off x="8178700" y="42020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stado"/>
          <p:cNvSpPr/>
          <p:nvPr/>
        </p:nvSpPr>
        <p:spPr>
          <a:xfrm>
            <a:off x="9638259" y="4351734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ayita"/>
          <p:cNvSpPr/>
          <p:nvPr/>
        </p:nvSpPr>
        <p:spPr>
          <a:xfrm>
            <a:off x="8178700" y="46946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stado"/>
          <p:cNvSpPr/>
          <p:nvPr/>
        </p:nvSpPr>
        <p:spPr>
          <a:xfrm>
            <a:off x="9638259" y="4844355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ayita"/>
          <p:cNvSpPr/>
          <p:nvPr/>
        </p:nvSpPr>
        <p:spPr>
          <a:xfrm>
            <a:off x="8178700" y="5187255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stado"/>
          <p:cNvSpPr/>
          <p:nvPr/>
        </p:nvSpPr>
        <p:spPr>
          <a:xfrm>
            <a:off x="9638259" y="5336976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ayita"/>
          <p:cNvSpPr/>
          <p:nvPr/>
        </p:nvSpPr>
        <p:spPr>
          <a:xfrm>
            <a:off x="8178700" y="56798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stado"/>
          <p:cNvSpPr/>
          <p:nvPr/>
        </p:nvSpPr>
        <p:spPr>
          <a:xfrm>
            <a:off x="9638259" y="5829597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ortafolio_oleoducto" descr="foto_05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809750"/>
          </a:xfrm>
          <a:prstGeom prst="rect">
            <a:avLst/>
          </a:prstGeom>
        </p:spPr>
      </p:pic>
      <p:sp>
        <p:nvSpPr>
          <p:cNvPr id="42" name="i"/>
          <p:cNvSpPr/>
          <p:nvPr/>
        </p:nvSpPr>
        <p:spPr>
          <a:xfrm>
            <a:off x="-13841" y="-144660"/>
            <a:ext cx="418208" cy="2099220"/>
          </a:xfrm>
          <a:custGeom>
            <a:avLst/>
            <a:gdLst/>
            <a:ahLst/>
            <a:cxnLst/>
            <a:rect l="l" t="t" r="r" b="b"/>
            <a:pathLst>
              <a:path w="418208" h="2099220">
                <a:moveTo>
                  <a:pt x="332362" y="0"/>
                </a:moveTo>
                <a:lnTo>
                  <a:pt x="418208" y="0"/>
                </a:lnTo>
                <a:lnTo>
                  <a:pt x="85846" y="2099220"/>
                </a:lnTo>
                <a:lnTo>
                  <a:pt x="0" y="209922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"/>
          <p:cNvSpPr/>
          <p:nvPr/>
        </p:nvSpPr>
        <p:spPr>
          <a:xfrm>
            <a:off x="214758" y="-144660"/>
            <a:ext cx="380108" cy="2099220"/>
          </a:xfrm>
          <a:custGeom>
            <a:avLst/>
            <a:gdLst/>
            <a:ahLst/>
            <a:cxnLst/>
            <a:rect l="l" t="t" r="r" b="b"/>
            <a:pathLst>
              <a:path w="380108" h="2099220">
                <a:moveTo>
                  <a:pt x="332409" y="0"/>
                </a:moveTo>
                <a:lnTo>
                  <a:pt x="380108" y="0"/>
                </a:lnTo>
                <a:lnTo>
                  <a:pt x="47699" y="2099220"/>
                </a:lnTo>
                <a:lnTo>
                  <a:pt x="0" y="209922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sobre las fotos" descr="encima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28750" y="660945"/>
            <a:ext cx="121175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PORTAFOLIO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889545"/>
            <a:ext cx="3716387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proyectos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4226" y="990600"/>
            <a:ext cx="127337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944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ACTUALIZADO 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004" y="1143000"/>
            <a:ext cx="1905595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1979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1 de septiembre de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" y="2266950"/>
            <a:ext cx="129510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27"/>
              </a:lnSpc>
            </a:pPr>
            <a:r>
              <a:rPr sz="900" b="1" i="0" spc="270">
                <a:solidFill>
                  <a:srgbClr val="122149"/>
                </a:solidFill>
                <a:latin typeface="Barlow"/>
              </a:rPr>
              <a:t>CONSTRUCCIÓN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8362" y="2143125"/>
            <a:ext cx="280987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075" y="2647950"/>
            <a:ext cx="261431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× 17 km — Planta PDD – COPEM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1075" y="2892921"/>
            <a:ext cx="113481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11139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1075" y="3140571"/>
            <a:ext cx="2899916" cy="37832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Completación mecánica Oleoducto de 42″ — PTO–TAEJ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075" y="3573363"/>
            <a:ext cx="113481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1139" y="3573363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1075" y="3821013"/>
            <a:ext cx="237752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× 14 km — Planta FF–Km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1075" y="4065984"/>
            <a:ext cx="120893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85255" y="4065984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1075" y="4313634"/>
            <a:ext cx="2586335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Diluenducto 20″ × 11,20 km — Palmichal–PTO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1075" y="4558605"/>
            <a:ext cx="113481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11139" y="4558605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075" y="4806255"/>
            <a:ext cx="203016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1075" y="5051226"/>
            <a:ext cx="84891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PETROMONAGAS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25240" y="5051226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1075" y="5298876"/>
            <a:ext cx="310291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Tubería 12″ agua salada × 29,6 km — COPEM – El Salto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075" y="5543847"/>
            <a:ext cx="113481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11139" y="5543847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1075" y="5791497"/>
            <a:ext cx="244881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Veladero · Tramo I (5,9 km)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1075" y="6036468"/>
            <a:ext cx="1716137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Coordinación Operacional Faja (COF)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92462" y="6036468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70350" y="2266950"/>
            <a:ext cx="885378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27"/>
              </a:lnSpc>
            </a:pPr>
            <a:r>
              <a:rPr sz="900" b="1" i="0" spc="270">
                <a:solidFill>
                  <a:srgbClr val="122149"/>
                </a:solidFill>
                <a:latin typeface="Barlow"/>
              </a:rPr>
              <a:t>AMBIENTE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08974" y="2143125"/>
            <a:ext cx="288726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89425" y="2647950"/>
            <a:ext cx="266566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89425" y="2892921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48375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9425" y="3140571"/>
            <a:ext cx="245536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Dragado SIAE COMOR — lagunas A, B, C y 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89425" y="3385542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48375" y="3385542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89425" y="3633192"/>
            <a:ext cx="210353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Saneamiento Estación de Flujo O-16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89425" y="3878163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48375" y="3878163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9425" y="4125813"/>
            <a:ext cx="2247751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Saneamiento Laguna de Curataquiche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89425" y="4370784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48375" y="4370784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89425" y="4618434"/>
            <a:ext cx="256713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Movilización y trasegado de crudo — COMOR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9425" y="4863405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48375" y="4863405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78700" y="2266950"/>
            <a:ext cx="192866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27"/>
              </a:lnSpc>
            </a:pPr>
            <a:r>
              <a:rPr sz="900" b="1" i="0" spc="270">
                <a:solidFill>
                  <a:srgbClr val="122149"/>
                </a:solidFill>
                <a:latin typeface="Barlow"/>
              </a:rPr>
              <a:t>SERVICIOS Y ALQUILER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25212" y="2143125"/>
            <a:ext cx="280987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97775" y="2647950"/>
            <a:ext cx="262011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Mantenimiento de equipos de bombeo — FPO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97775" y="2892921"/>
            <a:ext cx="125268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Gestión de Materiales DAL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45712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97775" y="3140571"/>
            <a:ext cx="268262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Alquiler de maquinaria — SINOVENSA Morichal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97775" y="3385542"/>
            <a:ext cx="120893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01956" y="3385542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97775" y="3633192"/>
            <a:ext cx="194250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97775" y="3878163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756725" y="3878163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97775" y="4125813"/>
            <a:ext cx="1345703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97775" y="4370784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56725" y="4370784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97775" y="4618434"/>
            <a:ext cx="100711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97775" y="4863405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56725" y="4863405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97775" y="5111055"/>
            <a:ext cx="228882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97775" y="5356026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56725" y="5356026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97775" y="5603676"/>
            <a:ext cx="2745878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Alquiler de equipos — XP Extrapesado Morichal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97775" y="5848647"/>
            <a:ext cx="126369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56725" y="5848647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717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oleo30x17_1" descr="foto_06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oleo30x17_2" descr="foto_0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oleo30x17_3" descr="foto_06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oleo42_1" descr="foto_06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oleo42_2" descr="foto_06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oleo42_3" descr="foto_06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1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233258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17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18747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PDD – Rebombeo El Aceital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Construcción de las obras civiles, mecánicas, eléctricas e instrumentación del Oleoducto de 30″ × 17 km, desde la Planta Desaladora Deshidratadora PDD hasta el rebombeo El Aceital, Morichal, estado Monagas. Además de la aplicación y puesta en funcionamiento del sistema de protección catódica.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1846808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de 42″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205516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PTO – TAEJ · Completación mecánica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Completación mecánica de la tubería de 42″ desde el Patio de Tanques Oficina (PTO) hasta el Terminal de Almacenamiento y Embarque Jose (TAEJ), así como la construcción de 07 tanquillas de concreto en válvulas de retención de 42″.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2168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oleo30x14_1" descr="foto_07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oleo30x14_2" descr="foto_07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oleo30x14_3" descr="foto_07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tub12_1" descr="foto_07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tub12_2" descr="foto_07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tub12_3" descr="foto_07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235460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14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2307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FF – Km 0 · PETROLERA SINOVENSA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Construcción del Oleoducto de 30″ × 14 km desde la Estación de Flujo (FF) hasta el Km 0, PETROLERA SINOVENSA, necesarios para incrementar la producción desde 105 MBPD hasta 330 MBPD de crudo extrapesado. Así como la instalación y puesta en marcha del sistema de protección catódica.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0634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3810744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Tubería 12″ × 29,6 km — agua salada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189860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COPEM – Pozos inyectores El Salto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Construcción de 29,60 km de tubería de 12″ de inyección de agua salada desde COPEM PETROMONAGAS hasta los pozos inyectores El Salto. Así como la instalación y puesta en marcha del sistema de protección catódica de tuberías enterradas.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568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1127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veladero_1" descr="foto_08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veladero_2" descr="foto_08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veladero_3" descr="foto_08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diluen20_1" descr="foto_08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diluen20_2" descr="foto_08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diluen20_3" descr="foto_08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034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25745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5,90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212690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Tramo I del Oleoducto de 30″ Veladero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Reemplazo del Tramo I del Oleoducto de 30″ × 5,9 km, a fin de garantizar la confiabilidad y continuidad operacional, así como la integridad mecánica del oleoducto de 30″, en el cumplimiento del transporte de Diluente Mesa 30 para la División Carabobo, Distrito Morichal y empresas mixtas, y la formulación de la segregación Merey 16.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308446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Coordinación Operacional Faja (COF)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54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9592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28031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Diluenducto 20″ × 11,20 km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321379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Palmichal – Patio de Tanques Oficina · El Tigre, Anzoátegui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Reemplazo de 10,5 km del Diluenducto de 20″ Palmichal – PTO, con perforación direccional bajo suelo en la Troncal 9 de la autopista Gran Mariscal de Ayacucho, con el propósito de restablecer la integridad del sistema de transporte e incrementar la presión de bombeo hasta 840 psi, permitiendo el manejo de nafta con un caudal promedio de 180 MBD de diluente.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macolla15_1" descr="foto_09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macolla15_2" descr="foto_09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macolla15_3" descr="foto_09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valvulas_1" descr="foto_09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valvulas_2" descr="foto_09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valvulas_3" descr="foto_09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360893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23319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PETROMONAGAS (COPEM)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Construcción de la vialidad de acceso y plataforma de perforación para la Macolla 15 del Centro Operativo PETROMONAGAS, involucrando movimientos de tierra, conformación de taludes, construcción de 39 cellars y canales de drenaje perimetrales con pases reforzados.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372641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PETROMONAGAS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372367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Corredores de tuberías principales de la Faja Petrolífera del Orinoco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Limpieza y mantenimiento de estaciones de válvulas en corredores de tuberías, cortafuegos perimetrales, señalización de áreas y pintura de puentes y estructuras metálicas.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omorsuelo_1" descr="foto_10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comorsuelo_2" descr="foto_10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comorsuelo_3" descr="foto_10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dragado_1" descr="foto_10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dragado_2" descr="foto_10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dragado_3" descr="foto_10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473571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2349103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 · fases II, III y 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Remoción, recolección y recuperación de crudo sobrenadante, así como la carga, transporte, tratamiento y disposición final del suelo contaminado en instalaciones de PDVSA autorizadas por el MINEC, generado en las actividades de saneamiento realizadas en el Centro Operativo de Morichal (COMOR), División Carabobo.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Dragado lagunas del SIAE COMOR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1545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Lagunas A, B, C y D del SIAE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Saneamiento y posterior mantenimiento de las cuatro lagunas A, B, C y D del SIAE del Centro Operacional Morichal (COMOR), en la División Carabobo, a través del dragado de sólidos.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2317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trasegado_1" descr="foto_11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trasegado_2" descr="foto_11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trasegado_3" descr="foto_11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ef016_1" descr="foto_11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ef016_2" descr="foto_11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ef016_3" descr="foto_11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358869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Movilización y trasegado de crudo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14686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Movilización y trasegado de crudo en el Sistema de Inyección y Efluentes (SIAE) ubicado en las instalaciones del Centro Operativo COMOR, con equipos de vacío tipo vacuum de mínimo 160 BLS.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07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2323951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Estación de Flujo O-16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210279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O-16 · División Carabobo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Operación de maquinaria pesada para realizar los trabajos de saneamiento de áreas afectadas por derrames de hidrocarburos: remoción, estabilización, homogeneización, apilamiento y tratamiento in situ del material impactado, contención y recolección de fluidos petrolizados, nivelación de terreno y carga de sólidos.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2357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transv_1" descr="foto_12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transv_2" descr="foto_12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transv_3" descr="foto_12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chuto_1" descr="foto_12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chuto_2" descr="foto_12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chuto_3" descr="foto_12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237395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20682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Equipos para la producción de la FPO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Servicio de movimientos relacionados con remoción de suelos, carga, descarga y traslado de materiales logísticos y misceláneos, contemplados en las operaciones de rehabilitación y reacondicionamiento de pozos, subestaciones eléctricas, estaciones de flujo y descarga, asociados a las labores operacionales de las divisiones pertenecientes a la Dirección Ejecutiva de Producción FPO.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667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0823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175423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2574428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Movilización de equipos y materiales de la FPO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Movilización de todos los materiales y equipos (transformadores, generadores, plantas), misceláneos y lubricantes, desde las instalaciones PDVSA a nivel nacional hasta las áreas operacionales de las divisiones Carabobo, Ayacucho, Junín y Boyacá, adscritas a la Dirección Adjunta de Logística perteneciente a la Dirección Ejecutiva de Producción FPO HC.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717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bombeo_1" descr="foto_13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bombeo_2" descr="foto_13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bombeo_3" descr="foto_13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sinovensa_1" descr="foto_13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sinovensa_2" descr="foto_13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sinovensa_3" descr="foto_13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1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397475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Mantenimiento de equipos de bombeo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29585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Áreas operacionales de la Faja Petrolífera del Orinoco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Reparación de bombas marca Bornemann, Warren, Sulzer y Flowserve, utilizadas para el transporte de fluidos en superficie y ubicadas en instalaciones pertenecientes a la Faja Petrolífera del Orinoco.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06525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Gestión de Materiales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384556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maquinaria — SINOVENSA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218241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Activación de pozos, División Carabobo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Servicios de maquinaria pesada para realizar actividades operacionales que contribuyan con la activación de pozos en la División Carabobo.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16107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1364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ortafuego_1" descr="foto_14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cortafuego_2" descr="foto_14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cortafuego_3" descr="foto_14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xpmorichal_1" descr="foto_14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xpmorichal_2" descr="foto_14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xpmorichal_3" descr="foto_14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552700"/>
            <a:ext cx="4075955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2961233"/>
            <a:ext cx="8630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Divisiones FPO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Construcción y mantenimiento de cortafuegos en corredores de tubería y líneas eléctricas de oleoductos y diluenductos de la Faja. Incluyendo corrección de filtraciones por soldadura y encapsulamiento de grampas apernadas.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042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572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552700"/>
            <a:ext cx="353645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equipos — XP Morichal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2961233"/>
            <a:ext cx="290244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Unidad de Producción Extrapesado, Distrito Morichal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375719"/>
            <a:ext cx="548640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612"/>
              </a:lnSpc>
            </a:pPr>
            <a:r>
              <a:rPr sz="937" b="0" i="0">
                <a:solidFill>
                  <a:srgbClr val="3E4A63"/>
                </a:solidFill>
                <a:latin typeface="Barlow"/>
              </a:rPr>
              <a:t>Servicios para acondicionamiento y adecuación de vías de acceso y locaciones, los cuales son indispensables para el óptimo funcionamiento y operación de las unidades de producción de la División Carabobo.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24968" y="30289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4015978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62650"/>
            <a:ext cx="3810000" cy="628650"/>
          </a:xfrm>
          <a:custGeom>
            <a:avLst/>
            <a:gdLst/>
            <a:ahLst/>
            <a:cxnLst/>
            <a:rect l="l" t="t" r="r" b="b"/>
            <a:pathLst>
              <a:path w="3810000" h="628650">
                <a:moveTo>
                  <a:pt x="0" y="0"/>
                </a:moveTo>
                <a:lnTo>
                  <a:pt x="3810000" y="0"/>
                </a:lnTo>
                <a:lnTo>
                  <a:pt x="38100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urataqui_1" descr="foto_15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571750"/>
          </a:xfrm>
          <a:prstGeom prst="rect">
            <a:avLst/>
          </a:prstGeom>
        </p:spPr>
      </p:pic>
      <p:pic>
        <p:nvPicPr>
          <p:cNvPr id="7" name="curataqui_2" descr="foto_15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0" y="2876550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8" name="curataqui_3" descr="foto_15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2876550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9" name="curataqui_4" descr="foto_15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0200" y="4810125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0" name="curataqui_5" descr="foto_15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0" y="4810125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1" name="sobre las fotos" descr="encima_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850" y="2381250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100" y="3043237"/>
            <a:ext cx="45288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433" y="30480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100" y="3267075"/>
            <a:ext cx="3253531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122149"/>
                </a:solidFill>
                <a:latin typeface="Barlow Condensed"/>
              </a:rPr>
              <a:t>Laguna de Curataquiche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" y="3763565"/>
            <a:ext cx="216262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y restauración ambiental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4187576"/>
            <a:ext cx="4552950" cy="12677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741"/>
              </a:lnSpc>
            </a:pPr>
            <a:r>
              <a:rPr sz="1012" b="0" i="0">
                <a:solidFill>
                  <a:srgbClr val="3E4A63"/>
                </a:solidFill>
                <a:latin typeface="Barlow"/>
              </a:rPr>
              <a:t>Saneamiento y restauración de la Laguna de Curataquiche, progresiva 15+000 del Oleoducto de 36″, desarrollando actividades de remoción de capa de hidrocarburos con barreras oleofílicas y material particulado; estabilización mecánica, carga y transporte del material contaminado; reforestación del área, toma y análisis de muestras en la laguna, ejecutadas en las diferentes fases del proceso de saneamiento.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60864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" y="62198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48577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C3C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flota_1" descr="foto_16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86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5" name="flota_2" descr="foto_1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6" name="flota_3" descr="foto_16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7" name="flota_4" descr="foto_16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sp>
        <p:nvSpPr>
          <p:cNvPr id="8" name="i"/>
          <p:cNvSpPr/>
          <p:nvPr/>
        </p:nvSpPr>
        <p:spPr>
          <a:xfrm>
            <a:off x="-324462" y="-415230"/>
            <a:ext cx="1039450" cy="6021585"/>
          </a:xfrm>
          <a:custGeom>
            <a:avLst/>
            <a:gdLst/>
            <a:ahLst/>
            <a:cxnLst/>
            <a:rect l="l" t="t" r="r" b="b"/>
            <a:pathLst>
              <a:path w="1039450" h="6021585">
                <a:moveTo>
                  <a:pt x="953701" y="0"/>
                </a:moveTo>
                <a:lnTo>
                  <a:pt x="1039450" y="0"/>
                </a:lnTo>
                <a:lnTo>
                  <a:pt x="85749" y="6021585"/>
                </a:lnTo>
                <a:lnTo>
                  <a:pt x="0" y="602158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95862" y="-415230"/>
            <a:ext cx="1001350" cy="6021585"/>
          </a:xfrm>
          <a:custGeom>
            <a:avLst/>
            <a:gdLst/>
            <a:ahLst/>
            <a:cxnLst/>
            <a:rect l="l" t="t" r="r" b="b"/>
            <a:pathLst>
              <a:path w="1001350" h="6021585">
                <a:moveTo>
                  <a:pt x="953711" y="0"/>
                </a:moveTo>
                <a:lnTo>
                  <a:pt x="1001350" y="0"/>
                </a:lnTo>
                <a:lnTo>
                  <a:pt x="47639" y="6021585"/>
                </a:lnTo>
                <a:lnTo>
                  <a:pt x="0" y="6021585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bre las fotos" descr="encima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8750" y="419100"/>
            <a:ext cx="13982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C3CCE2"/>
                </a:solidFill>
                <a:latin typeface="Barlow"/>
              </a:rPr>
              <a:t>FLOTA PROPIA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57225"/>
            <a:ext cx="4635996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244"/>
              </a:lnSpc>
            </a:pPr>
            <a:r>
              <a:rPr sz="3150" b="1" i="0">
                <a:solidFill>
                  <a:srgbClr val="FFFFFF"/>
                </a:solidFill>
                <a:latin typeface="Barlow Condensed"/>
              </a:rPr>
              <a:t>Una flota que no para de crecer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288256"/>
            <a:ext cx="5219700" cy="66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935"/>
              </a:lnSpc>
            </a:pPr>
            <a:r>
              <a:rPr sz="1087" b="0" i="0">
                <a:solidFill>
                  <a:srgbClr val="C6CDDE"/>
                </a:solidFill>
                <a:latin typeface="Barlow"/>
              </a:rPr>
              <a:t>Respaldamos cada obra con una flota 100% propia y en constante expansión. Tras la exitosa incorporación de equipos en 2025, este 2026 sumaremos nueva maquinaria para seguir garantizando total autonomía en los proyectos más exigentes.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285750"/>
            <a:ext cx="1018430" cy="1009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5940"/>
              </a:lnSpc>
            </a:pPr>
            <a:r>
              <a:rPr sz="6600" b="1" i="0" spc="-66">
                <a:solidFill>
                  <a:srgbClr val="FFFFFF"/>
                </a:solidFill>
                <a:latin typeface="Barlow Condensed"/>
              </a:rPr>
              <a:t>841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1220985"/>
            <a:ext cx="156239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7C8BBA"/>
                </a:solidFill>
                <a:latin typeface="Barlow"/>
              </a:rPr>
              <a:t>EQUIPOS PROPIOS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700" y="1668660"/>
            <a:ext cx="103361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C6CDDE"/>
                </a:solidFill>
                <a:latin typeface="Barlow"/>
              </a:rPr>
              <a:t>44 tipos de 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0761" y="1668660"/>
            <a:ext cx="61049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C6CDDE"/>
                </a:solidFill>
                <a:latin typeface="Barlow"/>
              </a:rPr>
              <a:t>38 marcas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52650"/>
            <a:ext cx="33873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514600"/>
            <a:ext cx="7317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Excavadoras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3250" y="2152650"/>
            <a:ext cx="335160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3250" y="2514600"/>
            <a:ext cx="546794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Vacuums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2250" y="2152650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2250" y="2514600"/>
            <a:ext cx="104507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Tractores de oruga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250" y="2152650"/>
            <a:ext cx="29006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514600"/>
            <a:ext cx="65424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Sidebooms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0100" y="215265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0100" y="2514600"/>
            <a:ext cx="136668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Camiones elevadores 12 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9100" y="215265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9100" y="2514600"/>
            <a:ext cx="1323230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Camiones elevadores 8 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884884"/>
            <a:ext cx="41880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246834"/>
            <a:ext cx="44023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Chutos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250" y="2884884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3250" y="3246834"/>
            <a:ext cx="43308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Bateas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2250" y="2884884"/>
            <a:ext cx="335458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2250" y="3246834"/>
            <a:ext cx="46002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Volteos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1250" y="2884884"/>
            <a:ext cx="334863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1250" y="3246834"/>
            <a:ext cx="64338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Payloaders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0100" y="2884884"/>
            <a:ext cx="333821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0100" y="3246834"/>
            <a:ext cx="52744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Lowboys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9100" y="2884884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09100" y="3246834"/>
            <a:ext cx="100771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Retroexcavadoras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361711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3979068"/>
            <a:ext cx="92392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Motoniveladoras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3250" y="361711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3250" y="3979068"/>
            <a:ext cx="67672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Mototraíllas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2250" y="361711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2250" y="3979068"/>
            <a:ext cx="84117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Camiones grúa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1250" y="361711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3979068"/>
            <a:ext cx="115922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Chutos con brazo 16 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0100" y="3617118"/>
            <a:ext cx="204787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0100" y="3979068"/>
            <a:ext cx="106129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Tractores agrícolas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09100" y="3617118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9100" y="3979068"/>
            <a:ext cx="129525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Otra maquinaria pesada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4473178"/>
            <a:ext cx="418504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835128"/>
            <a:ext cx="68966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Camionetas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3250" y="4473178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3250" y="4835128"/>
            <a:ext cx="126950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Camiones de soldadura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2250" y="447317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2250" y="4835128"/>
            <a:ext cx="69130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Cuadrilleras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91250" y="447317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1250" y="4835128"/>
            <a:ext cx="62448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Autobuses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0100" y="4473178"/>
            <a:ext cx="20582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0100" y="4835128"/>
            <a:ext cx="117276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Camiones de servicio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9100" y="4473178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09100" y="4835128"/>
            <a:ext cx="127486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DCE2EE"/>
                </a:solidFill>
                <a:latin typeface="Barlow"/>
              </a:rPr>
              <a:t>Otros equipos de apoyo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3356223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914400" y="40104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914400" y="43247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914400" y="46391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914400" y="495344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ayita"/>
          <p:cNvSpPr/>
          <p:nvPr/>
        </p:nvSpPr>
        <p:spPr>
          <a:xfrm>
            <a:off x="914400" y="52677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914400" y="55820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ayita"/>
          <p:cNvSpPr/>
          <p:nvPr/>
        </p:nvSpPr>
        <p:spPr>
          <a:xfrm>
            <a:off x="914400" y="58964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lientes_equipo" descr="foto_17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857500"/>
          </a:xfrm>
          <a:prstGeom prst="rect">
            <a:avLst/>
          </a:prstGeom>
        </p:spPr>
      </p:pic>
      <p:pic>
        <p:nvPicPr>
          <p:cNvPr id="12" name="logo_pdvsa" descr="foto_17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pic>
        <p:nvPicPr>
          <p:cNvPr id="13" name="logo_petromonagas" descr="foto_17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pic>
        <p:nvPicPr>
          <p:cNvPr id="14" name="logo_sinovensa" descr="foto_17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sp>
        <p:nvSpPr>
          <p:cNvPr id="15" name="i"/>
          <p:cNvSpPr/>
          <p:nvPr/>
        </p:nvSpPr>
        <p:spPr>
          <a:xfrm>
            <a:off x="-110098" y="-228600"/>
            <a:ext cx="610721" cy="3314700"/>
          </a:xfrm>
          <a:custGeom>
            <a:avLst/>
            <a:gdLst/>
            <a:ahLst/>
            <a:cxnLst/>
            <a:rect l="l" t="t" r="r" b="b"/>
            <a:pathLst>
              <a:path w="610721" h="3314700">
                <a:moveTo>
                  <a:pt x="524996" y="0"/>
                </a:moveTo>
                <a:lnTo>
                  <a:pt x="610721" y="0"/>
                </a:lnTo>
                <a:lnTo>
                  <a:pt x="857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118501" y="-228600"/>
            <a:ext cx="572621" cy="3314700"/>
          </a:xfrm>
          <a:custGeom>
            <a:avLst/>
            <a:gdLst/>
            <a:ahLst/>
            <a:cxnLst/>
            <a:rect l="l" t="t" r="r" b="b"/>
            <a:pathLst>
              <a:path w="572621" h="3314700">
                <a:moveTo>
                  <a:pt x="524996" y="0"/>
                </a:moveTo>
                <a:lnTo>
                  <a:pt x="572621" y="0"/>
                </a:lnTo>
                <a:lnTo>
                  <a:pt x="476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-215088" y="2537519"/>
            <a:ext cx="820701" cy="4640460"/>
          </a:xfrm>
          <a:custGeom>
            <a:avLst/>
            <a:gdLst/>
            <a:ahLst/>
            <a:cxnLst/>
            <a:rect l="l" t="t" r="r" b="b"/>
            <a:pathLst>
              <a:path w="820701" h="4640460">
                <a:moveTo>
                  <a:pt x="734946" y="0"/>
                </a:moveTo>
                <a:lnTo>
                  <a:pt x="820701" y="0"/>
                </a:lnTo>
                <a:lnTo>
                  <a:pt x="85755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3511" y="2537519"/>
            <a:ext cx="782601" cy="4640460"/>
          </a:xfrm>
          <a:custGeom>
            <a:avLst/>
            <a:gdLst/>
            <a:ahLst/>
            <a:cxnLst/>
            <a:rect l="l" t="t" r="r" b="b"/>
            <a:pathLst>
              <a:path w="782601" h="4640460">
                <a:moveTo>
                  <a:pt x="734959" y="0"/>
                </a:moveTo>
                <a:lnTo>
                  <a:pt x="782601" y="0"/>
                </a:lnTo>
                <a:lnTo>
                  <a:pt x="47642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obre las fotos" descr="encima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28750" y="1708695"/>
            <a:ext cx="97943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C3CCE2"/>
                </a:solidFill>
                <a:latin typeface="Barlow"/>
              </a:rPr>
              <a:t>CLIENTES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37295"/>
            <a:ext cx="3343870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clientes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3295650"/>
            <a:ext cx="265241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CONTRATOS DIRECTOS CON SIETE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3507730"/>
            <a:ext cx="33469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GERENCIAS Y COORDINACIONES DE LA FPO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929360"/>
            <a:ext cx="33038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Proyectos Mayores de Producción FPO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243685"/>
            <a:ext cx="27670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Distribución y Transporte Faja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58010"/>
            <a:ext cx="282952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Logística Operacional DAL FPO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72335"/>
            <a:ext cx="284276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Gestión de Materiales DAL-FPO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186660"/>
            <a:ext cx="321185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Tratamiento y Calidad de Fluidos TCF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500985"/>
            <a:ext cx="16110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Perforación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815310"/>
            <a:ext cx="23098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Coordinación Operacional Faja COF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7350" y="3770114"/>
            <a:ext cx="1685329" cy="25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PETRÓLEOS DE VENEZUELA, S.A.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7350" y="485209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350" y="586174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una-ice"/>
          <p:cNvSpPr/>
          <p:nvPr/>
        </p:nvSpPr>
        <p:spPr>
          <a:xfrm>
            <a:off x="0" y="1690389"/>
            <a:ext cx="6667500" cy="2757785"/>
          </a:xfrm>
          <a:custGeom>
            <a:avLst/>
            <a:gdLst/>
            <a:ahLst/>
            <a:cxnLst/>
            <a:rect l="l" t="t" r="r" b="b"/>
            <a:pathLst>
              <a:path w="6667500" h="2757785">
                <a:moveTo>
                  <a:pt x="0" y="717024"/>
                </a:moveTo>
                <a:lnTo>
                  <a:pt x="6667500" y="0"/>
                </a:lnTo>
                <a:lnTo>
                  <a:pt x="6667500" y="2757785"/>
                </a:lnTo>
                <a:lnTo>
                  <a:pt x="0" y="2757785"/>
                </a:lnTo>
                <a:close/>
              </a:path>
            </a:pathLst>
          </a:custGeom>
          <a:solidFill>
            <a:srgbClr val="EB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inea"/>
          <p:cNvSpPr/>
          <p:nvPr/>
        </p:nvSpPr>
        <p:spPr>
          <a:xfrm>
            <a:off x="762000" y="1398835"/>
            <a:ext cx="4476750" cy="9525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52379" y="1370260"/>
            <a:ext cx="1086041" cy="47625"/>
          </a:xfrm>
          <a:custGeom>
            <a:avLst/>
            <a:gdLst/>
            <a:ahLst/>
            <a:cxnLst/>
            <a:rect l="l" t="t" r="r" b="b"/>
            <a:pathLst>
              <a:path w="1086041" h="47625">
                <a:moveTo>
                  <a:pt x="19242" y="0"/>
                </a:moveTo>
                <a:lnTo>
                  <a:pt x="1086041" y="0"/>
                </a:lnTo>
                <a:lnTo>
                  <a:pt x="1066799" y="47625"/>
                </a:lnTo>
                <a:lnTo>
                  <a:pt x="0" y="47625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18430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0C1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16525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14620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12715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logo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33400"/>
            <a:ext cx="3467100" cy="617785"/>
          </a:xfrm>
          <a:prstGeom prst="rect">
            <a:avLst/>
          </a:prstGeom>
        </p:spPr>
      </p:pic>
      <p:pic>
        <p:nvPicPr>
          <p:cNvPr id="11" name="flota_equipo_cierre" descr="foto_18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7975" y="-9525"/>
            <a:ext cx="5534025" cy="4457700"/>
          </a:xfrm>
          <a:custGeom>
            <a:avLst/>
            <a:gdLst/>
            <a:ahLst/>
            <a:cxnLst/>
            <a:rect l="l" t="t" r="r" b="b"/>
            <a:pathLst>
              <a:path w="5534025" h="4457700">
                <a:moveTo>
                  <a:pt x="608743" y="0"/>
                </a:moveTo>
                <a:lnTo>
                  <a:pt x="5534025" y="0"/>
                </a:lnTo>
                <a:lnTo>
                  <a:pt x="5534025" y="4457700"/>
                </a:lnTo>
                <a:lnTo>
                  <a:pt x="110681" y="4457700"/>
                </a:lnTo>
                <a:close/>
              </a:path>
            </a:pathLst>
          </a:custGeom>
        </p:spPr>
      </p:pic>
      <p:sp>
        <p:nvSpPr>
          <p:cNvPr id="12" name="i"/>
          <p:cNvSpPr/>
          <p:nvPr/>
        </p:nvSpPr>
        <p:spPr>
          <a:xfrm>
            <a:off x="5764771" y="-95250"/>
            <a:ext cx="767232" cy="4543425"/>
          </a:xfrm>
          <a:custGeom>
            <a:avLst/>
            <a:gdLst/>
            <a:ahLst/>
            <a:cxnLst/>
            <a:rect l="l" t="t" r="r" b="b"/>
            <a:pathLst>
              <a:path w="767232" h="4543425">
                <a:moveTo>
                  <a:pt x="719607" y="0"/>
                </a:moveTo>
                <a:lnTo>
                  <a:pt x="767232" y="0"/>
                </a:lnTo>
                <a:lnTo>
                  <a:pt x="476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5936221" y="-95250"/>
            <a:ext cx="805332" cy="4543425"/>
          </a:xfrm>
          <a:custGeom>
            <a:avLst/>
            <a:gdLst/>
            <a:ahLst/>
            <a:cxnLst/>
            <a:rect l="l" t="t" r="r" b="b"/>
            <a:pathLst>
              <a:path w="805332" h="4543425">
                <a:moveTo>
                  <a:pt x="719607" y="0"/>
                </a:moveTo>
                <a:lnTo>
                  <a:pt x="805332" y="0"/>
                </a:lnTo>
                <a:lnTo>
                  <a:pt x="857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6145770" y="-95250"/>
            <a:ext cx="757707" cy="4543425"/>
          </a:xfrm>
          <a:custGeom>
            <a:avLst/>
            <a:gdLst/>
            <a:ahLst/>
            <a:cxnLst/>
            <a:rect l="l" t="t" r="r" b="b"/>
            <a:pathLst>
              <a:path w="757707" h="4543425">
                <a:moveTo>
                  <a:pt x="719607" y="0"/>
                </a:moveTo>
                <a:lnTo>
                  <a:pt x="757707" y="0"/>
                </a:lnTo>
                <a:lnTo>
                  <a:pt x="38100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-69837" y="4245173"/>
            <a:ext cx="530199" cy="2806303"/>
          </a:xfrm>
          <a:custGeom>
            <a:avLst/>
            <a:gdLst/>
            <a:ahLst/>
            <a:cxnLst/>
            <a:rect l="l" t="t" r="r" b="b"/>
            <a:pathLst>
              <a:path w="530199" h="2806303">
                <a:moveTo>
                  <a:pt x="444565" y="0"/>
                </a:moveTo>
                <a:lnTo>
                  <a:pt x="530199" y="0"/>
                </a:lnTo>
                <a:lnTo>
                  <a:pt x="85634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158762" y="4245173"/>
            <a:ext cx="492099" cy="2806303"/>
          </a:xfrm>
          <a:custGeom>
            <a:avLst/>
            <a:gdLst/>
            <a:ahLst/>
            <a:cxnLst/>
            <a:rect l="l" t="t" r="r" b="b"/>
            <a:pathLst>
              <a:path w="492099" h="2806303">
                <a:moveTo>
                  <a:pt x="444529" y="0"/>
                </a:moveTo>
                <a:lnTo>
                  <a:pt x="492099" y="0"/>
                </a:lnTo>
                <a:lnTo>
                  <a:pt x="47570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bre las fotos" descr="encima_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" y="1551235"/>
            <a:ext cx="665261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DISEÑO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4411" y="1551235"/>
            <a:ext cx="13632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7C8BBA"/>
                </a:solidFill>
                <a:latin typeface="Barlow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7888" y="1551235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INGENIERÍA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6474" y="1551235"/>
            <a:ext cx="13632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7C8BBA"/>
                </a:solidFill>
                <a:latin typeface="Barlow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950" y="1551235"/>
            <a:ext cx="59947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OBRAS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6580" y="1551235"/>
            <a:ext cx="13632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7C8BBA"/>
                </a:solidFill>
                <a:latin typeface="Barlow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0057" y="1551235"/>
            <a:ext cx="771227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70">
                <a:solidFill>
                  <a:srgbClr val="2A3C78"/>
                </a:solidFill>
                <a:latin typeface="Barlow"/>
              </a:rPr>
              <a:t>ENERGÍA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2008435"/>
            <a:ext cx="3750468" cy="504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399"/>
              </a:lnSpc>
            </a:pPr>
            <a:r>
              <a:rPr sz="3300" b="1" i="0">
                <a:solidFill>
                  <a:srgbClr val="122149"/>
                </a:solidFill>
                <a:latin typeface="Barlow Condensed"/>
              </a:rPr>
              <a:t>La fuerza que construye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2440037"/>
            <a:ext cx="4178349" cy="504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399"/>
              </a:lnSpc>
            </a:pPr>
            <a:r>
              <a:rPr sz="3300" b="1" i="0">
                <a:solidFill>
                  <a:srgbClr val="122149"/>
                </a:solidFill>
                <a:latin typeface="Barlow Condensed"/>
              </a:rPr>
              <a:t>nuestra industria petrolera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525" y="4884687"/>
            <a:ext cx="1507331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SEDE CORPORATIVA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172075"/>
            <a:ext cx="207391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C6CDDE"/>
                </a:solidFill>
                <a:latin typeface="Barlow"/>
              </a:rPr>
              <a:t>Calle París entre New York y Caroní,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411985"/>
            <a:ext cx="1812577" cy="401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C6CDDE"/>
                </a:solidFill>
                <a:latin typeface="Barlow"/>
              </a:rPr>
              <a:t>Edf. Pedreañera #177, Urb. Las Mercedes,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891807"/>
            <a:ext cx="1966763" cy="401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C6CDDE"/>
                </a:solidFill>
                <a:latin typeface="Barlow"/>
              </a:rPr>
              <a:t>Municipio Baruta, Edo. Miranda — Caracas.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4287" y="4884687"/>
            <a:ext cx="1313408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SEDE OPERATIVA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6162" y="5172075"/>
            <a:ext cx="173444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C6CDDE"/>
                </a:solidFill>
                <a:latin typeface="Barlow"/>
              </a:rPr>
              <a:t>Lechería, estado Anzoátegui.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6050" y="4884687"/>
            <a:ext cx="92466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TELÉFONOS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7925" y="5172075"/>
            <a:ext cx="212437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C6CDDE"/>
                </a:solidFill>
                <a:latin typeface="Barlow"/>
              </a:rPr>
              <a:t>+58 212 994.1106 / 1253 / 0987 / 0730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7812" y="4884687"/>
            <a:ext cx="8318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CONTACTO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29687" y="5172075"/>
            <a:ext cx="128245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C6CDDE"/>
                </a:solidFill>
                <a:latin typeface="Barlow"/>
              </a:rPr>
              <a:t>Info@cvidalsa27.com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5953" y="6410325"/>
            <a:ext cx="372784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2017 — 2026 · 9 AÑOS DE EXCELENCIA OPERATIVA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