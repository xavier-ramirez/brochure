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6.png"/><Relationship Id="rId4" Type="http://schemas.openxmlformats.org/officeDocument/2006/relationships/image" Target="../media/image11.jpg"/><Relationship Id="rId5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6.png"/><Relationship Id="rId4" Type="http://schemas.openxmlformats.org/officeDocument/2006/relationships/image" Target="../media/image14.jp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Relationship Id="rId9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6.png"/><Relationship Id="rId4" Type="http://schemas.openxmlformats.org/officeDocument/2006/relationships/image" Target="../media/image23.jpg"/><Relationship Id="rId5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6.pn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image" Target="../media/image37.jp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Relationship Id="rId10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6.pn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image" Target="../media/image44.jpg"/><Relationship Id="rId7" Type="http://schemas.openxmlformats.org/officeDocument/2006/relationships/image" Target="../media/image45.jpg"/><Relationship Id="rId8" Type="http://schemas.openxmlformats.org/officeDocument/2006/relationships/image" Target="../media/image46.jpg"/><Relationship Id="rId9" Type="http://schemas.openxmlformats.org/officeDocument/2006/relationships/image" Target="../media/image47.jpg"/><Relationship Id="rId10" Type="http://schemas.openxmlformats.org/officeDocument/2006/relationships/image" Target="../media/image4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6.png"/><Relationship Id="rId4" Type="http://schemas.openxmlformats.org/officeDocument/2006/relationships/image" Target="../media/image50.jpg"/><Relationship Id="rId5" Type="http://schemas.openxmlformats.org/officeDocument/2006/relationships/image" Target="../media/image51.jpg"/><Relationship Id="rId6" Type="http://schemas.openxmlformats.org/officeDocument/2006/relationships/image" Target="../media/image52.jpg"/><Relationship Id="rId7" Type="http://schemas.openxmlformats.org/officeDocument/2006/relationships/image" Target="../media/image53.jpg"/><Relationship Id="rId8" Type="http://schemas.openxmlformats.org/officeDocument/2006/relationships/image" Target="../media/image54.jpg"/><Relationship Id="rId9" Type="http://schemas.openxmlformats.org/officeDocument/2006/relationships/image" Target="../media/image55.jpg"/><Relationship Id="rId10" Type="http://schemas.openxmlformats.org/officeDocument/2006/relationships/image" Target="../media/image5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16.png"/><Relationship Id="rId4" Type="http://schemas.openxmlformats.org/officeDocument/2006/relationships/image" Target="../media/image58.jpg"/><Relationship Id="rId5" Type="http://schemas.openxmlformats.org/officeDocument/2006/relationships/image" Target="../media/image59.jpg"/><Relationship Id="rId6" Type="http://schemas.openxmlformats.org/officeDocument/2006/relationships/image" Target="../media/image60.jpg"/><Relationship Id="rId7" Type="http://schemas.openxmlformats.org/officeDocument/2006/relationships/image" Target="../media/image61.jpg"/><Relationship Id="rId8" Type="http://schemas.openxmlformats.org/officeDocument/2006/relationships/image" Target="../media/image62.jpg"/><Relationship Id="rId9" Type="http://schemas.openxmlformats.org/officeDocument/2006/relationships/image" Target="../media/image63.jpg"/><Relationship Id="rId10" Type="http://schemas.openxmlformats.org/officeDocument/2006/relationships/image" Target="../media/image6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.png"/><Relationship Id="rId4" Type="http://schemas.openxmlformats.org/officeDocument/2006/relationships/image" Target="../media/image66.jpg"/><Relationship Id="rId5" Type="http://schemas.openxmlformats.org/officeDocument/2006/relationships/image" Target="../media/image67.jpg"/><Relationship Id="rId6" Type="http://schemas.openxmlformats.org/officeDocument/2006/relationships/image" Target="../media/image68.jpg"/><Relationship Id="rId7" Type="http://schemas.openxmlformats.org/officeDocument/2006/relationships/image" Target="../media/image69.jpg"/><Relationship Id="rId8" Type="http://schemas.openxmlformats.org/officeDocument/2006/relationships/image" Target="../media/image70.jpg"/><Relationship Id="rId9" Type="http://schemas.openxmlformats.org/officeDocument/2006/relationships/image" Target="../media/image71.jpg"/><Relationship Id="rId10" Type="http://schemas.openxmlformats.org/officeDocument/2006/relationships/image" Target="../media/image7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image" Target="../media/image26.pn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76.jpg"/><Relationship Id="rId7" Type="http://schemas.openxmlformats.org/officeDocument/2006/relationships/image" Target="../media/image77.jp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image" Target="../media/image6.png"/><Relationship Id="rId4" Type="http://schemas.openxmlformats.org/officeDocument/2006/relationships/image" Target="../media/image82.jpg"/><Relationship Id="rId5" Type="http://schemas.openxmlformats.org/officeDocument/2006/relationships/image" Target="../media/image83.jpg"/><Relationship Id="rId6" Type="http://schemas.openxmlformats.org/officeDocument/2006/relationships/image" Target="../media/image84.jpg"/><Relationship Id="rId7" Type="http://schemas.openxmlformats.org/officeDocument/2006/relationships/image" Target="../media/image85.jpg"/><Relationship Id="rId8" Type="http://schemas.openxmlformats.org/officeDocument/2006/relationships/image" Target="../media/image86.jpg"/><Relationship Id="rId9" Type="http://schemas.openxmlformats.org/officeDocument/2006/relationships/image" Target="../media/image87.jpg"/><Relationship Id="rId10" Type="http://schemas.openxmlformats.org/officeDocument/2006/relationships/image" Target="../media/image8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image" Target="../media/image6.png"/><Relationship Id="rId4" Type="http://schemas.openxmlformats.org/officeDocument/2006/relationships/image" Target="../media/image89.jpg"/><Relationship Id="rId5" Type="http://schemas.openxmlformats.org/officeDocument/2006/relationships/image" Target="../media/image90.jpg"/><Relationship Id="rId6" Type="http://schemas.openxmlformats.org/officeDocument/2006/relationships/image" Target="../media/image91.jpg"/><Relationship Id="rId7" Type="http://schemas.openxmlformats.org/officeDocument/2006/relationships/image" Target="../media/image92.jpg"/><Relationship Id="rId8" Type="http://schemas.openxmlformats.org/officeDocument/2006/relationships/image" Target="../media/image93.jpg"/><Relationship Id="rId9" Type="http://schemas.openxmlformats.org/officeDocument/2006/relationships/image" Target="../media/image94.jpg"/><Relationship Id="rId10" Type="http://schemas.openxmlformats.org/officeDocument/2006/relationships/image" Target="../media/image9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jpg"/><Relationship Id="rId3" Type="http://schemas.openxmlformats.org/officeDocument/2006/relationships/image" Target="../media/image6.png"/><Relationship Id="rId4" Type="http://schemas.openxmlformats.org/officeDocument/2006/relationships/image" Target="../media/image97.jpg"/><Relationship Id="rId5" Type="http://schemas.openxmlformats.org/officeDocument/2006/relationships/image" Target="../media/image98.jpg"/><Relationship Id="rId6" Type="http://schemas.openxmlformats.org/officeDocument/2006/relationships/image" Target="../media/image99.jpg"/><Relationship Id="rId7" Type="http://schemas.openxmlformats.org/officeDocument/2006/relationships/image" Target="../media/image100.jpg"/><Relationship Id="rId8" Type="http://schemas.openxmlformats.org/officeDocument/2006/relationships/image" Target="../media/image101.jpg"/><Relationship Id="rId9" Type="http://schemas.openxmlformats.org/officeDocument/2006/relationships/image" Target="../media/image10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jpg"/><Relationship Id="rId3" Type="http://schemas.openxmlformats.org/officeDocument/2006/relationships/image" Target="../media/image16.png"/><Relationship Id="rId4" Type="http://schemas.openxmlformats.org/officeDocument/2006/relationships/image" Target="../media/image104.jpg"/><Relationship Id="rId5" Type="http://schemas.openxmlformats.org/officeDocument/2006/relationships/image" Target="../media/image105.jpg"/><Relationship Id="rId6" Type="http://schemas.openxmlformats.org/officeDocument/2006/relationships/image" Target="../media/image106.jpg"/><Relationship Id="rId7" Type="http://schemas.openxmlformats.org/officeDocument/2006/relationships/image" Target="../media/image107.jpg"/><Relationship Id="rId8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jpg"/><Relationship Id="rId3" Type="http://schemas.openxmlformats.org/officeDocument/2006/relationships/image" Target="../media/image6.png"/><Relationship Id="rId4" Type="http://schemas.openxmlformats.org/officeDocument/2006/relationships/image" Target="../media/image109.jp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jpg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5844810" y="1118889"/>
            <a:ext cx="373494" cy="28575"/>
          </a:xfrm>
          <a:custGeom>
            <a:avLst/>
            <a:gdLst/>
            <a:ahLst/>
            <a:cxnLst/>
            <a:rect l="l" t="t" r="r" b="b"/>
            <a:pathLst>
              <a:path w="373494" h="28575">
                <a:moveTo>
                  <a:pt x="11545" y="0"/>
                </a:moveTo>
                <a:lnTo>
                  <a:pt x="373494" y="0"/>
                </a:lnTo>
                <a:lnTo>
                  <a:pt x="361949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"/>
          <p:cNvSpPr/>
          <p:nvPr/>
        </p:nvSpPr>
        <p:spPr>
          <a:xfrm>
            <a:off x="6322025" y="2503586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"/>
          <p:cNvSpPr/>
          <p:nvPr/>
        </p:nvSpPr>
        <p:spPr>
          <a:xfrm>
            <a:off x="6131525" y="2503586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7C8B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"/>
          <p:cNvSpPr/>
          <p:nvPr/>
        </p:nvSpPr>
        <p:spPr>
          <a:xfrm>
            <a:off x="5941025" y="2503586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96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"/>
          <p:cNvSpPr/>
          <p:nvPr/>
        </p:nvSpPr>
        <p:spPr>
          <a:xfrm>
            <a:off x="5750525" y="2503586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ede_edificio" descr="foto_01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31482" cy="7772400"/>
          </a:xfrm>
          <a:prstGeom prst="rect">
            <a:avLst/>
          </a:prstGeom>
        </p:spPr>
      </p:pic>
      <p:pic>
        <p:nvPicPr>
          <p:cNvPr id="9" name="logo_cuadrado" descr="foto_01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550" y="4930675"/>
            <a:ext cx="3056483" cy="1952625"/>
          </a:xfrm>
          <a:prstGeom prst="rect">
            <a:avLst/>
          </a:prstGeom>
        </p:spPr>
      </p:pic>
      <p:pic>
        <p:nvPicPr>
          <p:cNvPr id="10" name="sobre las fotos" descr="encima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7224712"/>
            <a:ext cx="265241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ts val="1162"/>
              </a:lnSpc>
            </a:pPr>
            <a:r>
              <a:rPr sz="1162" b="1" i="0" spc="349">
                <a:solidFill>
                  <a:srgbClr val="FFFFFF"/>
                </a:solidFill>
                <a:latin typeface="Barlow"/>
              </a:rPr>
              <a:t>BROCHURE CORPORATIVO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775" y="6394846"/>
            <a:ext cx="779115" cy="923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ts val="5710"/>
              </a:lnSpc>
            </a:pPr>
            <a:r>
              <a:rPr sz="6075" b="1" i="0" spc="61">
                <a:solidFill>
                  <a:srgbClr val="FFFFFF"/>
                </a:solidFill>
                <a:latin typeface="Barlow Condensed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690" y="6394846"/>
            <a:ext cx="769143" cy="923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ts val="5710"/>
              </a:lnSpc>
            </a:pPr>
            <a:r>
              <a:rPr sz="6075" b="1" i="0" spc="61">
                <a:solidFill>
                  <a:srgbClr val="4966AD"/>
                </a:solidFill>
                <a:latin typeface="Barlow Condensed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932" y="1042689"/>
            <a:ext cx="313283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1" i="0" spc="233">
                <a:solidFill>
                  <a:srgbClr val="FFFFFF"/>
                </a:solidFill>
                <a:latin typeface="Barlow"/>
              </a:rPr>
              <a:t>CONSTRUCTORA VIDALSA 27, C.A.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0582" y="1318914"/>
            <a:ext cx="3618904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</a:pPr>
            <a:r>
              <a:rPr sz="2400" b="1" i="0">
                <a:solidFill>
                  <a:srgbClr val="FFFFFF"/>
                </a:solidFill>
                <a:latin typeface="Barlow Condensed"/>
              </a:rPr>
              <a:t>Construyendo la infraestructura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0582" y="1654075"/>
            <a:ext cx="2048916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</a:pPr>
            <a:r>
              <a:rPr sz="2400" b="1" i="0">
                <a:solidFill>
                  <a:srgbClr val="FFFFFF"/>
                </a:solidFill>
                <a:latin typeface="Barlow Condensed"/>
              </a:rPr>
              <a:t>que mueve el país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qse-panel"/>
          <p:cNvSpPr/>
          <p:nvPr/>
        </p:nvSpPr>
        <p:spPr>
          <a:xfrm>
            <a:off x="0" y="590550"/>
            <a:ext cx="4325094" cy="6858000"/>
          </a:xfrm>
          <a:prstGeom prst="rect">
            <a:avLst/>
          </a:pr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5" name="empresa_sede" descr="foto_02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094" y="590550"/>
            <a:ext cx="5733157" cy="2286000"/>
          </a:xfrm>
          <a:prstGeom prst="rect">
            <a:avLst/>
          </a:prstGeom>
        </p:spPr>
      </p:pic>
      <p:pic>
        <p:nvPicPr>
          <p:cNvPr id="6" name="empresa_soldadura" descr="foto_02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094" y="2876550"/>
            <a:ext cx="5733157" cy="2286000"/>
          </a:xfrm>
          <a:prstGeom prst="rect">
            <a:avLst/>
          </a:prstGeom>
        </p:spPr>
      </p:pic>
      <p:pic>
        <p:nvPicPr>
          <p:cNvPr id="7" name="empresa_tendido" descr="foto_02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5094" y="5162550"/>
            <a:ext cx="5733157" cy="2286000"/>
          </a:xfrm>
          <a:prstGeom prst="rect">
            <a:avLst/>
          </a:prstGeom>
        </p:spPr>
      </p:pic>
      <p:sp>
        <p:nvSpPr>
          <p:cNvPr id="8" name="i"/>
          <p:cNvSpPr/>
          <p:nvPr/>
        </p:nvSpPr>
        <p:spPr>
          <a:xfrm>
            <a:off x="-725236" y="41969"/>
            <a:ext cx="1345698" cy="7955160"/>
          </a:xfrm>
          <a:custGeom>
            <a:avLst/>
            <a:gdLst/>
            <a:ahLst/>
            <a:cxnLst/>
            <a:rect l="l" t="t" r="r" b="b"/>
            <a:pathLst>
              <a:path w="1345698" h="7955160">
                <a:moveTo>
                  <a:pt x="1259955" y="0"/>
                </a:moveTo>
                <a:lnTo>
                  <a:pt x="1345698" y="0"/>
                </a:lnTo>
                <a:lnTo>
                  <a:pt x="85743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-496636" y="41969"/>
            <a:ext cx="1307598" cy="7955160"/>
          </a:xfrm>
          <a:custGeom>
            <a:avLst/>
            <a:gdLst/>
            <a:ahLst/>
            <a:cxnLst/>
            <a:rect l="l" t="t" r="r" b="b"/>
            <a:pathLst>
              <a:path w="1307598" h="7955160">
                <a:moveTo>
                  <a:pt x="1259963" y="0"/>
                </a:moveTo>
                <a:lnTo>
                  <a:pt x="1307598" y="0"/>
                </a:lnTo>
                <a:lnTo>
                  <a:pt x="47635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"/>
          <p:cNvSpPr/>
          <p:nvPr/>
        </p:nvSpPr>
        <p:spPr>
          <a:xfrm>
            <a:off x="3371257" y="41969"/>
            <a:ext cx="1345698" cy="7955160"/>
          </a:xfrm>
          <a:custGeom>
            <a:avLst/>
            <a:gdLst/>
            <a:ahLst/>
            <a:cxnLst/>
            <a:rect l="l" t="t" r="r" b="b"/>
            <a:pathLst>
              <a:path w="1345698" h="7955160">
                <a:moveTo>
                  <a:pt x="1259955" y="0"/>
                </a:moveTo>
                <a:lnTo>
                  <a:pt x="1345698" y="0"/>
                </a:lnTo>
                <a:lnTo>
                  <a:pt x="85743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"/>
          <p:cNvSpPr/>
          <p:nvPr/>
        </p:nvSpPr>
        <p:spPr>
          <a:xfrm>
            <a:off x="3599857" y="41969"/>
            <a:ext cx="1307598" cy="7955160"/>
          </a:xfrm>
          <a:custGeom>
            <a:avLst/>
            <a:gdLst/>
            <a:ahLst/>
            <a:cxnLst/>
            <a:rect l="l" t="t" r="r" b="b"/>
            <a:pathLst>
              <a:path w="1307598" h="7955160">
                <a:moveTo>
                  <a:pt x="1259963" y="0"/>
                </a:moveTo>
                <a:lnTo>
                  <a:pt x="1307598" y="0"/>
                </a:lnTo>
                <a:lnTo>
                  <a:pt x="47635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ip"/>
          <p:cNvSpPr/>
          <p:nvPr/>
        </p:nvSpPr>
        <p:spPr>
          <a:xfrm>
            <a:off x="4482691" y="2447925"/>
            <a:ext cx="3386458" cy="257175"/>
          </a:xfrm>
          <a:custGeom>
            <a:avLst/>
            <a:gdLst/>
            <a:ahLst/>
            <a:cxnLst/>
            <a:rect l="l" t="t" r="r" b="b"/>
            <a:pathLst>
              <a:path w="3386458" h="257175">
                <a:moveTo>
                  <a:pt x="103796" y="0"/>
                </a:moveTo>
                <a:lnTo>
                  <a:pt x="3386458" y="0"/>
                </a:lnTo>
                <a:lnTo>
                  <a:pt x="3282662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ip"/>
          <p:cNvSpPr/>
          <p:nvPr/>
        </p:nvSpPr>
        <p:spPr>
          <a:xfrm>
            <a:off x="4482691" y="4733925"/>
            <a:ext cx="3845295" cy="257175"/>
          </a:xfrm>
          <a:custGeom>
            <a:avLst/>
            <a:gdLst/>
            <a:ahLst/>
            <a:cxnLst/>
            <a:rect l="l" t="t" r="r" b="b"/>
            <a:pathLst>
              <a:path w="3845295" h="257175">
                <a:moveTo>
                  <a:pt x="103853" y="0"/>
                </a:moveTo>
                <a:lnTo>
                  <a:pt x="3845295" y="0"/>
                </a:lnTo>
                <a:lnTo>
                  <a:pt x="3741442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ip"/>
          <p:cNvSpPr/>
          <p:nvPr/>
        </p:nvSpPr>
        <p:spPr>
          <a:xfrm>
            <a:off x="4482691" y="7019925"/>
            <a:ext cx="3845295" cy="257175"/>
          </a:xfrm>
          <a:custGeom>
            <a:avLst/>
            <a:gdLst/>
            <a:ahLst/>
            <a:cxnLst/>
            <a:rect l="l" t="t" r="r" b="b"/>
            <a:pathLst>
              <a:path w="3845295" h="257175">
                <a:moveTo>
                  <a:pt x="103853" y="0"/>
                </a:moveTo>
                <a:lnTo>
                  <a:pt x="3845295" y="0"/>
                </a:lnTo>
                <a:lnTo>
                  <a:pt x="3741442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ayita"/>
          <p:cNvSpPr/>
          <p:nvPr/>
        </p:nvSpPr>
        <p:spPr>
          <a:xfrm>
            <a:off x="518102" y="3043832"/>
            <a:ext cx="373494" cy="28575"/>
          </a:xfrm>
          <a:custGeom>
            <a:avLst/>
            <a:gdLst/>
            <a:ahLst/>
            <a:cxnLst/>
            <a:rect l="l" t="t" r="r" b="b"/>
            <a:pathLst>
              <a:path w="373494" h="28575">
                <a:moveTo>
                  <a:pt x="11545" y="0"/>
                </a:moveTo>
                <a:lnTo>
                  <a:pt x="373494" y="0"/>
                </a:lnTo>
                <a:lnTo>
                  <a:pt x="361949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oja-raya"/>
          <p:cNvSpPr/>
          <p:nvPr/>
        </p:nvSpPr>
        <p:spPr>
          <a:xfrm>
            <a:off x="2286595" y="7603331"/>
            <a:ext cx="6629251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obre las fotos" descr="encima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38225" y="2977157"/>
            <a:ext cx="154468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QUIÉNES SOMOS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" y="3215282"/>
            <a:ext cx="2332285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935"/>
              </a:lnSpc>
            </a:pPr>
            <a:r>
              <a:rPr sz="2850" b="1" i="0">
                <a:solidFill>
                  <a:srgbClr val="FFFFFF"/>
                </a:solidFill>
                <a:latin typeface="Barlow Condensed"/>
              </a:rPr>
              <a:t>Nuestra empresa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" y="3921323"/>
            <a:ext cx="220920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842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CONSTRUCTORA VIDALSA 27 C.A.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" y="3921323"/>
            <a:ext cx="3353544" cy="109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842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es una empresa venezolana fundada en el año 2007, desde entonces sumamos años de trayectoria en la construcción de infraestructura civil y petrolera, con enfoque en la Faja Petrolífera del Orinoco.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9444" y="2514600"/>
            <a:ext cx="2806303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OLEODUCTO 30″ VELADERO · TRAMO 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39444" y="4800600"/>
            <a:ext cx="326514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OLEODUCTO 30″ × 14 KM — PLANTA FF–KM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39444" y="7086600"/>
            <a:ext cx="326514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OLEODUCTO 30″ × 14 KM — PLANTA FF–KM 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4900" y="7553325"/>
            <a:ext cx="1124545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NUESTRA EMPRESA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9196" y="7500937"/>
            <a:ext cx="456753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01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panel"/>
          <p:cNvSpPr/>
          <p:nvPr/>
        </p:nvSpPr>
        <p:spPr>
          <a:xfrm>
            <a:off x="0" y="5067300"/>
            <a:ext cx="10058400" cy="2381250"/>
          </a:xfrm>
          <a:prstGeom prst="rect">
            <a:avLst/>
          </a:pr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"/>
          <p:cNvSpPr/>
          <p:nvPr/>
        </p:nvSpPr>
        <p:spPr>
          <a:xfrm>
            <a:off x="580545" y="5467350"/>
            <a:ext cx="502509" cy="238125"/>
          </a:xfrm>
          <a:custGeom>
            <a:avLst/>
            <a:gdLst/>
            <a:ahLst/>
            <a:cxnLst/>
            <a:rect l="l" t="t" r="r" b="b"/>
            <a:pathLst>
              <a:path w="502509" h="238125">
                <a:moveTo>
                  <a:pt x="95586" y="0"/>
                </a:moveTo>
                <a:lnTo>
                  <a:pt x="502509" y="0"/>
                </a:lnTo>
                <a:lnTo>
                  <a:pt x="406923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um"/>
          <p:cNvSpPr/>
          <p:nvPr/>
        </p:nvSpPr>
        <p:spPr>
          <a:xfrm>
            <a:off x="5323995" y="5467350"/>
            <a:ext cx="531233" cy="238125"/>
          </a:xfrm>
          <a:custGeom>
            <a:avLst/>
            <a:gdLst/>
            <a:ahLst/>
            <a:cxnLst/>
            <a:rect l="l" t="t" r="r" b="b"/>
            <a:pathLst>
              <a:path w="531233" h="238125">
                <a:moveTo>
                  <a:pt x="95646" y="0"/>
                </a:moveTo>
                <a:lnTo>
                  <a:pt x="531233" y="0"/>
                </a:lnTo>
                <a:lnTo>
                  <a:pt x="435587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7" name="flota_equipo" descr="foto_03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0550"/>
            <a:ext cx="10058400" cy="4476750"/>
          </a:xfrm>
          <a:prstGeom prst="rect">
            <a:avLst/>
          </a:prstGeom>
        </p:spPr>
      </p:pic>
      <p:sp>
        <p:nvSpPr>
          <p:cNvPr id="8" name="i"/>
          <p:cNvSpPr/>
          <p:nvPr/>
        </p:nvSpPr>
        <p:spPr>
          <a:xfrm>
            <a:off x="-506488" y="232469"/>
            <a:ext cx="908201" cy="5192910"/>
          </a:xfrm>
          <a:custGeom>
            <a:avLst/>
            <a:gdLst/>
            <a:ahLst/>
            <a:cxnLst/>
            <a:rect l="l" t="t" r="r" b="b"/>
            <a:pathLst>
              <a:path w="908201" h="5192910">
                <a:moveTo>
                  <a:pt x="822449" y="0"/>
                </a:moveTo>
                <a:lnTo>
                  <a:pt x="908201" y="0"/>
                </a:lnTo>
                <a:lnTo>
                  <a:pt x="85752" y="5192910"/>
                </a:lnTo>
                <a:lnTo>
                  <a:pt x="0" y="519291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-277888" y="232469"/>
            <a:ext cx="870101" cy="5192910"/>
          </a:xfrm>
          <a:custGeom>
            <a:avLst/>
            <a:gdLst/>
            <a:ahLst/>
            <a:cxnLst/>
            <a:rect l="l" t="t" r="r" b="b"/>
            <a:pathLst>
              <a:path w="870101" h="5192910">
                <a:moveTo>
                  <a:pt x="822460" y="0"/>
                </a:moveTo>
                <a:lnTo>
                  <a:pt x="870101" y="0"/>
                </a:lnTo>
                <a:lnTo>
                  <a:pt x="47641" y="5192910"/>
                </a:lnTo>
                <a:lnTo>
                  <a:pt x="0" y="519291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"/>
          <p:cNvSpPr/>
          <p:nvPr/>
        </p:nvSpPr>
        <p:spPr>
          <a:xfrm>
            <a:off x="-313998" y="4876800"/>
            <a:ext cx="523222" cy="2762250"/>
          </a:xfrm>
          <a:custGeom>
            <a:avLst/>
            <a:gdLst/>
            <a:ahLst/>
            <a:cxnLst/>
            <a:rect l="l" t="t" r="r" b="b"/>
            <a:pathLst>
              <a:path w="523222" h="2762250">
                <a:moveTo>
                  <a:pt x="437497" y="0"/>
                </a:moveTo>
                <a:lnTo>
                  <a:pt x="523222" y="0"/>
                </a:lnTo>
                <a:lnTo>
                  <a:pt x="85725" y="2762250"/>
                </a:lnTo>
                <a:lnTo>
                  <a:pt x="0" y="276225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"/>
          <p:cNvSpPr/>
          <p:nvPr/>
        </p:nvSpPr>
        <p:spPr>
          <a:xfrm>
            <a:off x="-85398" y="4876800"/>
            <a:ext cx="485122" cy="2762250"/>
          </a:xfrm>
          <a:custGeom>
            <a:avLst/>
            <a:gdLst/>
            <a:ahLst/>
            <a:cxnLst/>
            <a:rect l="l" t="t" r="r" b="b"/>
            <a:pathLst>
              <a:path w="485122" h="2762250">
                <a:moveTo>
                  <a:pt x="437497" y="0"/>
                </a:moveTo>
                <a:lnTo>
                  <a:pt x="485122" y="0"/>
                </a:lnTo>
                <a:lnTo>
                  <a:pt x="47625" y="2762250"/>
                </a:lnTo>
                <a:lnTo>
                  <a:pt x="0" y="276225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ip"/>
          <p:cNvSpPr/>
          <p:nvPr/>
        </p:nvSpPr>
        <p:spPr>
          <a:xfrm>
            <a:off x="6555867" y="4391025"/>
            <a:ext cx="2925835" cy="257175"/>
          </a:xfrm>
          <a:custGeom>
            <a:avLst/>
            <a:gdLst/>
            <a:ahLst/>
            <a:cxnLst/>
            <a:rect l="l" t="t" r="r" b="b"/>
            <a:pathLst>
              <a:path w="2925835" h="257175">
                <a:moveTo>
                  <a:pt x="103995" y="0"/>
                </a:moveTo>
                <a:lnTo>
                  <a:pt x="2925835" y="0"/>
                </a:lnTo>
                <a:lnTo>
                  <a:pt x="2821840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oja-raya"/>
          <p:cNvSpPr/>
          <p:nvPr/>
        </p:nvSpPr>
        <p:spPr>
          <a:xfrm>
            <a:off x="2128242" y="7603331"/>
            <a:ext cx="6765577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obre las fotos" descr="encima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43000" y="3918495"/>
            <a:ext cx="154468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QUIÉNES SOMOS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4147095"/>
            <a:ext cx="2794545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Misión y visión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12619" y="4457700"/>
            <a:ext cx="23456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PATIO DE MÁQUINAS · MATURÍN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1525" y="5505450"/>
            <a:ext cx="19675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825" y="5506045"/>
            <a:ext cx="66198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6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MISIÓN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650" y="5915025"/>
            <a:ext cx="3807916" cy="40109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3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Desarrollar proyectos de infraestructura civil y petrolera, mediante soluciones constructivas, innovadoras y sostenibles.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4975" y="5505450"/>
            <a:ext cx="22547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9999" y="5506045"/>
            <a:ext cx="64948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6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VISIÓN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72100" y="5915025"/>
            <a:ext cx="3969990" cy="879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3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Ser el referente líder en la ejecución de proyectos de infraestructura, reconocidos por transformar desafíos complejos en proyectos tangibles, seguros, de alta calidad y con compromiso socioambiental, que impulsen el desarrollo económico y social del país.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900" y="7553325"/>
            <a:ext cx="966192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MISIÓN Y VISIÓN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27169" y="7500937"/>
            <a:ext cx="478780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02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pic>
        <p:nvPicPr>
          <p:cNvPr id="3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4" name="valores_equipo" descr="foto_04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0550"/>
            <a:ext cx="4526160" cy="6858000"/>
          </a:xfrm>
          <a:prstGeom prst="rect">
            <a:avLst/>
          </a:prstGeom>
        </p:spPr>
      </p:pic>
      <p:sp>
        <p:nvSpPr>
          <p:cNvPr id="5" name="i"/>
          <p:cNvSpPr/>
          <p:nvPr/>
        </p:nvSpPr>
        <p:spPr>
          <a:xfrm>
            <a:off x="3800924" y="41969"/>
            <a:ext cx="1345698" cy="7955160"/>
          </a:xfrm>
          <a:custGeom>
            <a:avLst/>
            <a:gdLst/>
            <a:ahLst/>
            <a:cxnLst/>
            <a:rect l="l" t="t" r="r" b="b"/>
            <a:pathLst>
              <a:path w="1345698" h="7955160">
                <a:moveTo>
                  <a:pt x="1259955" y="0"/>
                </a:moveTo>
                <a:lnTo>
                  <a:pt x="1345698" y="0"/>
                </a:lnTo>
                <a:lnTo>
                  <a:pt x="85743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"/>
          <p:cNvSpPr/>
          <p:nvPr/>
        </p:nvSpPr>
        <p:spPr>
          <a:xfrm>
            <a:off x="4029524" y="41969"/>
            <a:ext cx="1307598" cy="7955160"/>
          </a:xfrm>
          <a:custGeom>
            <a:avLst/>
            <a:gdLst/>
            <a:ahLst/>
            <a:cxnLst/>
            <a:rect l="l" t="t" r="r" b="b"/>
            <a:pathLst>
              <a:path w="1307598" h="7955160">
                <a:moveTo>
                  <a:pt x="1259963" y="0"/>
                </a:moveTo>
                <a:lnTo>
                  <a:pt x="1307598" y="0"/>
                </a:lnTo>
                <a:lnTo>
                  <a:pt x="47635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5044263" y="1190625"/>
            <a:ext cx="373494" cy="28575"/>
          </a:xfrm>
          <a:custGeom>
            <a:avLst/>
            <a:gdLst/>
            <a:ahLst/>
            <a:cxnLst/>
            <a:rect l="l" t="t" r="r" b="b"/>
            <a:pathLst>
              <a:path w="373494" h="28575">
                <a:moveTo>
                  <a:pt x="11545" y="0"/>
                </a:moveTo>
                <a:lnTo>
                  <a:pt x="373494" y="0"/>
                </a:lnTo>
                <a:lnTo>
                  <a:pt x="361949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m"/>
          <p:cNvSpPr/>
          <p:nvPr/>
        </p:nvSpPr>
        <p:spPr>
          <a:xfrm>
            <a:off x="5001931" y="2705100"/>
            <a:ext cx="502510" cy="238125"/>
          </a:xfrm>
          <a:custGeom>
            <a:avLst/>
            <a:gdLst/>
            <a:ahLst/>
            <a:cxnLst/>
            <a:rect l="l" t="t" r="r" b="b"/>
            <a:pathLst>
              <a:path w="502510" h="238125">
                <a:moveTo>
                  <a:pt x="95586" y="0"/>
                </a:moveTo>
                <a:lnTo>
                  <a:pt x="502510" y="0"/>
                </a:lnTo>
                <a:lnTo>
                  <a:pt x="406924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m"/>
          <p:cNvSpPr/>
          <p:nvPr/>
        </p:nvSpPr>
        <p:spPr>
          <a:xfrm>
            <a:off x="5001931" y="3591966"/>
            <a:ext cx="531233" cy="238125"/>
          </a:xfrm>
          <a:custGeom>
            <a:avLst/>
            <a:gdLst/>
            <a:ahLst/>
            <a:cxnLst/>
            <a:rect l="l" t="t" r="r" b="b"/>
            <a:pathLst>
              <a:path w="531233" h="238125">
                <a:moveTo>
                  <a:pt x="95646" y="0"/>
                </a:moveTo>
                <a:lnTo>
                  <a:pt x="531233" y="0"/>
                </a:lnTo>
                <a:lnTo>
                  <a:pt x="435587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"/>
          <p:cNvSpPr/>
          <p:nvPr/>
        </p:nvSpPr>
        <p:spPr>
          <a:xfrm>
            <a:off x="5001931" y="4478833"/>
            <a:ext cx="528554" cy="238125"/>
          </a:xfrm>
          <a:custGeom>
            <a:avLst/>
            <a:gdLst/>
            <a:ahLst/>
            <a:cxnLst/>
            <a:rect l="l" t="t" r="r" b="b"/>
            <a:pathLst>
              <a:path w="528554" h="238125">
                <a:moveTo>
                  <a:pt x="96891" y="0"/>
                </a:moveTo>
                <a:lnTo>
                  <a:pt x="528554" y="0"/>
                </a:lnTo>
                <a:lnTo>
                  <a:pt x="431663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"/>
          <p:cNvSpPr/>
          <p:nvPr/>
        </p:nvSpPr>
        <p:spPr>
          <a:xfrm>
            <a:off x="5001931" y="5365700"/>
            <a:ext cx="535847" cy="238125"/>
          </a:xfrm>
          <a:custGeom>
            <a:avLst/>
            <a:gdLst/>
            <a:ahLst/>
            <a:cxnLst/>
            <a:rect l="l" t="t" r="r" b="b"/>
            <a:pathLst>
              <a:path w="535847" h="238125">
                <a:moveTo>
                  <a:pt x="96477" y="0"/>
                </a:moveTo>
                <a:lnTo>
                  <a:pt x="535847" y="0"/>
                </a:lnTo>
                <a:lnTo>
                  <a:pt x="439370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m"/>
          <p:cNvSpPr/>
          <p:nvPr/>
        </p:nvSpPr>
        <p:spPr>
          <a:xfrm>
            <a:off x="5001931" y="6252567"/>
            <a:ext cx="528406" cy="238125"/>
          </a:xfrm>
          <a:custGeom>
            <a:avLst/>
            <a:gdLst/>
            <a:ahLst/>
            <a:cxnLst/>
            <a:rect l="l" t="t" r="r" b="b"/>
            <a:pathLst>
              <a:path w="528406" h="238125">
                <a:moveTo>
                  <a:pt x="96864" y="0"/>
                </a:moveTo>
                <a:lnTo>
                  <a:pt x="528406" y="0"/>
                </a:lnTo>
                <a:lnTo>
                  <a:pt x="431542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oja-raya"/>
          <p:cNvSpPr/>
          <p:nvPr/>
        </p:nvSpPr>
        <p:spPr>
          <a:xfrm>
            <a:off x="2333327" y="7603331"/>
            <a:ext cx="6560790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obre las fotos" descr="encima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564385" y="1123950"/>
            <a:ext cx="154468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QUIÉNES SOMOS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0035" y="1362075"/>
            <a:ext cx="2303412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935"/>
              </a:lnSpc>
            </a:pPr>
            <a:r>
              <a:rPr sz="2850" b="1" i="0">
                <a:solidFill>
                  <a:srgbClr val="FFFFFF"/>
                </a:solidFill>
                <a:latin typeface="Barlow Condensed"/>
              </a:rPr>
              <a:t>Nuestros valores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50035" y="1925240"/>
            <a:ext cx="4403228" cy="3923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39"/>
              </a:lnSpc>
            </a:pPr>
            <a:r>
              <a:rPr sz="1087" b="0" i="0">
                <a:solidFill>
                  <a:srgbClr val="FFFFFF"/>
                </a:solidFill>
                <a:latin typeface="Barlow"/>
              </a:rPr>
              <a:t>En Constructora Vidalsa27, C.A. construimos con propósito. Estos son los principios que guían nuestra conducta y nuestro compromiso social: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2910" y="2743200"/>
            <a:ext cx="19675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08736" y="2686050"/>
            <a:ext cx="1037332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SEGURIDAD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08736" y="2923430"/>
            <a:ext cx="3941861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Cuidamos a nuestra gente y a nuestros clientes. La protección en cada frente de trabajo no es negociable.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92910" y="3630066"/>
            <a:ext cx="22547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7460" y="3572916"/>
            <a:ext cx="1104007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INTEGRIDAD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7460" y="3810297"/>
            <a:ext cx="3718768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Ética y honestidad de principio a fin. Cultivamos relaciones sólidas basadas en la confianza.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92910" y="4516933"/>
            <a:ext cx="222795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34781" y="4459783"/>
            <a:ext cx="1052214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EFICIENCIA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34781" y="4697164"/>
            <a:ext cx="3651051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Respetamos tu tiempo y tu inversión. Optimizamos recursos para cumplir compromisos sin margen de demora.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2910" y="5403800"/>
            <a:ext cx="230088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42074" y="5346650"/>
            <a:ext cx="1112341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INNOVACIÓN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42074" y="5584031"/>
            <a:ext cx="3748533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Evolución constante. Buscamos estar siempre un paso adelante en metodologías y visión de negocio.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2910" y="6290667"/>
            <a:ext cx="22264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34632" y="6233517"/>
            <a:ext cx="2204144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COMPROMISO AMBIENTAL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34632" y="6470898"/>
            <a:ext cx="3711326" cy="57328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Construimos el futuro sin comprometer el presente, diseñando procesos respetuosos con el entorno, salvaguardando el ambiente para las generaciones futuras.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4900" y="7553325"/>
            <a:ext cx="1171277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NUESTROS VALORES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27467" y="7500937"/>
            <a:ext cx="478482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03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622877" y="866775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" descr="foto_05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5" name="servicio_1_zanja" descr="foto_05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000625"/>
            <a:ext cx="2162323" cy="2447925"/>
          </a:xfrm>
          <a:custGeom>
            <a:avLst/>
            <a:gdLst/>
            <a:ahLst/>
            <a:cxnLst/>
            <a:rect l="l" t="t" r="r" b="b"/>
            <a:pathLst>
              <a:path w="2162323" h="2447925">
                <a:moveTo>
                  <a:pt x="0" y="0"/>
                </a:moveTo>
                <a:lnTo>
                  <a:pt x="2162323" y="0"/>
                </a:lnTo>
                <a:lnTo>
                  <a:pt x="1837975" y="2447925"/>
                </a:lnTo>
                <a:lnTo>
                  <a:pt x="0" y="2447925"/>
                </a:lnTo>
                <a:close/>
              </a:path>
            </a:pathLst>
          </a:custGeom>
        </p:spPr>
      </p:pic>
      <p:pic>
        <p:nvPicPr>
          <p:cNvPr id="6" name="servicio_2_tendido" descr="foto_05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0798" y="5000625"/>
            <a:ext cx="2313235" cy="2447925"/>
          </a:xfrm>
          <a:custGeom>
            <a:avLst/>
            <a:gdLst/>
            <a:ahLst/>
            <a:cxnLst/>
            <a:rect l="l" t="t" r="r" b="b"/>
            <a:pathLst>
              <a:path w="2313235" h="2447925">
                <a:moveTo>
                  <a:pt x="346985" y="0"/>
                </a:moveTo>
                <a:lnTo>
                  <a:pt x="2313235" y="0"/>
                </a:lnTo>
                <a:lnTo>
                  <a:pt x="1966250" y="2447925"/>
                </a:lnTo>
                <a:lnTo>
                  <a:pt x="0" y="2447925"/>
                </a:lnTo>
                <a:close/>
              </a:path>
            </a:pathLst>
          </a:custGeom>
        </p:spPr>
      </p:pic>
      <p:pic>
        <p:nvPicPr>
          <p:cNvPr id="7" name="servicio_3_soldadura" descr="foto_05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2507" y="5000625"/>
            <a:ext cx="2313235" cy="2447925"/>
          </a:xfrm>
          <a:custGeom>
            <a:avLst/>
            <a:gdLst/>
            <a:ahLst/>
            <a:cxnLst/>
            <a:rect l="l" t="t" r="r" b="b"/>
            <a:pathLst>
              <a:path w="2313235" h="2447925">
                <a:moveTo>
                  <a:pt x="346985" y="0"/>
                </a:moveTo>
                <a:lnTo>
                  <a:pt x="2313235" y="0"/>
                </a:lnTo>
                <a:lnTo>
                  <a:pt x="1966250" y="2447925"/>
                </a:lnTo>
                <a:lnTo>
                  <a:pt x="0" y="2447925"/>
                </a:lnTo>
                <a:close/>
              </a:path>
            </a:pathLst>
          </a:custGeom>
        </p:spPr>
      </p:pic>
      <p:pic>
        <p:nvPicPr>
          <p:cNvPr id="8" name="servicio_4_valvula" descr="foto_05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4217" y="5000625"/>
            <a:ext cx="2313235" cy="2447925"/>
          </a:xfrm>
          <a:custGeom>
            <a:avLst/>
            <a:gdLst/>
            <a:ahLst/>
            <a:cxnLst/>
            <a:rect l="l" t="t" r="r" b="b"/>
            <a:pathLst>
              <a:path w="2313235" h="2447925">
                <a:moveTo>
                  <a:pt x="346985" y="0"/>
                </a:moveTo>
                <a:lnTo>
                  <a:pt x="2313235" y="0"/>
                </a:lnTo>
                <a:lnTo>
                  <a:pt x="1966250" y="2447925"/>
                </a:lnTo>
                <a:lnTo>
                  <a:pt x="0" y="2447925"/>
                </a:lnTo>
                <a:close/>
              </a:path>
            </a:pathLst>
          </a:custGeom>
        </p:spPr>
      </p:pic>
      <p:pic>
        <p:nvPicPr>
          <p:cNvPr id="9" name="servicio_5_maquinaria" descr="foto_05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5927" y="5000625"/>
            <a:ext cx="2162323" cy="2447925"/>
          </a:xfrm>
          <a:custGeom>
            <a:avLst/>
            <a:gdLst/>
            <a:ahLst/>
            <a:cxnLst/>
            <a:rect l="l" t="t" r="r" b="b"/>
            <a:pathLst>
              <a:path w="2162323" h="2447925">
                <a:moveTo>
                  <a:pt x="324348" y="0"/>
                </a:moveTo>
                <a:lnTo>
                  <a:pt x="2162323" y="0"/>
                </a:lnTo>
                <a:lnTo>
                  <a:pt x="2162323" y="2447925"/>
                </a:lnTo>
                <a:lnTo>
                  <a:pt x="0" y="2447925"/>
                </a:lnTo>
                <a:close/>
              </a:path>
            </a:pathLst>
          </a:custGeom>
        </p:spPr>
      </p:pic>
      <p:sp>
        <p:nvSpPr>
          <p:cNvPr id="10" name="i"/>
          <p:cNvSpPr/>
          <p:nvPr/>
        </p:nvSpPr>
        <p:spPr>
          <a:xfrm>
            <a:off x="-382239" y="1636067"/>
            <a:ext cx="659704" cy="3623964"/>
          </a:xfrm>
          <a:custGeom>
            <a:avLst/>
            <a:gdLst/>
            <a:ahLst/>
            <a:cxnLst/>
            <a:rect l="l" t="t" r="r" b="b"/>
            <a:pathLst>
              <a:path w="659704" h="3623964">
                <a:moveTo>
                  <a:pt x="573887" y="0"/>
                </a:moveTo>
                <a:lnTo>
                  <a:pt x="659704" y="0"/>
                </a:lnTo>
                <a:lnTo>
                  <a:pt x="85817" y="3623964"/>
                </a:lnTo>
                <a:lnTo>
                  <a:pt x="0" y="3623964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"/>
          <p:cNvSpPr/>
          <p:nvPr/>
        </p:nvSpPr>
        <p:spPr>
          <a:xfrm>
            <a:off x="-153639" y="1636067"/>
            <a:ext cx="621604" cy="3623964"/>
          </a:xfrm>
          <a:custGeom>
            <a:avLst/>
            <a:gdLst/>
            <a:ahLst/>
            <a:cxnLst/>
            <a:rect l="l" t="t" r="r" b="b"/>
            <a:pathLst>
              <a:path w="621604" h="3623964">
                <a:moveTo>
                  <a:pt x="573925" y="0"/>
                </a:moveTo>
                <a:lnTo>
                  <a:pt x="621604" y="0"/>
                </a:lnTo>
                <a:lnTo>
                  <a:pt x="47679" y="3623964"/>
                </a:lnTo>
                <a:lnTo>
                  <a:pt x="0" y="3623964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ayita"/>
          <p:cNvSpPr/>
          <p:nvPr/>
        </p:nvSpPr>
        <p:spPr>
          <a:xfrm>
            <a:off x="523875" y="3040260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ayita"/>
          <p:cNvSpPr/>
          <p:nvPr/>
        </p:nvSpPr>
        <p:spPr>
          <a:xfrm>
            <a:off x="523875" y="349388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ayita"/>
          <p:cNvSpPr/>
          <p:nvPr/>
        </p:nvSpPr>
        <p:spPr>
          <a:xfrm>
            <a:off x="523875" y="3763565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ayita"/>
          <p:cNvSpPr/>
          <p:nvPr/>
        </p:nvSpPr>
        <p:spPr>
          <a:xfrm>
            <a:off x="523875" y="421719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ayita"/>
          <p:cNvSpPr/>
          <p:nvPr/>
        </p:nvSpPr>
        <p:spPr>
          <a:xfrm>
            <a:off x="523875" y="4670821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ayita"/>
          <p:cNvSpPr/>
          <p:nvPr/>
        </p:nvSpPr>
        <p:spPr>
          <a:xfrm>
            <a:off x="2847975" y="3040260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ayita"/>
          <p:cNvSpPr/>
          <p:nvPr/>
        </p:nvSpPr>
        <p:spPr>
          <a:xfrm>
            <a:off x="2847975" y="330993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ayita"/>
          <p:cNvSpPr/>
          <p:nvPr/>
        </p:nvSpPr>
        <p:spPr>
          <a:xfrm>
            <a:off x="2847975" y="3763565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ayita"/>
          <p:cNvSpPr/>
          <p:nvPr/>
        </p:nvSpPr>
        <p:spPr>
          <a:xfrm>
            <a:off x="2847975" y="421719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ayita"/>
          <p:cNvSpPr/>
          <p:nvPr/>
        </p:nvSpPr>
        <p:spPr>
          <a:xfrm>
            <a:off x="2847975" y="4486870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ayita"/>
          <p:cNvSpPr/>
          <p:nvPr/>
        </p:nvSpPr>
        <p:spPr>
          <a:xfrm>
            <a:off x="5172075" y="3040260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ayita"/>
          <p:cNvSpPr/>
          <p:nvPr/>
        </p:nvSpPr>
        <p:spPr>
          <a:xfrm>
            <a:off x="5172075" y="3677840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ayita"/>
          <p:cNvSpPr/>
          <p:nvPr/>
        </p:nvSpPr>
        <p:spPr>
          <a:xfrm>
            <a:off x="5172075" y="394751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ayita"/>
          <p:cNvSpPr/>
          <p:nvPr/>
        </p:nvSpPr>
        <p:spPr>
          <a:xfrm>
            <a:off x="5172075" y="4401145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ayita"/>
          <p:cNvSpPr/>
          <p:nvPr/>
        </p:nvSpPr>
        <p:spPr>
          <a:xfrm>
            <a:off x="7496175" y="3040260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ayita"/>
          <p:cNvSpPr/>
          <p:nvPr/>
        </p:nvSpPr>
        <p:spPr>
          <a:xfrm>
            <a:off x="7496175" y="349388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ayita"/>
          <p:cNvSpPr/>
          <p:nvPr/>
        </p:nvSpPr>
        <p:spPr>
          <a:xfrm>
            <a:off x="7496175" y="3763565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ayita"/>
          <p:cNvSpPr/>
          <p:nvPr/>
        </p:nvSpPr>
        <p:spPr>
          <a:xfrm>
            <a:off x="7496175" y="4033242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ayita"/>
          <p:cNvSpPr/>
          <p:nvPr/>
        </p:nvSpPr>
        <p:spPr>
          <a:xfrm>
            <a:off x="7496175" y="4302918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oja-raya"/>
          <p:cNvSpPr/>
          <p:nvPr/>
        </p:nvSpPr>
        <p:spPr>
          <a:xfrm>
            <a:off x="2419350" y="7603331"/>
            <a:ext cx="6467921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sobre las fotos" descr="encima_0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43000" y="800100"/>
            <a:ext cx="135359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2A3C78"/>
                </a:solidFill>
                <a:latin typeface="Barlow"/>
              </a:rPr>
              <a:t>QUÉ HACEMOS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8650" y="1028700"/>
            <a:ext cx="3448794" cy="590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017"/>
              </a:lnSpc>
            </a:pPr>
            <a:r>
              <a:rPr sz="3900" b="1" i="0">
                <a:solidFill>
                  <a:srgbClr val="122149"/>
                </a:solidFill>
                <a:latin typeface="Barlow Condensed"/>
              </a:rPr>
              <a:t>Nuestros servicios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875" y="2038350"/>
            <a:ext cx="239017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875" y="2209800"/>
            <a:ext cx="1948011" cy="4923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Construcción de ductos petroleros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3425" y="2984152"/>
            <a:ext cx="1366539" cy="3458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Soldadura de 3/4″ a 42″ calificada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3425" y="3437780"/>
            <a:ext cx="178474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Tubería enterrada y superficial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3425" y="3707457"/>
            <a:ext cx="1786681" cy="3458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Revestimiento y protección de tuberías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3425" y="4161085"/>
            <a:ext cx="1360735" cy="3458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Ingeniería, topografía y excavación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3425" y="4614713"/>
            <a:ext cx="175423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Prueba hidrostática y flushing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7975" y="2038350"/>
            <a:ext cx="26357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47975" y="2209800"/>
            <a:ext cx="1932086" cy="4923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Servicios de alquiler de equipos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7525" y="2984152"/>
            <a:ext cx="160302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Maquinaria pesada y liviana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57525" y="3253829"/>
            <a:ext cx="1541561" cy="3458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Izamiento e instalación de equipos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57525" y="3707457"/>
            <a:ext cx="1515814" cy="3458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Chuto/batea y lowboy con escoltas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57525" y="4161085"/>
            <a:ext cx="154275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Vacuum y brazo hidráulico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57525" y="4430762"/>
            <a:ext cx="1674911" cy="3458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Cortafuegos y estaciones de válvulas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72075" y="2038350"/>
            <a:ext cx="26134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72075" y="2209800"/>
            <a:ext cx="203596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Ambiente y saneamiento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81625" y="2984152"/>
            <a:ext cx="1713160" cy="5298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Saneamiento de áreas por afectaciones con derrame de crudo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81625" y="3621732"/>
            <a:ext cx="1373088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Trasegado con vacuum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81625" y="3891408"/>
            <a:ext cx="1695450" cy="3458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Tratamiento y disposición de suelo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81625" y="4345037"/>
            <a:ext cx="1706909" cy="3458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Saneamiento de lagunas a través del dragado de sólidos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6175" y="2038350"/>
            <a:ext cx="26744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6175" y="2209800"/>
            <a:ext cx="173875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Suministro y procura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05725" y="2984152"/>
            <a:ext cx="1864667" cy="3458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Válvulas bridadas de compuerta y globo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05725" y="3437780"/>
            <a:ext cx="182969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Bridas, codos, te y reducciones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05725" y="3707457"/>
            <a:ext cx="160139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Weldolets, niples y tapones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05725" y="3977133"/>
            <a:ext cx="160109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Empacaduras y espárragos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05725" y="4246810"/>
            <a:ext cx="146551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9"/>
              </a:lnSpc>
            </a:pPr>
            <a:r>
              <a:rPr sz="1035" b="0" i="0">
                <a:solidFill>
                  <a:srgbClr val="FFFFFF"/>
                </a:solidFill>
                <a:latin typeface="Barlow"/>
              </a:rPr>
              <a:t>Mangas y revestimientos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4900" y="7553325"/>
            <a:ext cx="1257300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NUESTROS SERVICIOS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20621" y="7500937"/>
            <a:ext cx="485328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04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523875" y="300990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stado"/>
          <p:cNvSpPr/>
          <p:nvPr/>
        </p:nvSpPr>
        <p:spPr>
          <a:xfrm>
            <a:off x="1970783" y="3143994"/>
            <a:ext cx="904127" cy="161925"/>
          </a:xfrm>
          <a:custGeom>
            <a:avLst/>
            <a:gdLst/>
            <a:ahLst/>
            <a:cxnLst/>
            <a:rect l="l" t="t" r="r" b="b"/>
            <a:pathLst>
              <a:path w="904127" h="161925">
                <a:moveTo>
                  <a:pt x="46454" y="0"/>
                </a:moveTo>
                <a:lnTo>
                  <a:pt x="904127" y="0"/>
                </a:lnTo>
                <a:lnTo>
                  <a:pt x="857673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523875" y="348689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1970783" y="3793182"/>
            <a:ext cx="904127" cy="161925"/>
          </a:xfrm>
          <a:custGeom>
            <a:avLst/>
            <a:gdLst/>
            <a:ahLst/>
            <a:cxnLst/>
            <a:rect l="l" t="t" r="r" b="b"/>
            <a:pathLst>
              <a:path w="904127" h="161925">
                <a:moveTo>
                  <a:pt x="46454" y="0"/>
                </a:moveTo>
                <a:lnTo>
                  <a:pt x="904127" y="0"/>
                </a:lnTo>
                <a:lnTo>
                  <a:pt x="857673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523875" y="4136082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stado"/>
          <p:cNvSpPr/>
          <p:nvPr/>
        </p:nvSpPr>
        <p:spPr>
          <a:xfrm>
            <a:off x="2046834" y="4270176"/>
            <a:ext cx="904127" cy="161925"/>
          </a:xfrm>
          <a:custGeom>
            <a:avLst/>
            <a:gdLst/>
            <a:ahLst/>
            <a:cxnLst/>
            <a:rect l="l" t="t" r="r" b="b"/>
            <a:pathLst>
              <a:path w="904127" h="161925">
                <a:moveTo>
                  <a:pt x="46454" y="0"/>
                </a:moveTo>
                <a:lnTo>
                  <a:pt x="904127" y="0"/>
                </a:lnTo>
                <a:lnTo>
                  <a:pt x="857673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ayita"/>
          <p:cNvSpPr/>
          <p:nvPr/>
        </p:nvSpPr>
        <p:spPr>
          <a:xfrm>
            <a:off x="523875" y="4613076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stado"/>
          <p:cNvSpPr/>
          <p:nvPr/>
        </p:nvSpPr>
        <p:spPr>
          <a:xfrm>
            <a:off x="1970783" y="4747170"/>
            <a:ext cx="904127" cy="161925"/>
          </a:xfrm>
          <a:custGeom>
            <a:avLst/>
            <a:gdLst/>
            <a:ahLst/>
            <a:cxnLst/>
            <a:rect l="l" t="t" r="r" b="b"/>
            <a:pathLst>
              <a:path w="904127" h="161925">
                <a:moveTo>
                  <a:pt x="46454" y="0"/>
                </a:moveTo>
                <a:lnTo>
                  <a:pt x="904127" y="0"/>
                </a:lnTo>
                <a:lnTo>
                  <a:pt x="857673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ayita"/>
          <p:cNvSpPr/>
          <p:nvPr/>
        </p:nvSpPr>
        <p:spPr>
          <a:xfrm>
            <a:off x="523875" y="509007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stado"/>
          <p:cNvSpPr/>
          <p:nvPr/>
        </p:nvSpPr>
        <p:spPr>
          <a:xfrm>
            <a:off x="1650207" y="5224164"/>
            <a:ext cx="904127" cy="161925"/>
          </a:xfrm>
          <a:custGeom>
            <a:avLst/>
            <a:gdLst/>
            <a:ahLst/>
            <a:cxnLst/>
            <a:rect l="l" t="t" r="r" b="b"/>
            <a:pathLst>
              <a:path w="904127" h="161925">
                <a:moveTo>
                  <a:pt x="46454" y="0"/>
                </a:moveTo>
                <a:lnTo>
                  <a:pt x="904127" y="0"/>
                </a:lnTo>
                <a:lnTo>
                  <a:pt x="857673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ayita"/>
          <p:cNvSpPr/>
          <p:nvPr/>
        </p:nvSpPr>
        <p:spPr>
          <a:xfrm>
            <a:off x="523875" y="556706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stado"/>
          <p:cNvSpPr/>
          <p:nvPr/>
        </p:nvSpPr>
        <p:spPr>
          <a:xfrm>
            <a:off x="1970783" y="5873353"/>
            <a:ext cx="1075131" cy="161925"/>
          </a:xfrm>
          <a:custGeom>
            <a:avLst/>
            <a:gdLst/>
            <a:ahLst/>
            <a:cxnLst/>
            <a:rect l="l" t="t" r="r" b="b"/>
            <a:pathLst>
              <a:path w="1075131" h="161925">
                <a:moveTo>
                  <a:pt x="46431" y="0"/>
                </a:moveTo>
                <a:lnTo>
                  <a:pt x="1075131" y="0"/>
                </a:lnTo>
                <a:lnTo>
                  <a:pt x="102870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ayita"/>
          <p:cNvSpPr/>
          <p:nvPr/>
        </p:nvSpPr>
        <p:spPr>
          <a:xfrm>
            <a:off x="523875" y="6216253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stado"/>
          <p:cNvSpPr/>
          <p:nvPr/>
        </p:nvSpPr>
        <p:spPr>
          <a:xfrm>
            <a:off x="719734" y="6559897"/>
            <a:ext cx="1075131" cy="161925"/>
          </a:xfrm>
          <a:custGeom>
            <a:avLst/>
            <a:gdLst/>
            <a:ahLst/>
            <a:cxnLst/>
            <a:rect l="l" t="t" r="r" b="b"/>
            <a:pathLst>
              <a:path w="1075131" h="161925">
                <a:moveTo>
                  <a:pt x="46431" y="0"/>
                </a:moveTo>
                <a:lnTo>
                  <a:pt x="1075131" y="0"/>
                </a:lnTo>
                <a:lnTo>
                  <a:pt x="102870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ayita"/>
          <p:cNvSpPr/>
          <p:nvPr/>
        </p:nvSpPr>
        <p:spPr>
          <a:xfrm>
            <a:off x="3679775" y="300990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stado"/>
          <p:cNvSpPr/>
          <p:nvPr/>
        </p:nvSpPr>
        <p:spPr>
          <a:xfrm>
            <a:off x="5272089" y="3143994"/>
            <a:ext cx="904127" cy="161925"/>
          </a:xfrm>
          <a:custGeom>
            <a:avLst/>
            <a:gdLst/>
            <a:ahLst/>
            <a:cxnLst/>
            <a:rect l="l" t="t" r="r" b="b"/>
            <a:pathLst>
              <a:path w="904127" h="161925">
                <a:moveTo>
                  <a:pt x="46454" y="0"/>
                </a:moveTo>
                <a:lnTo>
                  <a:pt x="904127" y="0"/>
                </a:lnTo>
                <a:lnTo>
                  <a:pt x="857673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ayita"/>
          <p:cNvSpPr/>
          <p:nvPr/>
        </p:nvSpPr>
        <p:spPr>
          <a:xfrm>
            <a:off x="3679775" y="348689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stado"/>
          <p:cNvSpPr/>
          <p:nvPr/>
        </p:nvSpPr>
        <p:spPr>
          <a:xfrm>
            <a:off x="5272089" y="3620988"/>
            <a:ext cx="904127" cy="161925"/>
          </a:xfrm>
          <a:custGeom>
            <a:avLst/>
            <a:gdLst/>
            <a:ahLst/>
            <a:cxnLst/>
            <a:rect l="l" t="t" r="r" b="b"/>
            <a:pathLst>
              <a:path w="904127" h="161925">
                <a:moveTo>
                  <a:pt x="46454" y="0"/>
                </a:moveTo>
                <a:lnTo>
                  <a:pt x="904127" y="0"/>
                </a:lnTo>
                <a:lnTo>
                  <a:pt x="857673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ayita"/>
          <p:cNvSpPr/>
          <p:nvPr/>
        </p:nvSpPr>
        <p:spPr>
          <a:xfrm>
            <a:off x="3679775" y="3963888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stado"/>
          <p:cNvSpPr/>
          <p:nvPr/>
        </p:nvSpPr>
        <p:spPr>
          <a:xfrm>
            <a:off x="5272089" y="4097982"/>
            <a:ext cx="904127" cy="161925"/>
          </a:xfrm>
          <a:custGeom>
            <a:avLst/>
            <a:gdLst/>
            <a:ahLst/>
            <a:cxnLst/>
            <a:rect l="l" t="t" r="r" b="b"/>
            <a:pathLst>
              <a:path w="904127" h="161925">
                <a:moveTo>
                  <a:pt x="46454" y="0"/>
                </a:moveTo>
                <a:lnTo>
                  <a:pt x="904127" y="0"/>
                </a:lnTo>
                <a:lnTo>
                  <a:pt x="857673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ayita"/>
          <p:cNvSpPr/>
          <p:nvPr/>
        </p:nvSpPr>
        <p:spPr>
          <a:xfrm>
            <a:off x="3679775" y="4440882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stado"/>
          <p:cNvSpPr/>
          <p:nvPr/>
        </p:nvSpPr>
        <p:spPr>
          <a:xfrm>
            <a:off x="5272089" y="4574976"/>
            <a:ext cx="904127" cy="161925"/>
          </a:xfrm>
          <a:custGeom>
            <a:avLst/>
            <a:gdLst/>
            <a:ahLst/>
            <a:cxnLst/>
            <a:rect l="l" t="t" r="r" b="b"/>
            <a:pathLst>
              <a:path w="904127" h="161925">
                <a:moveTo>
                  <a:pt x="46454" y="0"/>
                </a:moveTo>
                <a:lnTo>
                  <a:pt x="904127" y="0"/>
                </a:lnTo>
                <a:lnTo>
                  <a:pt x="857673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ayita"/>
          <p:cNvSpPr/>
          <p:nvPr/>
        </p:nvSpPr>
        <p:spPr>
          <a:xfrm>
            <a:off x="3679775" y="4917876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stado"/>
          <p:cNvSpPr/>
          <p:nvPr/>
        </p:nvSpPr>
        <p:spPr>
          <a:xfrm>
            <a:off x="5272089" y="5051970"/>
            <a:ext cx="1075131" cy="161925"/>
          </a:xfrm>
          <a:custGeom>
            <a:avLst/>
            <a:gdLst/>
            <a:ahLst/>
            <a:cxnLst/>
            <a:rect l="l" t="t" r="r" b="b"/>
            <a:pathLst>
              <a:path w="1075131" h="161925">
                <a:moveTo>
                  <a:pt x="46431" y="0"/>
                </a:moveTo>
                <a:lnTo>
                  <a:pt x="1075131" y="0"/>
                </a:lnTo>
                <a:lnTo>
                  <a:pt x="102870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ayita"/>
          <p:cNvSpPr/>
          <p:nvPr/>
        </p:nvSpPr>
        <p:spPr>
          <a:xfrm>
            <a:off x="6835675" y="300990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stado"/>
          <p:cNvSpPr/>
          <p:nvPr/>
        </p:nvSpPr>
        <p:spPr>
          <a:xfrm>
            <a:off x="8412660" y="3143994"/>
            <a:ext cx="904127" cy="161925"/>
          </a:xfrm>
          <a:custGeom>
            <a:avLst/>
            <a:gdLst/>
            <a:ahLst/>
            <a:cxnLst/>
            <a:rect l="l" t="t" r="r" b="b"/>
            <a:pathLst>
              <a:path w="904127" h="161925">
                <a:moveTo>
                  <a:pt x="46454" y="0"/>
                </a:moveTo>
                <a:lnTo>
                  <a:pt x="904127" y="0"/>
                </a:lnTo>
                <a:lnTo>
                  <a:pt x="857673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ayita"/>
          <p:cNvSpPr/>
          <p:nvPr/>
        </p:nvSpPr>
        <p:spPr>
          <a:xfrm>
            <a:off x="6835675" y="348689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stado"/>
          <p:cNvSpPr/>
          <p:nvPr/>
        </p:nvSpPr>
        <p:spPr>
          <a:xfrm>
            <a:off x="8358635" y="3620988"/>
            <a:ext cx="904127" cy="161925"/>
          </a:xfrm>
          <a:custGeom>
            <a:avLst/>
            <a:gdLst/>
            <a:ahLst/>
            <a:cxnLst/>
            <a:rect l="l" t="t" r="r" b="b"/>
            <a:pathLst>
              <a:path w="904127" h="161925">
                <a:moveTo>
                  <a:pt x="46454" y="0"/>
                </a:moveTo>
                <a:lnTo>
                  <a:pt x="904127" y="0"/>
                </a:lnTo>
                <a:lnTo>
                  <a:pt x="857673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ayita"/>
          <p:cNvSpPr/>
          <p:nvPr/>
        </p:nvSpPr>
        <p:spPr>
          <a:xfrm>
            <a:off x="6835675" y="3963888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stado"/>
          <p:cNvSpPr/>
          <p:nvPr/>
        </p:nvSpPr>
        <p:spPr>
          <a:xfrm>
            <a:off x="8427989" y="4097982"/>
            <a:ext cx="1075131" cy="161925"/>
          </a:xfrm>
          <a:custGeom>
            <a:avLst/>
            <a:gdLst/>
            <a:ahLst/>
            <a:cxnLst/>
            <a:rect l="l" t="t" r="r" b="b"/>
            <a:pathLst>
              <a:path w="1075131" h="161925">
                <a:moveTo>
                  <a:pt x="46431" y="0"/>
                </a:moveTo>
                <a:lnTo>
                  <a:pt x="1075131" y="0"/>
                </a:lnTo>
                <a:lnTo>
                  <a:pt x="102870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ayita"/>
          <p:cNvSpPr/>
          <p:nvPr/>
        </p:nvSpPr>
        <p:spPr>
          <a:xfrm>
            <a:off x="6835675" y="4440882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stado"/>
          <p:cNvSpPr/>
          <p:nvPr/>
        </p:nvSpPr>
        <p:spPr>
          <a:xfrm>
            <a:off x="8427989" y="4574976"/>
            <a:ext cx="1075131" cy="161925"/>
          </a:xfrm>
          <a:custGeom>
            <a:avLst/>
            <a:gdLst/>
            <a:ahLst/>
            <a:cxnLst/>
            <a:rect l="l" t="t" r="r" b="b"/>
            <a:pathLst>
              <a:path w="1075131" h="161925">
                <a:moveTo>
                  <a:pt x="46431" y="0"/>
                </a:moveTo>
                <a:lnTo>
                  <a:pt x="1075131" y="0"/>
                </a:lnTo>
                <a:lnTo>
                  <a:pt x="102870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ayita"/>
          <p:cNvSpPr/>
          <p:nvPr/>
        </p:nvSpPr>
        <p:spPr>
          <a:xfrm>
            <a:off x="6835675" y="4917876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stado"/>
          <p:cNvSpPr/>
          <p:nvPr/>
        </p:nvSpPr>
        <p:spPr>
          <a:xfrm>
            <a:off x="8427989" y="5051970"/>
            <a:ext cx="1075131" cy="161925"/>
          </a:xfrm>
          <a:custGeom>
            <a:avLst/>
            <a:gdLst/>
            <a:ahLst/>
            <a:cxnLst/>
            <a:rect l="l" t="t" r="r" b="b"/>
            <a:pathLst>
              <a:path w="1075131" h="161925">
                <a:moveTo>
                  <a:pt x="46431" y="0"/>
                </a:moveTo>
                <a:lnTo>
                  <a:pt x="1075131" y="0"/>
                </a:lnTo>
                <a:lnTo>
                  <a:pt x="102870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ayita"/>
          <p:cNvSpPr/>
          <p:nvPr/>
        </p:nvSpPr>
        <p:spPr>
          <a:xfrm>
            <a:off x="6835675" y="539487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stado"/>
          <p:cNvSpPr/>
          <p:nvPr/>
        </p:nvSpPr>
        <p:spPr>
          <a:xfrm>
            <a:off x="8427989" y="5528964"/>
            <a:ext cx="1075131" cy="161925"/>
          </a:xfrm>
          <a:custGeom>
            <a:avLst/>
            <a:gdLst/>
            <a:ahLst/>
            <a:cxnLst/>
            <a:rect l="l" t="t" r="r" b="b"/>
            <a:pathLst>
              <a:path w="1075131" h="161925">
                <a:moveTo>
                  <a:pt x="46431" y="0"/>
                </a:moveTo>
                <a:lnTo>
                  <a:pt x="1075131" y="0"/>
                </a:lnTo>
                <a:lnTo>
                  <a:pt x="102870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ayita"/>
          <p:cNvSpPr/>
          <p:nvPr/>
        </p:nvSpPr>
        <p:spPr>
          <a:xfrm>
            <a:off x="6835675" y="587186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stado"/>
          <p:cNvSpPr/>
          <p:nvPr/>
        </p:nvSpPr>
        <p:spPr>
          <a:xfrm>
            <a:off x="8427989" y="6005958"/>
            <a:ext cx="1075131" cy="161925"/>
          </a:xfrm>
          <a:custGeom>
            <a:avLst/>
            <a:gdLst/>
            <a:ahLst/>
            <a:cxnLst/>
            <a:rect l="l" t="t" r="r" b="b"/>
            <a:pathLst>
              <a:path w="1075131" h="161925">
                <a:moveTo>
                  <a:pt x="46431" y="0"/>
                </a:moveTo>
                <a:lnTo>
                  <a:pt x="1075131" y="0"/>
                </a:lnTo>
                <a:lnTo>
                  <a:pt x="102870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42" name="portafolio_oleoducto" descr="foto_06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0550"/>
            <a:ext cx="10058400" cy="1619250"/>
          </a:xfrm>
          <a:prstGeom prst="rect">
            <a:avLst/>
          </a:prstGeom>
        </p:spPr>
      </p:pic>
      <p:sp>
        <p:nvSpPr>
          <p:cNvPr id="43" name="i"/>
          <p:cNvSpPr/>
          <p:nvPr/>
        </p:nvSpPr>
        <p:spPr>
          <a:xfrm>
            <a:off x="-243989" y="461069"/>
            <a:ext cx="383204" cy="1878210"/>
          </a:xfrm>
          <a:custGeom>
            <a:avLst/>
            <a:gdLst/>
            <a:ahLst/>
            <a:cxnLst/>
            <a:rect l="l" t="t" r="r" b="b"/>
            <a:pathLst>
              <a:path w="383204" h="1878210">
                <a:moveTo>
                  <a:pt x="297416" y="0"/>
                </a:moveTo>
                <a:lnTo>
                  <a:pt x="383204" y="0"/>
                </a:lnTo>
                <a:lnTo>
                  <a:pt x="85788" y="1878210"/>
                </a:lnTo>
                <a:lnTo>
                  <a:pt x="0" y="187821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"/>
          <p:cNvSpPr/>
          <p:nvPr/>
        </p:nvSpPr>
        <p:spPr>
          <a:xfrm>
            <a:off x="-15389" y="461069"/>
            <a:ext cx="345104" cy="1878210"/>
          </a:xfrm>
          <a:custGeom>
            <a:avLst/>
            <a:gdLst/>
            <a:ahLst/>
            <a:cxnLst/>
            <a:rect l="l" t="t" r="r" b="b"/>
            <a:pathLst>
              <a:path w="345104" h="1878210">
                <a:moveTo>
                  <a:pt x="297440" y="0"/>
                </a:moveTo>
                <a:lnTo>
                  <a:pt x="345104" y="0"/>
                </a:lnTo>
                <a:lnTo>
                  <a:pt x="47664" y="1878210"/>
                </a:lnTo>
                <a:lnTo>
                  <a:pt x="0" y="187821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oja-raya"/>
          <p:cNvSpPr/>
          <p:nvPr/>
        </p:nvSpPr>
        <p:spPr>
          <a:xfrm>
            <a:off x="1910655" y="7603331"/>
            <a:ext cx="6983015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sobre las fotos" descr="encima_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143000" y="1060995"/>
            <a:ext cx="1211758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PORTAFOLIO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8650" y="1289595"/>
            <a:ext cx="3716387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Nuestros proyectos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56376" y="1390650"/>
            <a:ext cx="1273373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944"/>
              </a:lnSpc>
            </a:pPr>
            <a:r>
              <a:rPr sz="787" b="1" i="0" spc="236">
                <a:solidFill>
                  <a:srgbClr val="FFFFFF"/>
                </a:solidFill>
                <a:latin typeface="Barlow"/>
              </a:rPr>
              <a:t>ACTUALIZADO 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82185" y="1543050"/>
            <a:ext cx="1947564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1979"/>
              </a:lnSpc>
            </a:pPr>
            <a:r>
              <a:rPr sz="1650" b="1" i="0">
                <a:solidFill>
                  <a:srgbClr val="FFFFFF"/>
                </a:solidFill>
                <a:latin typeface="Barlow Condensed"/>
              </a:rPr>
              <a:t>4 de septiembre de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3875" y="2514600"/>
            <a:ext cx="1481881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36"/>
              </a:lnSpc>
            </a:pPr>
            <a:r>
              <a:rPr sz="1200" b="1" i="0" spc="216">
                <a:solidFill>
                  <a:srgbClr val="122149"/>
                </a:solidFill>
                <a:latin typeface="Barlow"/>
              </a:rPr>
              <a:t>CONSTRUCCIÓN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01267" y="2409825"/>
            <a:ext cx="297507" cy="30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25"/>
              </a:lnSpc>
            </a:pPr>
            <a:r>
              <a:rPr sz="2025" b="1" i="0">
                <a:solidFill>
                  <a:srgbClr val="7C8BBA"/>
                </a:solidFill>
                <a:latin typeface="Barlow Condensed"/>
              </a:rPr>
              <a:t>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2950" y="2933700"/>
            <a:ext cx="2405211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Oleoducto 30″ × 17 km — Planta PDD – COPEM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2950" y="3158281"/>
            <a:ext cx="125104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89249" y="3163044"/>
            <a:ext cx="743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2950" y="3410694"/>
            <a:ext cx="2380803" cy="3531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Completación mecánica Oleoducto de 42″ — PTO–TAEJ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2950" y="3807469"/>
            <a:ext cx="125104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89249" y="3812232"/>
            <a:ext cx="743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2950" y="4059882"/>
            <a:ext cx="2188071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Oleoducto 30″ × 14 km — Planta FF–Km 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950" y="4284464"/>
            <a:ext cx="1327100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PETROLERA SINOVENSA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65300" y="4289226"/>
            <a:ext cx="743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2950" y="4536876"/>
            <a:ext cx="237961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Diluenducto 20″ × 11,20 km — Palmichal–PTO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950" y="4761458"/>
            <a:ext cx="125104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89249" y="4766220"/>
            <a:ext cx="743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2950" y="5013870"/>
            <a:ext cx="1869281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Macolla 15 — vialidad y plataforma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2950" y="5238452"/>
            <a:ext cx="93047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PETROMONAGAS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68673" y="5243214"/>
            <a:ext cx="743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950" y="5490864"/>
            <a:ext cx="2435423" cy="3531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Tubería 12″ agua salada × 29,6 km — COPEM – El Salto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950" y="5887640"/>
            <a:ext cx="125104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89249" y="5892403"/>
            <a:ext cx="91440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2950" y="6140053"/>
            <a:ext cx="2253406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Oleoducto 30″ Veladero · Tramo I (5,9 km)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950" y="6350347"/>
            <a:ext cx="189949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Coordinación Operacional Faja (COF)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8200" y="6578947"/>
            <a:ext cx="91440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79775" y="2514600"/>
            <a:ext cx="100875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36"/>
              </a:lnSpc>
            </a:pPr>
            <a:r>
              <a:rPr sz="1200" b="1" i="0" spc="216">
                <a:solidFill>
                  <a:srgbClr val="122149"/>
                </a:solidFill>
                <a:latin typeface="Barlow"/>
              </a:rPr>
              <a:t>AMBIENTE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48982" y="2409825"/>
            <a:ext cx="305692" cy="30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25"/>
              </a:lnSpc>
            </a:pPr>
            <a:r>
              <a:rPr sz="2025" b="1" i="0">
                <a:solidFill>
                  <a:srgbClr val="7C8BBA"/>
                </a:solidFill>
                <a:latin typeface="Barlow Condensed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98850" y="2933700"/>
            <a:ext cx="245238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COMOR — Saneamiento de suelo contaminado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98850" y="3158281"/>
            <a:ext cx="139645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90554" y="3163044"/>
            <a:ext cx="743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98850" y="3410694"/>
            <a:ext cx="2259508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Dragado SIAE COMOR — lagunas A, B, C y 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98850" y="3635275"/>
            <a:ext cx="139645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90554" y="3640038"/>
            <a:ext cx="743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8850" y="3887688"/>
            <a:ext cx="1936551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Saneamiento Estación de Flujo O-16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98850" y="4112269"/>
            <a:ext cx="139645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90554" y="4117032"/>
            <a:ext cx="743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98850" y="4364682"/>
            <a:ext cx="206885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Saneamiento Laguna de Curataquiche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898850" y="4589264"/>
            <a:ext cx="139645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390554" y="4594026"/>
            <a:ext cx="743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98850" y="4841676"/>
            <a:ext cx="2362051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Movilización y trasegado de crudo — COMOR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898850" y="5066258"/>
            <a:ext cx="139645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390554" y="5071020"/>
            <a:ext cx="91440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35675" y="2514600"/>
            <a:ext cx="218033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36"/>
              </a:lnSpc>
            </a:pPr>
            <a:r>
              <a:rPr sz="1200" b="1" i="0" spc="216">
                <a:solidFill>
                  <a:srgbClr val="122149"/>
                </a:solidFill>
                <a:latin typeface="Barlow"/>
              </a:rPr>
              <a:t>SERVICIOS Y ALQUILER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13217" y="2409825"/>
            <a:ext cx="297507" cy="30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25"/>
              </a:lnSpc>
            </a:pPr>
            <a:r>
              <a:rPr sz="2025" b="1" i="0">
                <a:solidFill>
                  <a:srgbClr val="7C8BBA"/>
                </a:solidFill>
                <a:latin typeface="Barlow Condensed"/>
              </a:rPr>
              <a:t>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54750" y="2933700"/>
            <a:ext cx="241056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Mantenimiento de equipos de bombeo — FPO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54750" y="3158281"/>
            <a:ext cx="138112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Gestión de Materiales DAL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31125" y="3163044"/>
            <a:ext cx="743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54750" y="3410694"/>
            <a:ext cx="2468016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Alquiler de maquinaria — SINOVENSA Morichal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54750" y="3635275"/>
            <a:ext cx="1327100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PETROLERA SINOVENSA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477101" y="3640038"/>
            <a:ext cx="743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54750" y="3887688"/>
            <a:ext cx="178876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Estaciones de válvulas — FPO HC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054750" y="4112269"/>
            <a:ext cx="139645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46455" y="4117032"/>
            <a:ext cx="91440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054750" y="4364682"/>
            <a:ext cx="1241226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Equipos transversales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54750" y="4589264"/>
            <a:ext cx="139645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46455" y="4594026"/>
            <a:ext cx="91440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054750" y="4841676"/>
            <a:ext cx="930473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Chuto con batea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054750" y="5066258"/>
            <a:ext cx="139645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46455" y="5071020"/>
            <a:ext cx="91440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54750" y="5318670"/>
            <a:ext cx="210666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Cortafuegos en corredores de tuberías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54750" y="5543252"/>
            <a:ext cx="139645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546455" y="5548014"/>
            <a:ext cx="91440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054750" y="5795664"/>
            <a:ext cx="252605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7"/>
              </a:lnSpc>
            </a:pPr>
            <a:r>
              <a:rPr sz="1170" b="1" i="0">
                <a:solidFill>
                  <a:srgbClr val="122149"/>
                </a:solidFill>
                <a:latin typeface="Barlow Condensed"/>
              </a:rPr>
              <a:t>Alquiler de equipos — XP Extrapesado Morichal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54750" y="6020246"/>
            <a:ext cx="139645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9"/>
              </a:lnSpc>
            </a:pPr>
            <a:r>
              <a:rPr sz="907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546455" y="6025008"/>
            <a:ext cx="91440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53"/>
              </a:lnSpc>
            </a:pPr>
            <a:r>
              <a:rPr sz="794" b="1" i="0" spc="111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04900" y="7553325"/>
            <a:ext cx="748605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PORTAFOLIO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027021" y="7500937"/>
            <a:ext cx="478928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05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785367" y="270510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28575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28575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353920" y="270510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529590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529590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" descr="foto_07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10" name="oleo30x17_1" descr="foto_07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1" name="oleo30x17_2" descr="foto_07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oleo30x17_3" descr="foto_07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3" name="oleo42_1" descr="foto_07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590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4" name="oleo42_2" descr="foto_07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590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oleo42_3" descr="foto_07_0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047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sp>
        <p:nvSpPr>
          <p:cNvPr id="16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oja-raya"/>
          <p:cNvSpPr/>
          <p:nvPr/>
        </p:nvSpPr>
        <p:spPr>
          <a:xfrm>
            <a:off x="1868537" y="7603331"/>
            <a:ext cx="7024985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obre las fotos" descr="encima_0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98107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" y="271938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833" y="272415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750" y="3009900"/>
            <a:ext cx="233258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17 km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750" y="3418433"/>
            <a:ext cx="187478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Planta PDD – Rebombeo El Aceital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750" y="3832919"/>
            <a:ext cx="4385071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 las obras civiles, mecánicas, eléctricas e instrumentación del Oleoducto de 30″ × 17 km, desde la Planta Desaladora Deshidratadora PDD hasta el rebombeo El Aceital, Morichal, estado Monagas. Además de la aplicación y puesta en funcionamiento del sistema de protección catódica.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" y="675322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7350" y="98107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95900" y="271938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2386" y="272415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5900" y="3009900"/>
            <a:ext cx="1846808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de 42″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5900" y="3418433"/>
            <a:ext cx="205516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PTO – TAEJ · Completación mecánica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5900" y="3832919"/>
            <a:ext cx="4354562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Completación mecánica de la tubería de 42″ desde el Patio de Tanques Oficina (PTO) hasta el Terminal de Almacenamiento y Embarque Jose (TAEJ), así como la construcción de 07 tanquillas de concreto en válvulas de retención de 42″.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0545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5450" y="675322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7553325"/>
            <a:ext cx="706487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PROYECTOS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26872" y="7500937"/>
            <a:ext cx="479077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06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343770" y="270510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28575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28575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5795368" y="270510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529590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529590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10" name="oleo30x14_1" descr="foto_08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1" name="oleo30x14_2" descr="foto_08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oleo30x14_3" descr="foto_08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3" name="tub12_1" descr="foto_08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590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4" name="tub12_2" descr="foto_08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590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tub12_3" descr="foto_08_0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047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sp>
        <p:nvSpPr>
          <p:cNvPr id="16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oja-raya"/>
          <p:cNvSpPr/>
          <p:nvPr/>
        </p:nvSpPr>
        <p:spPr>
          <a:xfrm>
            <a:off x="1868537" y="7603331"/>
            <a:ext cx="7029747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obre las fotos" descr="encima_0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98107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" y="271938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2236" y="272415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750" y="3009900"/>
            <a:ext cx="2354609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14 km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750" y="3418433"/>
            <a:ext cx="230728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Planta FF – Km 0 · PETROLERA SINOVENSA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750" y="3832919"/>
            <a:ext cx="4546699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del Oleoducto de 30″ × 14 km desde la Estación de Flujo (FF) hasta el Km 0, PETROLERA SINOVENSA, necesarios para incrementar la producción desde 105 MBPD hasta 330 MBPD de crudo extrapesado. Así como la instalación y puesta en marcha del sistema de protección catódica.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" y="6753225"/>
            <a:ext cx="1988046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PETROLERA SINOVENSA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7350" y="98107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95900" y="2719387"/>
            <a:ext cx="44648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13834" y="272415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5900" y="3009900"/>
            <a:ext cx="3810744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Tubería 12″ × 29,6 km — agua salada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5900" y="3418433"/>
            <a:ext cx="1898600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COPEM – Pozos inyectores El Salto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5900" y="3832919"/>
            <a:ext cx="4455021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 29,60 km de tubería de 12″ de inyección de agua salada desde COPEM PETROMONAGAS hasta los pozos inyectores El Salto. Así como la instalación y puesta en marcha del sistema de protección catódica de tuberías enterradas.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0545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5450" y="675322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7553325"/>
            <a:ext cx="706487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PROYECTOS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31634" y="7500937"/>
            <a:ext cx="474315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07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785218" y="270510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28575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28575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5794327" y="270510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529590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529590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10" name="veladero_1" descr="foto_09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1" name="veladero_2" descr="foto_09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veladero_3" descr="foto_09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3" name="diluen20_1" descr="foto_09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590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4" name="diluen20_2" descr="foto_09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590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diluen20_3" descr="foto_09_0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047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sp>
        <p:nvSpPr>
          <p:cNvPr id="16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oja-raya"/>
          <p:cNvSpPr/>
          <p:nvPr/>
        </p:nvSpPr>
        <p:spPr>
          <a:xfrm>
            <a:off x="1868537" y="7603331"/>
            <a:ext cx="7024985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obre las fotos" descr="encima_0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98107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" y="2719387"/>
            <a:ext cx="44648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684" y="272415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750" y="3009900"/>
            <a:ext cx="257457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5,90 km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750" y="3418433"/>
            <a:ext cx="212690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Tramo I del Oleoducto de 30″ Veladero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750" y="3832919"/>
            <a:ext cx="4518421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Reemplazo del Tramo I del Oleoducto de 30″ × 5,9 km, a fin de garantizar la confiabilidad y continuidad operacional, así como la integridad mecánica del oleoducto de 30″, en el cumplimiento del transporte de Diluente Mesa 30 para la División Carabobo, Distrito Morichal y empresas mixtas, y la formulación de la segregación Merey 16.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" y="6753225"/>
            <a:ext cx="308446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Coordinación Operacional Faja (COF)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7350" y="98107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95900" y="2719387"/>
            <a:ext cx="44544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12792" y="272415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5900" y="3009900"/>
            <a:ext cx="280317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Diluenducto 20″ × 11,20 km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5900" y="3418433"/>
            <a:ext cx="321379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Palmichal – Patio de Tanques Oficina · El Tigre, Anzoátegui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5900" y="3832919"/>
            <a:ext cx="4476154" cy="971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Reemplazo de 10,5 km del Diluenducto de 20″ Palmichal – PTO, con perforación direccional bajo suelo en la Troncal 9 de la autopista Gran Mariscal de Ayacucho, con el propósito de restablecer la integridad del sistema de transporte e incrementar la presión de bombeo hasta 840 psi, permitiendo el manejo de nafta con un caudal promedio de 180 MBD de diluente.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0545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5450" y="675322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7553325"/>
            <a:ext cx="706487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PROYECTOS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26872" y="7500937"/>
            <a:ext cx="479077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08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350170" y="270510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28575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28575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353920" y="270510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529590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529590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10" name="macolla15_1" descr="foto_10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1" name="macolla15_2" descr="foto_10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macolla15_3" descr="foto_10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3" name="valvulas_1" descr="foto_10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590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4" name="valvulas_2" descr="foto_10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590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valvulas_3" descr="foto_10_0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047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sp>
        <p:nvSpPr>
          <p:cNvPr id="16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oja-raya"/>
          <p:cNvSpPr/>
          <p:nvPr/>
        </p:nvSpPr>
        <p:spPr>
          <a:xfrm>
            <a:off x="1868537" y="7603331"/>
            <a:ext cx="7025729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obre las fotos" descr="encima_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98107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" y="271938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8635" y="272415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750" y="3009900"/>
            <a:ext cx="360893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Macolla 15 — vialidad y plataforma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750" y="3418433"/>
            <a:ext cx="233198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PETROMONAGAS (COPEM)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750" y="3832919"/>
            <a:ext cx="4519910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 la vialidad de acceso y plataforma de perforación para la Macolla 15 del Centro Operativo PETROMONAGAS, involucrando movimientos de tierra, conformación de taludes, construcción de 39 cellars y canales de drenaje perimetrales con pases reforzados.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" y="6753225"/>
            <a:ext cx="1372641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PETROMONAGAS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7350" y="98107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95900" y="271938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2386" y="272415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5900" y="3009900"/>
            <a:ext cx="344120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Estaciones de válvulas — FPO HC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5900" y="3418433"/>
            <a:ext cx="372367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Corredores de tuberías principales de la Faja Petrolífera del Orinoco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5900" y="3832919"/>
            <a:ext cx="4311848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Limpieza y mantenimiento de estaciones de válvulas en corredores de tuberías, cortafuegos perimetrales, señalización de áreas y pintura de puentes y estructuras metálicas.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0545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5450" y="67532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7553325"/>
            <a:ext cx="706487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PROYECTOS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27616" y="7500937"/>
            <a:ext cx="478333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09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350170" y="270510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285750" y="3965078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28575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353920" y="270510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529590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529590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" descr="foto_05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10" name="comorsuelo_1" descr="foto_11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1" name="comorsuelo_2" descr="foto_11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comorsuelo_3" descr="foto_11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3" name="dragado_1" descr="foto_11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590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4" name="dragado_2" descr="foto_11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590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dragado_3" descr="foto_11_0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047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sp>
        <p:nvSpPr>
          <p:cNvPr id="16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oja-raya"/>
          <p:cNvSpPr/>
          <p:nvPr/>
        </p:nvSpPr>
        <p:spPr>
          <a:xfrm>
            <a:off x="1868537" y="7603331"/>
            <a:ext cx="7047309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obre las fotos" descr="encima_1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98107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" y="271938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8635" y="272415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750" y="3009900"/>
            <a:ext cx="3325862" cy="63713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COMOR — Saneamiento de suelo contaminado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750" y="3712666"/>
            <a:ext cx="2349103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Morichal · fases II, III y IV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750" y="4127152"/>
            <a:ext cx="4427934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Remoción, recolección y recuperación de crudo sobrenadante, así como la carga, transporte, tratamiento y disposición final del suelo contaminado en instalaciones de PDVSA autorizadas por el MINEC, generado en las actividades de saneamiento realizadas en el Centro Operativo de Morichal (COMOR), División Carabobo.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" y="67532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7350" y="98107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95900" y="271938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2386" y="272415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5900" y="3009900"/>
            <a:ext cx="344120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Dragado lagunas del SIAE COMOR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5900" y="3418433"/>
            <a:ext cx="154528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Lagunas A, B, C y D del SIAE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5900" y="3832919"/>
            <a:ext cx="4474964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Saneamiento y posterior mantenimiento de las cuatro lagunas A, B, C y D del SIAE del Centro Operacional Morichal (COMOR), en la División Carabobo, a través del dragado de sólidos.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0545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5450" y="67532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7553325"/>
            <a:ext cx="706487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PROYECTOS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49196" y="7500937"/>
            <a:ext cx="456753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10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343770" y="270510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28575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28575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5795517" y="270510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529590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529590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10" name="trasegado_1" descr="foto_12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1" name="trasegado_2" descr="foto_12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trasegado_3" descr="foto_12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3" name="ef016_1" descr="foto_12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590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4" name="ef016_2" descr="foto_12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590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ef016_3" descr="foto_12_0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047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sp>
        <p:nvSpPr>
          <p:cNvPr id="16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oja-raya"/>
          <p:cNvSpPr/>
          <p:nvPr/>
        </p:nvSpPr>
        <p:spPr>
          <a:xfrm>
            <a:off x="1868537" y="7603331"/>
            <a:ext cx="7072610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obre las fotos" descr="encima_1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98107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" y="271938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2236" y="272415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750" y="3009900"/>
            <a:ext cx="3588692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Movilización y trasegado de crudo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750" y="3418433"/>
            <a:ext cx="146863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Morichal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750" y="3832919"/>
            <a:ext cx="4545359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Movilización y trasegado de crudo en el Sistema de Inyección y Efluentes (SIAE) ubicado en las instalaciones del Centro Operativo COMOR, con equipos de vacío tipo vacuum de mínimo 160 BLS.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" y="67532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7350" y="98107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95900" y="271938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13983" y="272415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5900" y="3009900"/>
            <a:ext cx="2323951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Estación de Flujo O-16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5900" y="3418433"/>
            <a:ext cx="210279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Saneamiento O-16 · División Carabobo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5900" y="3832919"/>
            <a:ext cx="4510682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Operación de maquinaria pesada para realizar los trabajos de saneamiento de áreas afectadas por derrames de hidrocarburos: remoción, estabilización, homogeneización, apilamiento y tratamiento in situ del material impactado, contención y recolección de fluidos petrolizados, nivelación de terreno y carga de sólidos.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0545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5450" y="67532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7553325"/>
            <a:ext cx="706487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PROYECTOS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74497" y="7500937"/>
            <a:ext cx="431452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11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350170" y="270510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28575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28575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355557" y="270510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529590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529590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" descr="foto_07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10" name="transv_1" descr="foto_13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1" name="transv_2" descr="foto_13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transv_3" descr="foto_13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3" name="chuto_1" descr="foto_13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590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4" name="chuto_2" descr="foto_13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590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chuto_3" descr="foto_13_0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047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sp>
        <p:nvSpPr>
          <p:cNvPr id="16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oja-raya"/>
          <p:cNvSpPr/>
          <p:nvPr/>
        </p:nvSpPr>
        <p:spPr>
          <a:xfrm>
            <a:off x="1868537" y="7603331"/>
            <a:ext cx="7048946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obre las fotos" descr="encima_1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98107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" y="271938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8635" y="272415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750" y="3009900"/>
            <a:ext cx="237395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Equipos transversales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750" y="3418433"/>
            <a:ext cx="206826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Equipos para la producción de la FPO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750" y="3832919"/>
            <a:ext cx="4425850" cy="971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Servicio de movimientos relacionados con remoción de suelos, carga, descarga y traslado de materiales logísticos y misceláneos, contemplados en las operaciones de rehabilitación y reacondicionamiento de pozos, subestaciones eléctricas, estaciones de flujo y descarga, asociados a las labores operacionales de las divisiones pertenecientes a la Dirección Ejecutiva de Producción FPO.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" y="67532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7350" y="98107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95900" y="2719387"/>
            <a:ext cx="100667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4023" y="272415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5900" y="3009900"/>
            <a:ext cx="175423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Chuto con batea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5900" y="3418433"/>
            <a:ext cx="2574428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Movilización de equipos y materiales de la FPO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5900" y="3832919"/>
            <a:ext cx="4550717" cy="971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Movilización de todos los materiales y equipos (transformadores, generadores, plantas), misceláneos y lubricantes, desde las instalaciones PDVSA a nivel nacional hasta las áreas operacionales de las divisiones Carabobo, Ayacucho, Junín y Boyacá, adscritas a la Dirección Adjunta de Logística perteneciente a la Dirección Ejecutiva de Producción FPO HC.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0545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5450" y="67532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7553325"/>
            <a:ext cx="706487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PROYECTOS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0833" y="7500937"/>
            <a:ext cx="455116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12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785367" y="270510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28575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28575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353920" y="270510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529590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529590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10" name="bombeo_1" descr="foto_14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1" name="bombeo_2" descr="foto_14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bombeo_3" descr="foto_14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3" name="sinovensa_1" descr="foto_14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590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4" name="sinovensa_2" descr="foto_14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590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inovensa_3" descr="foto_14_0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047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sp>
        <p:nvSpPr>
          <p:cNvPr id="16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oja-raya"/>
          <p:cNvSpPr/>
          <p:nvPr/>
        </p:nvSpPr>
        <p:spPr>
          <a:xfrm>
            <a:off x="1868537" y="7603331"/>
            <a:ext cx="7049690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obre las fotos" descr="encima_1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98107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" y="271938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833" y="272415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750" y="3009900"/>
            <a:ext cx="3974752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Mantenimiento de equipos de bombeo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750" y="3418433"/>
            <a:ext cx="295855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Áreas operacionales de la Faja Petrolífera del Orinoco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750" y="3832919"/>
            <a:ext cx="4445793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Reparación de bombas marca Bornemann, Warren, Sulzer y Flowserve, utilizadas para el transporte de fluidos en superficie y ubicadas en instalaciones pertenecientes a la Faja Petrolífera del Orinoco.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" y="6753225"/>
            <a:ext cx="2206525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Gestión de Materiales DAL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7350" y="98107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95900" y="271938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2386" y="272415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5900" y="3009900"/>
            <a:ext cx="3845569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Alquiler de maquinaria — SINOVENSA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5900" y="3418433"/>
            <a:ext cx="218241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Activación de pozos, División Carabobo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5900" y="3832919"/>
            <a:ext cx="3951386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Servicios de maquinaria pesada para realizar actividades operacionales que contribuyan con la activación de pozos en la División Carabobo.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0545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5450" y="6753225"/>
            <a:ext cx="1988046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PETROLERA SINOVENSA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7553325"/>
            <a:ext cx="706487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PROYECTOS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577" y="7500937"/>
            <a:ext cx="454372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13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343770" y="270510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28575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28575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349307" y="270510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5295900" y="36708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5295900" y="6496050"/>
            <a:ext cx="4476750" cy="628650"/>
          </a:xfrm>
          <a:custGeom>
            <a:avLst/>
            <a:gdLst/>
            <a:ahLst/>
            <a:cxnLst/>
            <a:rect l="l" t="t" r="r" b="b"/>
            <a:pathLst>
              <a:path w="4476750" h="628650">
                <a:moveTo>
                  <a:pt x="0" y="0"/>
                </a:moveTo>
                <a:lnTo>
                  <a:pt x="4476750" y="0"/>
                </a:lnTo>
                <a:lnTo>
                  <a:pt x="447675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10" name="cortafuego_1" descr="foto_15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1" name="cortafuego_2" descr="foto_15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cortafuego_3" descr="foto_15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3" name="xpmorichal_1" descr="foto_15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5900" y="914400"/>
            <a:ext cx="4476750" cy="1638300"/>
          </a:xfrm>
          <a:custGeom>
            <a:avLst/>
            <a:gdLst/>
            <a:ahLst/>
            <a:cxnLst/>
            <a:rect l="l" t="t" r="r" b="b"/>
            <a:pathLst>
              <a:path w="4476750" h="1638300">
                <a:moveTo>
                  <a:pt x="0" y="0"/>
                </a:moveTo>
                <a:lnTo>
                  <a:pt x="4476750" y="0"/>
                </a:lnTo>
                <a:lnTo>
                  <a:pt x="4152900" y="1638300"/>
                </a:lnTo>
                <a:lnTo>
                  <a:pt x="0" y="1638300"/>
                </a:lnTo>
                <a:close/>
              </a:path>
            </a:pathLst>
          </a:custGeom>
        </p:spPr>
      </p:pic>
      <p:pic>
        <p:nvPicPr>
          <p:cNvPr id="14" name="xpmorichal_2" descr="foto_15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5900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xpmorichal_3" descr="foto_15_0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0475" y="4991100"/>
            <a:ext cx="2162175" cy="1352550"/>
          </a:xfrm>
          <a:custGeom>
            <a:avLst/>
            <a:gdLst/>
            <a:ahLst/>
            <a:cxnLst/>
            <a:rect l="l" t="t" r="r" b="b"/>
            <a:pathLst>
              <a:path w="2162175" h="1352550">
                <a:moveTo>
                  <a:pt x="0" y="0"/>
                </a:moveTo>
                <a:lnTo>
                  <a:pt x="2162175" y="0"/>
                </a:lnTo>
                <a:lnTo>
                  <a:pt x="1952625" y="1352550"/>
                </a:lnTo>
                <a:lnTo>
                  <a:pt x="0" y="1352550"/>
                </a:lnTo>
                <a:close/>
              </a:path>
            </a:pathLst>
          </a:custGeom>
        </p:spPr>
      </p:pic>
      <p:sp>
        <p:nvSpPr>
          <p:cNvPr id="16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oja-raya"/>
          <p:cNvSpPr/>
          <p:nvPr/>
        </p:nvSpPr>
        <p:spPr>
          <a:xfrm>
            <a:off x="1868537" y="7603331"/>
            <a:ext cx="7042844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obre las fotos" descr="encima_1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98107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" y="271938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2236" y="272415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750" y="3009900"/>
            <a:ext cx="4075955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Cortafuegos en corredores de tuberías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750" y="3418433"/>
            <a:ext cx="86305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Divisiones FPO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750" y="3832919"/>
            <a:ext cx="4145458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y mantenimiento de cortafuegos en corredores de tubería y líneas eléctricas de oleoductos y diluenductos de la Faja. Incluyendo corrección de filtraciones por soldadura y encapsulamiento de grampas apernadas.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" y="67532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7350" y="98107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95900" y="2719387"/>
            <a:ext cx="100042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7772" y="272415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5900" y="3009900"/>
            <a:ext cx="353645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Alquiler de equipos — XP Morichal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5900" y="3418433"/>
            <a:ext cx="2902446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Unidad de Producción Extrapesado, Distrito Morichal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5900" y="3832919"/>
            <a:ext cx="4444007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Servicios para acondicionamiento y adecuación de vías de acceso y locaciones, los cuales son indispensables para el óptimo funcionamiento y operación de las unidades de producción de la División Carabobo.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05450" y="66198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5450" y="67532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7553325"/>
            <a:ext cx="706487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PROYECTOS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44731" y="7500937"/>
            <a:ext cx="461218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14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791618" y="361950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285750" y="4663678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285750" y="6553200"/>
            <a:ext cx="3810000" cy="628650"/>
          </a:xfrm>
          <a:custGeom>
            <a:avLst/>
            <a:gdLst/>
            <a:ahLst/>
            <a:cxnLst/>
            <a:rect l="l" t="t" r="r" b="b"/>
            <a:pathLst>
              <a:path w="3810000" h="628650">
                <a:moveTo>
                  <a:pt x="0" y="0"/>
                </a:moveTo>
                <a:lnTo>
                  <a:pt x="3810000" y="0"/>
                </a:lnTo>
                <a:lnTo>
                  <a:pt x="38100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7" name="curataqui_1" descr="foto_16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0550"/>
            <a:ext cx="10058400" cy="2571750"/>
          </a:xfrm>
          <a:prstGeom prst="rect">
            <a:avLst/>
          </a:prstGeom>
        </p:spPr>
      </p:pic>
      <p:pic>
        <p:nvPicPr>
          <p:cNvPr id="8" name="curataqui_2" descr="foto_16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5800" y="3467100"/>
            <a:ext cx="2562225" cy="1781175"/>
          </a:xfrm>
          <a:custGeom>
            <a:avLst/>
            <a:gdLst/>
            <a:ahLst/>
            <a:cxnLst/>
            <a:rect l="l" t="t" r="r" b="b"/>
            <a:pathLst>
              <a:path w="2562225" h="1781175">
                <a:moveTo>
                  <a:pt x="0" y="0"/>
                </a:moveTo>
                <a:lnTo>
                  <a:pt x="2562225" y="0"/>
                </a:lnTo>
                <a:lnTo>
                  <a:pt x="2352675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9" name="curataqui_3" descr="foto_16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0425" y="3467100"/>
            <a:ext cx="2562225" cy="1781175"/>
          </a:xfrm>
          <a:custGeom>
            <a:avLst/>
            <a:gdLst/>
            <a:ahLst/>
            <a:cxnLst/>
            <a:rect l="l" t="t" r="r" b="b"/>
            <a:pathLst>
              <a:path w="2562225" h="1781175">
                <a:moveTo>
                  <a:pt x="0" y="0"/>
                </a:moveTo>
                <a:lnTo>
                  <a:pt x="2562225" y="0"/>
                </a:lnTo>
                <a:lnTo>
                  <a:pt x="2352675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10" name="curataqui_4" descr="foto_16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5800" y="5400675"/>
            <a:ext cx="2562225" cy="1781175"/>
          </a:xfrm>
          <a:custGeom>
            <a:avLst/>
            <a:gdLst/>
            <a:ahLst/>
            <a:cxnLst/>
            <a:rect l="l" t="t" r="r" b="b"/>
            <a:pathLst>
              <a:path w="2562225" h="1781175">
                <a:moveTo>
                  <a:pt x="0" y="0"/>
                </a:moveTo>
                <a:lnTo>
                  <a:pt x="2562225" y="0"/>
                </a:lnTo>
                <a:lnTo>
                  <a:pt x="2352675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11" name="curataqui_5" descr="foto_16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10425" y="5400675"/>
            <a:ext cx="2562225" cy="1781175"/>
          </a:xfrm>
          <a:custGeom>
            <a:avLst/>
            <a:gdLst/>
            <a:ahLst/>
            <a:cxnLst/>
            <a:rect l="l" t="t" r="r" b="b"/>
            <a:pathLst>
              <a:path w="2562225" h="1781175">
                <a:moveTo>
                  <a:pt x="0" y="0"/>
                </a:moveTo>
                <a:lnTo>
                  <a:pt x="2562225" y="0"/>
                </a:lnTo>
                <a:lnTo>
                  <a:pt x="2352675" y="1781175"/>
                </a:lnTo>
                <a:lnTo>
                  <a:pt x="0" y="1781175"/>
                </a:lnTo>
                <a:close/>
              </a:path>
            </a:pathLst>
          </a:custGeom>
        </p:spPr>
      </p:pic>
      <p:sp>
        <p:nvSpPr>
          <p:cNvPr id="12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oja-raya"/>
          <p:cNvSpPr/>
          <p:nvPr/>
        </p:nvSpPr>
        <p:spPr>
          <a:xfrm>
            <a:off x="2470249" y="7603331"/>
            <a:ext cx="6447532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sobre las fotos" descr="encima_1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850" y="2971800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3633787"/>
            <a:ext cx="45288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083" y="363855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750" y="3914775"/>
            <a:ext cx="3253531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935"/>
              </a:lnSpc>
            </a:pPr>
            <a:r>
              <a:rPr sz="2850" b="1" i="0">
                <a:solidFill>
                  <a:srgbClr val="122149"/>
                </a:solidFill>
                <a:latin typeface="Barlow Condensed"/>
              </a:rPr>
              <a:t>Laguna de Curataquiche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" y="4411265"/>
            <a:ext cx="2162621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Saneamiento y restauración ambiental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" y="4835276"/>
            <a:ext cx="3721000" cy="14888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41"/>
              </a:lnSpc>
            </a:pPr>
            <a:r>
              <a:rPr sz="1012" b="0" i="0">
                <a:solidFill>
                  <a:srgbClr val="000000"/>
                </a:solidFill>
                <a:latin typeface="Barlow"/>
              </a:rPr>
              <a:t>Saneamiento y restauración de la Laguna de Curataquiche, progresiva 15+000 del Oleoducto de 36″, desarrollando actividades de remoción de capa de hidrocarburos con barreras oleofílicas y material particulado; estabilización mecánica, carga y transporte del material contaminado; reforestación del área, toma y análisis de muestras en la laguna, ejecutadas en las diferentes fases del proceso de saneamiento.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300" y="66770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300" y="68103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4900" y="7553325"/>
            <a:ext cx="1308199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PROYECTO DESTACADO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1131" y="7500937"/>
            <a:ext cx="454818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15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622877" y="1076325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" descr="foto_05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5" name="flota_1" descr="foto_17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81675"/>
            <a:ext cx="2703165" cy="1666875"/>
          </a:xfrm>
          <a:custGeom>
            <a:avLst/>
            <a:gdLst/>
            <a:ahLst/>
            <a:cxnLst/>
            <a:rect l="l" t="t" r="r" b="b"/>
            <a:pathLst>
              <a:path w="2703165" h="1666875">
                <a:moveTo>
                  <a:pt x="0" y="0"/>
                </a:moveTo>
                <a:lnTo>
                  <a:pt x="2703165" y="0"/>
                </a:lnTo>
                <a:lnTo>
                  <a:pt x="229769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6" name="flota_2" descr="foto_17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6034" y="5781675"/>
            <a:ext cx="2891730" cy="1666875"/>
          </a:xfrm>
          <a:custGeom>
            <a:avLst/>
            <a:gdLst/>
            <a:ahLst/>
            <a:cxnLst/>
            <a:rect l="l" t="t" r="r" b="b"/>
            <a:pathLst>
              <a:path w="2891730" h="1666875">
                <a:moveTo>
                  <a:pt x="433760" y="0"/>
                </a:moveTo>
                <a:lnTo>
                  <a:pt x="2891730" y="0"/>
                </a:lnTo>
                <a:lnTo>
                  <a:pt x="245797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7" name="flota_3" descr="foto_17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0634" y="5781675"/>
            <a:ext cx="2891730" cy="1666875"/>
          </a:xfrm>
          <a:custGeom>
            <a:avLst/>
            <a:gdLst/>
            <a:ahLst/>
            <a:cxnLst/>
            <a:rect l="l" t="t" r="r" b="b"/>
            <a:pathLst>
              <a:path w="2891730" h="1666875">
                <a:moveTo>
                  <a:pt x="433760" y="0"/>
                </a:moveTo>
                <a:lnTo>
                  <a:pt x="2891730" y="0"/>
                </a:lnTo>
                <a:lnTo>
                  <a:pt x="245797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8" name="flota_4" descr="foto_17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55234" y="5781675"/>
            <a:ext cx="2703165" cy="1666875"/>
          </a:xfrm>
          <a:custGeom>
            <a:avLst/>
            <a:gdLst/>
            <a:ahLst/>
            <a:cxnLst/>
            <a:rect l="l" t="t" r="r" b="b"/>
            <a:pathLst>
              <a:path w="2703165" h="1666875">
                <a:moveTo>
                  <a:pt x="405475" y="0"/>
                </a:moveTo>
                <a:lnTo>
                  <a:pt x="2703165" y="0"/>
                </a:lnTo>
                <a:lnTo>
                  <a:pt x="2703165" y="1666875"/>
                </a:lnTo>
                <a:lnTo>
                  <a:pt x="0" y="1666875"/>
                </a:lnTo>
                <a:close/>
              </a:path>
            </a:pathLst>
          </a:custGeom>
        </p:spPr>
      </p:pic>
      <p:sp>
        <p:nvSpPr>
          <p:cNvPr id="9" name="i"/>
          <p:cNvSpPr/>
          <p:nvPr/>
        </p:nvSpPr>
        <p:spPr>
          <a:xfrm>
            <a:off x="-572996" y="174575"/>
            <a:ext cx="1041218" cy="6032748"/>
          </a:xfrm>
          <a:custGeom>
            <a:avLst/>
            <a:gdLst/>
            <a:ahLst/>
            <a:cxnLst/>
            <a:rect l="l" t="t" r="r" b="b"/>
            <a:pathLst>
              <a:path w="1041218" h="6032748">
                <a:moveTo>
                  <a:pt x="955448" y="0"/>
                </a:moveTo>
                <a:lnTo>
                  <a:pt x="1041218" y="0"/>
                </a:lnTo>
                <a:lnTo>
                  <a:pt x="85770" y="6032748"/>
                </a:lnTo>
                <a:lnTo>
                  <a:pt x="0" y="6032748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"/>
          <p:cNvSpPr/>
          <p:nvPr/>
        </p:nvSpPr>
        <p:spPr>
          <a:xfrm>
            <a:off x="-344396" y="174575"/>
            <a:ext cx="1003118" cy="6032748"/>
          </a:xfrm>
          <a:custGeom>
            <a:avLst/>
            <a:gdLst/>
            <a:ahLst/>
            <a:cxnLst/>
            <a:rect l="l" t="t" r="r" b="b"/>
            <a:pathLst>
              <a:path w="1003118" h="6032748">
                <a:moveTo>
                  <a:pt x="955467" y="0"/>
                </a:moveTo>
                <a:lnTo>
                  <a:pt x="1003118" y="0"/>
                </a:lnTo>
                <a:lnTo>
                  <a:pt x="47651" y="6032748"/>
                </a:lnTo>
                <a:lnTo>
                  <a:pt x="0" y="6032748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oja-raya"/>
          <p:cNvSpPr/>
          <p:nvPr/>
        </p:nvSpPr>
        <p:spPr>
          <a:xfrm>
            <a:off x="2016621" y="7603331"/>
            <a:ext cx="6901160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sobre las fotos" descr="encima_0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43000" y="1009650"/>
            <a:ext cx="139824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FLOTA PROPIA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" y="1247775"/>
            <a:ext cx="4635996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244"/>
              </a:lnSpc>
            </a:pPr>
            <a:r>
              <a:rPr sz="3150" b="1" i="0">
                <a:solidFill>
                  <a:srgbClr val="FFFFFF"/>
                </a:solidFill>
                <a:latin typeface="Barlow Condensed"/>
              </a:rPr>
              <a:t>Una flota que no para de crecer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1878806"/>
            <a:ext cx="5004196" cy="66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5"/>
              </a:lnSpc>
            </a:pPr>
            <a:r>
              <a:rPr sz="1087" b="0" i="0">
                <a:solidFill>
                  <a:srgbClr val="FFFFFF"/>
                </a:solidFill>
                <a:latin typeface="Barlow"/>
              </a:rPr>
              <a:t>Respaldamos cada obra con una flota 100% propia y en constante expansión. Tras la exitosa incorporación de equipos en 2025, este 2026 sumaremos nueva maquinaria para seguir garantizando total autonomía en los proyectos más exigentes.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933450"/>
            <a:ext cx="611534" cy="571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375"/>
              </a:lnSpc>
            </a:pPr>
            <a:r>
              <a:rPr sz="3750" b="1" i="0" spc="-38">
                <a:solidFill>
                  <a:srgbClr val="FFFFFF"/>
                </a:solidFill>
                <a:latin typeface="Barlow Condensed"/>
              </a:rPr>
              <a:t>841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1485900"/>
            <a:ext cx="156239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EQUIPOS PROPIOS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2250" y="1933575"/>
            <a:ext cx="103361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44 tipos de equipo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7311" y="1933575"/>
            <a:ext cx="61049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38 marcas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650" y="2743200"/>
            <a:ext cx="338732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3105150"/>
            <a:ext cx="73178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Excavadoras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27200" y="2743200"/>
            <a:ext cx="335160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7200" y="3105150"/>
            <a:ext cx="546794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Vacuums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25750" y="2743200"/>
            <a:ext cx="34855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5750" y="3105150"/>
            <a:ext cx="104507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Tractores de oruga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4301" y="2743200"/>
            <a:ext cx="29006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4301" y="3105150"/>
            <a:ext cx="65424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Sidebooms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3000" y="2743200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3000" y="3105150"/>
            <a:ext cx="136668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elevadores 12 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1550" y="2743200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1550" y="3105150"/>
            <a:ext cx="1323230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elevadores 8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650" y="3475434"/>
            <a:ext cx="418802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138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650" y="3837384"/>
            <a:ext cx="44023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Chutos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27200" y="3475434"/>
            <a:ext cx="32518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27200" y="3837384"/>
            <a:ext cx="433089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Bateas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25750" y="3475434"/>
            <a:ext cx="335458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5750" y="3837384"/>
            <a:ext cx="46002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Volteos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4301" y="3475434"/>
            <a:ext cx="334863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4301" y="3837384"/>
            <a:ext cx="64338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Payloaders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3000" y="3475434"/>
            <a:ext cx="333821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3000" y="3837384"/>
            <a:ext cx="52744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Lowboys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1550" y="3475434"/>
            <a:ext cx="33441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21550" y="3837384"/>
            <a:ext cx="100771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Retroexcavadoras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8650" y="4207668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8650" y="4569618"/>
            <a:ext cx="92392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Motoniveladoras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27200" y="4207668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27200" y="4569618"/>
            <a:ext cx="67672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Mototraíllas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25750" y="4207668"/>
            <a:ext cx="29393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25750" y="4569618"/>
            <a:ext cx="84117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grúa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4301" y="4207668"/>
            <a:ext cx="29393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4301" y="4569618"/>
            <a:ext cx="115922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Chutos con brazo 16 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23000" y="4207668"/>
            <a:ext cx="204787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23000" y="4569618"/>
            <a:ext cx="106129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Tractores agrícolas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1550" y="4207668"/>
            <a:ext cx="32518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21550" y="4569618"/>
            <a:ext cx="129525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Otra maquinaria pesada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8650" y="5063728"/>
            <a:ext cx="418504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8650" y="5425678"/>
            <a:ext cx="689669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Camionetas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27200" y="5063728"/>
            <a:ext cx="34855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27200" y="5425678"/>
            <a:ext cx="126950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de soldadura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25750" y="5063728"/>
            <a:ext cx="20612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25750" y="5425678"/>
            <a:ext cx="69130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Cuadrilleras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24301" y="5063728"/>
            <a:ext cx="20612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24301" y="5425678"/>
            <a:ext cx="62448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Autobuses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23000" y="5063728"/>
            <a:ext cx="20582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23000" y="5425678"/>
            <a:ext cx="117276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de servicio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1550" y="5063728"/>
            <a:ext cx="33441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21550" y="5425678"/>
            <a:ext cx="127486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Otros equipos de apoyo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4900" y="7553325"/>
            <a:ext cx="854571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FLOTA PROPIA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51131" y="7500937"/>
            <a:ext cx="454818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16 /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622877" y="3946773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628650" y="460102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628650" y="491534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ayita"/>
          <p:cNvSpPr/>
          <p:nvPr/>
        </p:nvSpPr>
        <p:spPr>
          <a:xfrm>
            <a:off x="628650" y="522967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28650" y="554399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ayita"/>
          <p:cNvSpPr/>
          <p:nvPr/>
        </p:nvSpPr>
        <p:spPr>
          <a:xfrm>
            <a:off x="628650" y="585832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ayita"/>
          <p:cNvSpPr/>
          <p:nvPr/>
        </p:nvSpPr>
        <p:spPr>
          <a:xfrm>
            <a:off x="628650" y="617264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ayita"/>
          <p:cNvSpPr/>
          <p:nvPr/>
        </p:nvSpPr>
        <p:spPr>
          <a:xfrm>
            <a:off x="628650" y="648697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91529"/>
            <a:ext cx="2286000" cy="407342"/>
          </a:xfrm>
          <a:prstGeom prst="rect">
            <a:avLst/>
          </a:prstGeom>
        </p:spPr>
      </p:pic>
      <p:pic>
        <p:nvPicPr>
          <p:cNvPr id="12" name="clientes_equipo" descr="foto_18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0550"/>
            <a:ext cx="10058400" cy="2857500"/>
          </a:xfrm>
          <a:prstGeom prst="rect">
            <a:avLst/>
          </a:prstGeom>
        </p:spPr>
      </p:pic>
      <p:pic>
        <p:nvPicPr>
          <p:cNvPr id="13" name="logo_pdvsa" descr="foto_18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448050"/>
            <a:ext cx="10058400" cy="4000500"/>
          </a:xfrm>
          <a:prstGeom prst="rect">
            <a:avLst/>
          </a:prstGeom>
        </p:spPr>
      </p:pic>
      <p:pic>
        <p:nvPicPr>
          <p:cNvPr id="14" name="logo_petromonagas" descr="foto_18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448050"/>
            <a:ext cx="10058400" cy="4000500"/>
          </a:xfrm>
          <a:prstGeom prst="rect">
            <a:avLst/>
          </a:prstGeom>
        </p:spPr>
      </p:pic>
      <p:pic>
        <p:nvPicPr>
          <p:cNvPr id="15" name="logo_sinovensa" descr="foto_18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448050"/>
            <a:ext cx="10058400" cy="4000500"/>
          </a:xfrm>
          <a:prstGeom prst="rect">
            <a:avLst/>
          </a:prstGeom>
        </p:spPr>
      </p:pic>
      <p:sp>
        <p:nvSpPr>
          <p:cNvPr id="16" name="i"/>
          <p:cNvSpPr/>
          <p:nvPr/>
        </p:nvSpPr>
        <p:spPr>
          <a:xfrm>
            <a:off x="-357748" y="361950"/>
            <a:ext cx="610721" cy="3314700"/>
          </a:xfrm>
          <a:custGeom>
            <a:avLst/>
            <a:gdLst/>
            <a:ahLst/>
            <a:cxnLst/>
            <a:rect l="l" t="t" r="r" b="b"/>
            <a:pathLst>
              <a:path w="610721" h="3314700">
                <a:moveTo>
                  <a:pt x="524996" y="0"/>
                </a:moveTo>
                <a:lnTo>
                  <a:pt x="610721" y="0"/>
                </a:lnTo>
                <a:lnTo>
                  <a:pt x="85725" y="3314700"/>
                </a:lnTo>
                <a:lnTo>
                  <a:pt x="0" y="33147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-129148" y="361950"/>
            <a:ext cx="572621" cy="3314700"/>
          </a:xfrm>
          <a:custGeom>
            <a:avLst/>
            <a:gdLst/>
            <a:ahLst/>
            <a:cxnLst/>
            <a:rect l="l" t="t" r="r" b="b"/>
            <a:pathLst>
              <a:path w="572621" h="3314700">
                <a:moveTo>
                  <a:pt x="524996" y="0"/>
                </a:moveTo>
                <a:lnTo>
                  <a:pt x="572621" y="0"/>
                </a:lnTo>
                <a:lnTo>
                  <a:pt x="47625" y="3314700"/>
                </a:lnTo>
                <a:lnTo>
                  <a:pt x="0" y="331470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-462738" y="3128069"/>
            <a:ext cx="820701" cy="4640460"/>
          </a:xfrm>
          <a:custGeom>
            <a:avLst/>
            <a:gdLst/>
            <a:ahLst/>
            <a:cxnLst/>
            <a:rect l="l" t="t" r="r" b="b"/>
            <a:pathLst>
              <a:path w="820701" h="4640460">
                <a:moveTo>
                  <a:pt x="734946" y="0"/>
                </a:moveTo>
                <a:lnTo>
                  <a:pt x="820701" y="0"/>
                </a:lnTo>
                <a:lnTo>
                  <a:pt x="85755" y="4640460"/>
                </a:lnTo>
                <a:lnTo>
                  <a:pt x="0" y="46404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"/>
          <p:cNvSpPr/>
          <p:nvPr/>
        </p:nvSpPr>
        <p:spPr>
          <a:xfrm>
            <a:off x="-234138" y="3128069"/>
            <a:ext cx="782601" cy="4640460"/>
          </a:xfrm>
          <a:custGeom>
            <a:avLst/>
            <a:gdLst/>
            <a:ahLst/>
            <a:cxnLst/>
            <a:rect l="l" t="t" r="r" b="b"/>
            <a:pathLst>
              <a:path w="782601" h="4640460">
                <a:moveTo>
                  <a:pt x="734959" y="0"/>
                </a:moveTo>
                <a:lnTo>
                  <a:pt x="782601" y="0"/>
                </a:lnTo>
                <a:lnTo>
                  <a:pt x="47642" y="4640460"/>
                </a:lnTo>
                <a:lnTo>
                  <a:pt x="0" y="46404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70924" y="152400"/>
            <a:ext cx="210700" cy="285750"/>
          </a:xfrm>
          <a:custGeom>
            <a:avLst/>
            <a:gdLst/>
            <a:ahLst/>
            <a:cxnLst/>
            <a:rect l="l" t="t" r="r" b="b"/>
            <a:pathLst>
              <a:path w="210700" h="285750">
                <a:moveTo>
                  <a:pt x="115450" y="0"/>
                </a:moveTo>
                <a:lnTo>
                  <a:pt x="210700" y="0"/>
                </a:lnTo>
                <a:lnTo>
                  <a:pt x="952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837624" y="152400"/>
            <a:ext cx="286900" cy="285750"/>
          </a:xfrm>
          <a:custGeom>
            <a:avLst/>
            <a:gdLst/>
            <a:ahLst/>
            <a:cxnLst/>
            <a:rect l="l" t="t" r="r" b="b"/>
            <a:pathLst>
              <a:path w="286900" h="285750">
                <a:moveTo>
                  <a:pt x="115450" y="0"/>
                </a:moveTo>
                <a:lnTo>
                  <a:pt x="286900" y="0"/>
                </a:lnTo>
                <a:lnTo>
                  <a:pt x="17145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"/>
          <p:cNvSpPr/>
          <p:nvPr/>
        </p:nvSpPr>
        <p:spPr>
          <a:xfrm>
            <a:off x="1180524" y="152400"/>
            <a:ext cx="191650" cy="285750"/>
          </a:xfrm>
          <a:custGeom>
            <a:avLst/>
            <a:gdLst/>
            <a:ahLst/>
            <a:cxnLst/>
            <a:rect l="l" t="t" r="r" b="b"/>
            <a:pathLst>
              <a:path w="191650" h="285750">
                <a:moveTo>
                  <a:pt x="115450" y="0"/>
                </a:moveTo>
                <a:lnTo>
                  <a:pt x="191650" y="0"/>
                </a:lnTo>
                <a:lnTo>
                  <a:pt x="762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oja-raya"/>
          <p:cNvSpPr/>
          <p:nvPr/>
        </p:nvSpPr>
        <p:spPr>
          <a:xfrm>
            <a:off x="1447800" y="283368"/>
            <a:ext cx="55626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oja-raya"/>
          <p:cNvSpPr/>
          <p:nvPr/>
        </p:nvSpPr>
        <p:spPr>
          <a:xfrm>
            <a:off x="1772542" y="7603331"/>
            <a:ext cx="7149851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sobre las fotos" descr="encima_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143000" y="2299245"/>
            <a:ext cx="97943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CLIENTES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" y="2527845"/>
            <a:ext cx="3343870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Nuestros clientes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886200"/>
            <a:ext cx="265241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70"/>
              </a:lnSpc>
            </a:pPr>
            <a:r>
              <a:rPr sz="1012" b="1" i="0" spc="182">
                <a:solidFill>
                  <a:srgbClr val="FFFFFF"/>
                </a:solidFill>
                <a:latin typeface="Barlow"/>
              </a:rPr>
              <a:t>CONTRATOS DIRECTOS CON SIETE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098280"/>
            <a:ext cx="3346995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70"/>
              </a:lnSpc>
            </a:pPr>
            <a:r>
              <a:rPr sz="1012" b="1" i="0" spc="182">
                <a:solidFill>
                  <a:srgbClr val="FFFFFF"/>
                </a:solidFill>
                <a:latin typeface="Barlow"/>
              </a:rPr>
              <a:t>GERENCIAS Y COORDINACIONES DE LA FPO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7250" y="4519910"/>
            <a:ext cx="330383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Proyectos Mayores de Producción FPO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" y="4834235"/>
            <a:ext cx="276701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Distribución y Transporte Faja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250" y="5148560"/>
            <a:ext cx="2829520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Logística Operacional DAL FPO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250" y="5462885"/>
            <a:ext cx="2842766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Gestión de Materiales DAL-FPO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" y="5777210"/>
            <a:ext cx="321185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Tratamiento y Calidad de Fluidos TCF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7250" y="6091535"/>
            <a:ext cx="161106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Perforación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7250" y="6405860"/>
            <a:ext cx="230981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Coordinación Operacional Faja COF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0550" y="4288333"/>
            <a:ext cx="929133" cy="40362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PETRÓLEOS DE VENEZUELA, S.A.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0550" y="5442644"/>
            <a:ext cx="996106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EMPRESA MIXTA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0550" y="6452294"/>
            <a:ext cx="996106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EMPRESA MIXTA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4900" y="7553325"/>
            <a:ext cx="610492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55"/>
              </a:lnSpc>
            </a:pPr>
            <a:r>
              <a:rPr sz="712" b="1" i="0" spc="128">
                <a:solidFill>
                  <a:srgbClr val="2A3C78"/>
                </a:solidFill>
                <a:latin typeface="Barlow"/>
              </a:rPr>
              <a:t>CLIENTES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5744" y="7500937"/>
            <a:ext cx="450205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1125" b="1" i="0" spc="68">
                <a:solidFill>
                  <a:srgbClr val="122149"/>
                </a:solidFill>
                <a:latin typeface="Barlow Condensed"/>
              </a:rPr>
              <a:t>17 /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cuna-ice"/>
          <p:cNvSpPr/>
          <p:nvPr/>
        </p:nvSpPr>
        <p:spPr>
          <a:xfrm>
            <a:off x="0" y="2280939"/>
            <a:ext cx="5257800" cy="2757785"/>
          </a:xfrm>
          <a:custGeom>
            <a:avLst/>
            <a:gdLst/>
            <a:ahLst/>
            <a:cxnLst/>
            <a:rect l="l" t="t" r="r" b="b"/>
            <a:pathLst>
              <a:path w="5257800" h="2757785">
                <a:moveTo>
                  <a:pt x="0" y="717024"/>
                </a:moveTo>
                <a:lnTo>
                  <a:pt x="5257800" y="0"/>
                </a:lnTo>
                <a:lnTo>
                  <a:pt x="5257800" y="2757785"/>
                </a:lnTo>
                <a:lnTo>
                  <a:pt x="0" y="2757785"/>
                </a:lnTo>
                <a:close/>
              </a:path>
            </a:pathLst>
          </a:custGeom>
          <a:solidFill>
            <a:srgbClr val="EB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inea"/>
          <p:cNvSpPr/>
          <p:nvPr/>
        </p:nvSpPr>
        <p:spPr>
          <a:xfrm>
            <a:off x="523875" y="1880741"/>
            <a:ext cx="4219575" cy="9525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514254" y="1852166"/>
            <a:ext cx="1086041" cy="47625"/>
          </a:xfrm>
          <a:custGeom>
            <a:avLst/>
            <a:gdLst/>
            <a:ahLst/>
            <a:cxnLst/>
            <a:rect l="l" t="t" r="r" b="b"/>
            <a:pathLst>
              <a:path w="1086041" h="47625">
                <a:moveTo>
                  <a:pt x="19242" y="0"/>
                </a:moveTo>
                <a:lnTo>
                  <a:pt x="1086041" y="0"/>
                </a:lnTo>
                <a:lnTo>
                  <a:pt x="1066799" y="47625"/>
                </a:lnTo>
                <a:lnTo>
                  <a:pt x="0" y="47625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"/>
          <p:cNvSpPr/>
          <p:nvPr/>
        </p:nvSpPr>
        <p:spPr>
          <a:xfrm>
            <a:off x="1604917" y="421957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0C1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"/>
          <p:cNvSpPr/>
          <p:nvPr/>
        </p:nvSpPr>
        <p:spPr>
          <a:xfrm>
            <a:off x="1414417" y="421957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"/>
          <p:cNvSpPr/>
          <p:nvPr/>
        </p:nvSpPr>
        <p:spPr>
          <a:xfrm>
            <a:off x="1223917" y="421957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1033417" y="421957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logo" descr="foto_19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0550"/>
            <a:ext cx="10058400" cy="6858000"/>
          </a:xfrm>
          <a:prstGeom prst="rect">
            <a:avLst/>
          </a:prstGeom>
        </p:spPr>
      </p:pic>
      <p:pic>
        <p:nvPicPr>
          <p:cNvPr id="11" name="flota_equipo_cierre" descr="foto_19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8275" y="581025"/>
            <a:ext cx="4810125" cy="4457700"/>
          </a:xfrm>
          <a:custGeom>
            <a:avLst/>
            <a:gdLst/>
            <a:ahLst/>
            <a:cxnLst/>
            <a:rect l="l" t="t" r="r" b="b"/>
            <a:pathLst>
              <a:path w="4810125" h="4457700">
                <a:moveTo>
                  <a:pt x="529114" y="0"/>
                </a:moveTo>
                <a:lnTo>
                  <a:pt x="4810125" y="0"/>
                </a:lnTo>
                <a:lnTo>
                  <a:pt x="4810125" y="4457700"/>
                </a:lnTo>
                <a:lnTo>
                  <a:pt x="96203" y="4457700"/>
                </a:lnTo>
                <a:close/>
              </a:path>
            </a:pathLst>
          </a:custGeom>
        </p:spPr>
      </p:pic>
      <p:sp>
        <p:nvSpPr>
          <p:cNvPr id="12" name="i"/>
          <p:cNvSpPr/>
          <p:nvPr/>
        </p:nvSpPr>
        <p:spPr>
          <a:xfrm>
            <a:off x="4564621" y="495300"/>
            <a:ext cx="767232" cy="4543425"/>
          </a:xfrm>
          <a:custGeom>
            <a:avLst/>
            <a:gdLst/>
            <a:ahLst/>
            <a:cxnLst/>
            <a:rect l="l" t="t" r="r" b="b"/>
            <a:pathLst>
              <a:path w="767232" h="4543425">
                <a:moveTo>
                  <a:pt x="719607" y="0"/>
                </a:moveTo>
                <a:lnTo>
                  <a:pt x="767232" y="0"/>
                </a:lnTo>
                <a:lnTo>
                  <a:pt x="47625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"/>
          <p:cNvSpPr/>
          <p:nvPr/>
        </p:nvSpPr>
        <p:spPr>
          <a:xfrm>
            <a:off x="4736071" y="495300"/>
            <a:ext cx="805332" cy="4543425"/>
          </a:xfrm>
          <a:custGeom>
            <a:avLst/>
            <a:gdLst/>
            <a:ahLst/>
            <a:cxnLst/>
            <a:rect l="l" t="t" r="r" b="b"/>
            <a:pathLst>
              <a:path w="805332" h="4543425">
                <a:moveTo>
                  <a:pt x="719607" y="0"/>
                </a:moveTo>
                <a:lnTo>
                  <a:pt x="805332" y="0"/>
                </a:lnTo>
                <a:lnTo>
                  <a:pt x="85725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"/>
          <p:cNvSpPr/>
          <p:nvPr/>
        </p:nvSpPr>
        <p:spPr>
          <a:xfrm>
            <a:off x="4945620" y="495300"/>
            <a:ext cx="757707" cy="4543425"/>
          </a:xfrm>
          <a:custGeom>
            <a:avLst/>
            <a:gdLst/>
            <a:ahLst/>
            <a:cxnLst/>
            <a:rect l="l" t="t" r="r" b="b"/>
            <a:pathLst>
              <a:path w="757707" h="4543425">
                <a:moveTo>
                  <a:pt x="719607" y="0"/>
                </a:moveTo>
                <a:lnTo>
                  <a:pt x="757707" y="0"/>
                </a:lnTo>
                <a:lnTo>
                  <a:pt x="38100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"/>
          <p:cNvSpPr/>
          <p:nvPr/>
        </p:nvSpPr>
        <p:spPr>
          <a:xfrm>
            <a:off x="-317487" y="4835723"/>
            <a:ext cx="530199" cy="2806303"/>
          </a:xfrm>
          <a:custGeom>
            <a:avLst/>
            <a:gdLst/>
            <a:ahLst/>
            <a:cxnLst/>
            <a:rect l="l" t="t" r="r" b="b"/>
            <a:pathLst>
              <a:path w="530199" h="2806303">
                <a:moveTo>
                  <a:pt x="444565" y="0"/>
                </a:moveTo>
                <a:lnTo>
                  <a:pt x="530199" y="0"/>
                </a:lnTo>
                <a:lnTo>
                  <a:pt x="85634" y="2806303"/>
                </a:lnTo>
                <a:lnTo>
                  <a:pt x="0" y="2806303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"/>
          <p:cNvSpPr/>
          <p:nvPr/>
        </p:nvSpPr>
        <p:spPr>
          <a:xfrm>
            <a:off x="-88887" y="4835723"/>
            <a:ext cx="492099" cy="2806303"/>
          </a:xfrm>
          <a:custGeom>
            <a:avLst/>
            <a:gdLst/>
            <a:ahLst/>
            <a:cxnLst/>
            <a:rect l="l" t="t" r="r" b="b"/>
            <a:pathLst>
              <a:path w="492099" h="2806303">
                <a:moveTo>
                  <a:pt x="444529" y="0"/>
                </a:moveTo>
                <a:lnTo>
                  <a:pt x="492099" y="0"/>
                </a:lnTo>
                <a:lnTo>
                  <a:pt x="47570" y="2806303"/>
                </a:lnTo>
                <a:lnTo>
                  <a:pt x="0" y="2806303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oja-raya"/>
          <p:cNvSpPr/>
          <p:nvPr/>
        </p:nvSpPr>
        <p:spPr>
          <a:xfrm>
            <a:off x="628650" y="283368"/>
            <a:ext cx="8801100" cy="23812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599787" y="7539037"/>
            <a:ext cx="105350" cy="142875"/>
          </a:xfrm>
          <a:custGeom>
            <a:avLst/>
            <a:gdLst/>
            <a:ahLst/>
            <a:cxnLst/>
            <a:rect l="l" t="t" r="r" b="b"/>
            <a:pathLst>
              <a:path w="105350" h="142875">
                <a:moveTo>
                  <a:pt x="57725" y="0"/>
                </a:moveTo>
                <a:lnTo>
                  <a:pt x="105350" y="0"/>
                </a:lnTo>
                <a:lnTo>
                  <a:pt x="476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"/>
          <p:cNvSpPr/>
          <p:nvPr/>
        </p:nvSpPr>
        <p:spPr>
          <a:xfrm>
            <a:off x="733137" y="7539037"/>
            <a:ext cx="143450" cy="142875"/>
          </a:xfrm>
          <a:custGeom>
            <a:avLst/>
            <a:gdLst/>
            <a:ahLst/>
            <a:cxnLst/>
            <a:rect l="l" t="t" r="r" b="b"/>
            <a:pathLst>
              <a:path w="143450" h="142875">
                <a:moveTo>
                  <a:pt x="57725" y="0"/>
                </a:moveTo>
                <a:lnTo>
                  <a:pt x="143450" y="0"/>
                </a:lnTo>
                <a:lnTo>
                  <a:pt x="85725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904587" y="7539037"/>
            <a:ext cx="95825" cy="142875"/>
          </a:xfrm>
          <a:custGeom>
            <a:avLst/>
            <a:gdLst/>
            <a:ahLst/>
            <a:cxnLst/>
            <a:rect l="l" t="t" r="r" b="b"/>
            <a:pathLst>
              <a:path w="95825" h="142875">
                <a:moveTo>
                  <a:pt x="57725" y="0"/>
                </a:moveTo>
                <a:lnTo>
                  <a:pt x="95825" y="0"/>
                </a:lnTo>
                <a:lnTo>
                  <a:pt x="38100" y="142875"/>
                </a:lnTo>
                <a:lnTo>
                  <a:pt x="0" y="14287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oja-raya"/>
          <p:cNvSpPr/>
          <p:nvPr/>
        </p:nvSpPr>
        <p:spPr>
          <a:xfrm>
            <a:off x="1104900" y="7603331"/>
            <a:ext cx="8324850" cy="14287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sobre las fotos" descr="encima_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23875" y="2204591"/>
            <a:ext cx="3750468" cy="504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399"/>
              </a:lnSpc>
            </a:pPr>
            <a:r>
              <a:rPr sz="3300" b="1" i="0">
                <a:solidFill>
                  <a:srgbClr val="122149"/>
                </a:solidFill>
                <a:latin typeface="Barlow Condensed"/>
              </a:rPr>
              <a:t>La fuerza que construye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" y="2636192"/>
            <a:ext cx="4178349" cy="504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399"/>
              </a:lnSpc>
            </a:pPr>
            <a:r>
              <a:rPr sz="3300" b="1" i="0">
                <a:solidFill>
                  <a:srgbClr val="122149"/>
                </a:solidFill>
                <a:latin typeface="Barlow Condensed"/>
              </a:rPr>
              <a:t>nuestra industria petrolera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775" y="5468242"/>
            <a:ext cx="1442293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11"/>
              </a:lnSpc>
            </a:pPr>
            <a:r>
              <a:rPr sz="787" b="1" i="0" spc="236">
                <a:solidFill>
                  <a:srgbClr val="FFFFFF"/>
                </a:solidFill>
                <a:latin typeface="Barlow"/>
              </a:rPr>
              <a:t>SEDE CORPORATIVA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" y="5753100"/>
            <a:ext cx="3487935" cy="393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2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Calle París entre New York y Caroní, Edif. #177, Urb. Las Mercedes, Municipio Baruta, Edo. Miranda — Caracas.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2075" y="5468242"/>
            <a:ext cx="1257151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11"/>
              </a:lnSpc>
            </a:pPr>
            <a:r>
              <a:rPr sz="787" b="1" i="0" spc="236">
                <a:solidFill>
                  <a:srgbClr val="FFFFFF"/>
                </a:solidFill>
                <a:latin typeface="Barlow"/>
              </a:rPr>
              <a:t>SEDE OPERATIVA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3950" y="5753100"/>
            <a:ext cx="1675209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2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Lechería, estado Anzoátegui.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2375" y="5468242"/>
            <a:ext cx="796974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11"/>
              </a:lnSpc>
            </a:pPr>
            <a:r>
              <a:rPr sz="787" b="1" i="0" spc="236">
                <a:solidFill>
                  <a:srgbClr val="FFFFFF"/>
                </a:solidFill>
                <a:latin typeface="Barlow"/>
              </a:rPr>
              <a:t>TELÉFONO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34250" y="5753100"/>
            <a:ext cx="2051298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2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+58 212 994.1106 / 1253 / 0987 / 0730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2375" y="6090195"/>
            <a:ext cx="623143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11"/>
              </a:lnSpc>
            </a:pPr>
            <a:r>
              <a:rPr sz="787" b="1" i="0" spc="236">
                <a:solidFill>
                  <a:srgbClr val="FFFFFF"/>
                </a:solidFill>
                <a:latin typeface="Barlow"/>
              </a:rPr>
              <a:t>CORREO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4250" y="6375052"/>
            <a:ext cx="123929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2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Info@cvidalsa27.com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