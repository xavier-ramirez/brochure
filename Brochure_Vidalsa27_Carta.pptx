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6.png"/><Relationship Id="rId4" Type="http://schemas.openxmlformats.org/officeDocument/2006/relationships/image" Target="../media/image13.jp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6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6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Relationship Id="rId10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6.pn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Relationship Id="rId9" Type="http://schemas.openxmlformats.org/officeDocument/2006/relationships/image" Target="../media/image44.jpg"/><Relationship Id="rId10" Type="http://schemas.openxmlformats.org/officeDocument/2006/relationships/image" Target="../media/image4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6.png"/><Relationship Id="rId4" Type="http://schemas.openxmlformats.org/officeDocument/2006/relationships/image" Target="../media/image47.jpg"/><Relationship Id="rId5" Type="http://schemas.openxmlformats.org/officeDocument/2006/relationships/image" Target="../media/image48.jpg"/><Relationship Id="rId6" Type="http://schemas.openxmlformats.org/officeDocument/2006/relationships/image" Target="../media/image49.jpg"/><Relationship Id="rId7" Type="http://schemas.openxmlformats.org/officeDocument/2006/relationships/image" Target="../media/image50.jpg"/><Relationship Id="rId8" Type="http://schemas.openxmlformats.org/officeDocument/2006/relationships/image" Target="../media/image51.jpg"/><Relationship Id="rId9" Type="http://schemas.openxmlformats.org/officeDocument/2006/relationships/image" Target="../media/image52.jpg"/><Relationship Id="rId10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6.pn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20.pn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65.jpg"/><Relationship Id="rId8" Type="http://schemas.openxmlformats.org/officeDocument/2006/relationships/image" Target="../media/image66.jpg"/><Relationship Id="rId9" Type="http://schemas.openxmlformats.org/officeDocument/2006/relationships/image" Target="../media/image67.jpg"/><Relationship Id="rId10" Type="http://schemas.openxmlformats.org/officeDocument/2006/relationships/image" Target="../media/image6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image" Target="../media/image27.png"/><Relationship Id="rId4" Type="http://schemas.openxmlformats.org/officeDocument/2006/relationships/image" Target="../media/image70.jpg"/><Relationship Id="rId5" Type="http://schemas.openxmlformats.org/officeDocument/2006/relationships/image" Target="../media/image71.jpg"/><Relationship Id="rId6" Type="http://schemas.openxmlformats.org/officeDocument/2006/relationships/image" Target="../media/image72.jpg"/><Relationship Id="rId7" Type="http://schemas.openxmlformats.org/officeDocument/2006/relationships/image" Target="../media/image73.jpg"/><Relationship Id="rId8" Type="http://schemas.openxmlformats.org/officeDocument/2006/relationships/image" Target="../media/image74.jpg"/><Relationship Id="rId9" Type="http://schemas.openxmlformats.org/officeDocument/2006/relationships/image" Target="../media/image75.jpg"/><Relationship Id="rId10" Type="http://schemas.openxmlformats.org/officeDocument/2006/relationships/image" Target="../media/image7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6.png"/><Relationship Id="rId4" Type="http://schemas.openxmlformats.org/officeDocument/2006/relationships/image" Target="../media/image78.jpg"/><Relationship Id="rId5" Type="http://schemas.openxmlformats.org/officeDocument/2006/relationships/image" Target="../media/image79.jpg"/><Relationship Id="rId6" Type="http://schemas.openxmlformats.org/officeDocument/2006/relationships/image" Target="../media/image80.jpg"/><Relationship Id="rId7" Type="http://schemas.openxmlformats.org/officeDocument/2006/relationships/image" Target="../media/image81.jpg"/><Relationship Id="rId8" Type="http://schemas.openxmlformats.org/officeDocument/2006/relationships/image" Target="../media/image82.jpg"/><Relationship Id="rId9" Type="http://schemas.openxmlformats.org/officeDocument/2006/relationships/image" Target="../media/image83.jpg"/><Relationship Id="rId10" Type="http://schemas.openxmlformats.org/officeDocument/2006/relationships/image" Target="../media/image8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image" Target="../media/image6.png"/><Relationship Id="rId4" Type="http://schemas.openxmlformats.org/officeDocument/2006/relationships/image" Target="../media/image86.jpg"/><Relationship Id="rId5" Type="http://schemas.openxmlformats.org/officeDocument/2006/relationships/image" Target="../media/image87.jpg"/><Relationship Id="rId6" Type="http://schemas.openxmlformats.org/officeDocument/2006/relationships/image" Target="../media/image88.jpg"/><Relationship Id="rId7" Type="http://schemas.openxmlformats.org/officeDocument/2006/relationships/image" Target="../media/image89.jpg"/><Relationship Id="rId8" Type="http://schemas.openxmlformats.org/officeDocument/2006/relationships/image" Target="../media/image90.jpg"/><Relationship Id="rId9" Type="http://schemas.openxmlformats.org/officeDocument/2006/relationships/image" Target="../media/image91.jpg"/><Relationship Id="rId10" Type="http://schemas.openxmlformats.org/officeDocument/2006/relationships/image" Target="../media/image9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6.png"/><Relationship Id="rId4" Type="http://schemas.openxmlformats.org/officeDocument/2006/relationships/image" Target="../media/image94.jpg"/><Relationship Id="rId5" Type="http://schemas.openxmlformats.org/officeDocument/2006/relationships/image" Target="../media/image95.jpg"/><Relationship Id="rId6" Type="http://schemas.openxmlformats.org/officeDocument/2006/relationships/image" Target="../media/image96.jpg"/><Relationship Id="rId7" Type="http://schemas.openxmlformats.org/officeDocument/2006/relationships/image" Target="../media/image97.jpg"/><Relationship Id="rId8" Type="http://schemas.openxmlformats.org/officeDocument/2006/relationships/image" Target="../media/image98.jpg"/><Relationship Id="rId9" Type="http://schemas.openxmlformats.org/officeDocument/2006/relationships/image" Target="../media/image99.jpg"/><Relationship Id="rId10" Type="http://schemas.openxmlformats.org/officeDocument/2006/relationships/image" Target="../media/image8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Relationship Id="rId3" Type="http://schemas.openxmlformats.org/officeDocument/2006/relationships/image" Target="../media/image6.png"/><Relationship Id="rId4" Type="http://schemas.openxmlformats.org/officeDocument/2006/relationships/image" Target="../media/image101.jpg"/><Relationship Id="rId5" Type="http://schemas.openxmlformats.org/officeDocument/2006/relationships/image" Target="../media/image102.jpg"/><Relationship Id="rId6" Type="http://schemas.openxmlformats.org/officeDocument/2006/relationships/image" Target="../media/image103.jpg"/><Relationship Id="rId7" Type="http://schemas.openxmlformats.org/officeDocument/2006/relationships/image" Target="../media/image104.jpg"/><Relationship Id="rId8" Type="http://schemas.openxmlformats.org/officeDocument/2006/relationships/image" Target="../media/image105.jpg"/><Relationship Id="rId9" Type="http://schemas.openxmlformats.org/officeDocument/2006/relationships/image" Target="../media/image10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Relationship Id="rId3" Type="http://schemas.openxmlformats.org/officeDocument/2006/relationships/image" Target="../media/image20.png"/><Relationship Id="rId4" Type="http://schemas.openxmlformats.org/officeDocument/2006/relationships/image" Target="../media/image108.jpg"/><Relationship Id="rId5" Type="http://schemas.openxmlformats.org/officeDocument/2006/relationships/image" Target="../media/image109.jpg"/><Relationship Id="rId6" Type="http://schemas.openxmlformats.org/officeDocument/2006/relationships/image" Target="../media/image110.jpg"/><Relationship Id="rId7" Type="http://schemas.openxmlformats.org/officeDocument/2006/relationships/image" Target="../media/image111.jpg"/><Relationship Id="rId8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Relationship Id="rId3" Type="http://schemas.openxmlformats.org/officeDocument/2006/relationships/image" Target="../media/image27.png"/><Relationship Id="rId4" Type="http://schemas.openxmlformats.org/officeDocument/2006/relationships/image" Target="../media/image113.jpg"/><Relationship Id="rId5" Type="http://schemas.openxmlformats.org/officeDocument/2006/relationships/image" Target="../media/image114.png"/><Relationship Id="rId6" Type="http://schemas.openxmlformats.org/officeDocument/2006/relationships/image" Target="../media/image1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5844810" y="4844355"/>
            <a:ext cx="373494" cy="28575"/>
          </a:xfrm>
          <a:custGeom>
            <a:avLst/>
            <a:gdLst/>
            <a:ahLst/>
            <a:cxnLst/>
            <a:rect l="l" t="t" r="r" b="b"/>
            <a:pathLst>
              <a:path w="373494" h="28575">
                <a:moveTo>
                  <a:pt x="11545" y="0"/>
                </a:moveTo>
                <a:lnTo>
                  <a:pt x="373494" y="0"/>
                </a:lnTo>
                <a:lnTo>
                  <a:pt x="361949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"/>
          <p:cNvSpPr/>
          <p:nvPr/>
        </p:nvSpPr>
        <p:spPr>
          <a:xfrm>
            <a:off x="6322025" y="6239767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"/>
          <p:cNvSpPr/>
          <p:nvPr/>
        </p:nvSpPr>
        <p:spPr>
          <a:xfrm>
            <a:off x="6131525" y="6239767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7C8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"/>
          <p:cNvSpPr/>
          <p:nvPr/>
        </p:nvSpPr>
        <p:spPr>
          <a:xfrm>
            <a:off x="5941025" y="6239767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96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"/>
          <p:cNvSpPr/>
          <p:nvPr/>
        </p:nvSpPr>
        <p:spPr>
          <a:xfrm>
            <a:off x="5750525" y="6239767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ede_edificio" descr="foto_01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31482" cy="7772400"/>
          </a:xfrm>
          <a:prstGeom prst="rect">
            <a:avLst/>
          </a:prstGeom>
        </p:spPr>
      </p:pic>
      <p:pic>
        <p:nvPicPr>
          <p:cNvPr id="9" name="logo_cuadrado" descr="foto_01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550" y="888950"/>
            <a:ext cx="3056483" cy="1952625"/>
          </a:xfrm>
          <a:prstGeom prst="rect">
            <a:avLst/>
          </a:prstGeom>
        </p:spPr>
      </p:pic>
      <p:pic>
        <p:nvPicPr>
          <p:cNvPr id="10" name="sobre las fotos" descr="encima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7219950"/>
            <a:ext cx="2735460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00"/>
              </a:lnSpc>
            </a:pPr>
            <a:r>
              <a:rPr sz="1200" b="1" i="0" spc="360">
                <a:solidFill>
                  <a:srgbClr val="FFFFFF"/>
                </a:solidFill>
                <a:latin typeface="Barlow"/>
              </a:rPr>
              <a:t>BROCHURE CORPORATIVO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6385470"/>
            <a:ext cx="783431" cy="933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5745"/>
              </a:lnSpc>
            </a:pPr>
            <a:r>
              <a:rPr sz="6112" b="1" i="0" spc="61">
                <a:solidFill>
                  <a:srgbClr val="FFFFFF"/>
                </a:solidFill>
                <a:latin typeface="Barlow Condensed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3006" y="6385470"/>
            <a:ext cx="773310" cy="933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5745"/>
              </a:lnSpc>
            </a:pPr>
            <a:r>
              <a:rPr sz="6112" b="1" i="0" spc="61">
                <a:solidFill>
                  <a:srgbClr val="4966AD"/>
                </a:solidFill>
                <a:latin typeface="Barlow Condensed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932" y="4768155"/>
            <a:ext cx="3231356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i="0" spc="240">
                <a:solidFill>
                  <a:srgbClr val="FFFFFF"/>
                </a:solidFill>
                <a:latin typeface="Barlow"/>
              </a:rPr>
              <a:t>CONSTRUCTORA VIDALSA 27, C.A.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0582" y="5034855"/>
            <a:ext cx="3674268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81"/>
              </a:lnSpc>
            </a:pPr>
            <a:r>
              <a:rPr sz="2437" b="1" i="0">
                <a:solidFill>
                  <a:srgbClr val="FFFFFF"/>
                </a:solidFill>
                <a:latin typeface="Barlow Condensed"/>
              </a:rPr>
              <a:t>Construyendo la infraestructura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0582" y="5375374"/>
            <a:ext cx="2079724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81"/>
              </a:lnSpc>
            </a:pPr>
            <a:r>
              <a:rPr sz="2437" b="1" i="0">
                <a:solidFill>
                  <a:srgbClr val="FFFFFF"/>
                </a:solidFill>
                <a:latin typeface="Barlow Condensed"/>
              </a:rPr>
              <a:t>que mueve el país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qse-panel"/>
          <p:cNvSpPr/>
          <p:nvPr/>
        </p:nvSpPr>
        <p:spPr>
          <a:xfrm>
            <a:off x="0" y="590550"/>
            <a:ext cx="4325094" cy="6858000"/>
          </a:xfrm>
          <a:prstGeom prst="rect">
            <a:avLst/>
          </a:pr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5" name="empresa_sede" descr="foto_02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569" y="590550"/>
            <a:ext cx="5742682" cy="3429000"/>
          </a:xfrm>
          <a:prstGeom prst="rect">
            <a:avLst/>
          </a:prstGeom>
        </p:spPr>
      </p:pic>
      <p:pic>
        <p:nvPicPr>
          <p:cNvPr id="6" name="empresa_tendido" descr="foto_02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569" y="4019550"/>
            <a:ext cx="5742682" cy="3429000"/>
          </a:xfrm>
          <a:prstGeom prst="rect">
            <a:avLst/>
          </a:prstGeom>
        </p:spPr>
      </p:pic>
      <p:sp>
        <p:nvSpPr>
          <p:cNvPr id="7" name="i"/>
          <p:cNvSpPr/>
          <p:nvPr/>
        </p:nvSpPr>
        <p:spPr>
          <a:xfrm>
            <a:off x="-725236" y="41969"/>
            <a:ext cx="1345698" cy="7955160"/>
          </a:xfrm>
          <a:custGeom>
            <a:avLst/>
            <a:gdLst/>
            <a:ahLst/>
            <a:cxnLst/>
            <a:rect l="l" t="t" r="r" b="b"/>
            <a:pathLst>
              <a:path w="1345698" h="7955160">
                <a:moveTo>
                  <a:pt x="1259955" y="0"/>
                </a:moveTo>
                <a:lnTo>
                  <a:pt x="1345698" y="0"/>
                </a:lnTo>
                <a:lnTo>
                  <a:pt x="85743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"/>
          <p:cNvSpPr/>
          <p:nvPr/>
        </p:nvSpPr>
        <p:spPr>
          <a:xfrm>
            <a:off x="-496636" y="41969"/>
            <a:ext cx="1307598" cy="7955160"/>
          </a:xfrm>
          <a:custGeom>
            <a:avLst/>
            <a:gdLst/>
            <a:ahLst/>
            <a:cxnLst/>
            <a:rect l="l" t="t" r="r" b="b"/>
            <a:pathLst>
              <a:path w="1307598" h="7955160">
                <a:moveTo>
                  <a:pt x="1259963" y="0"/>
                </a:moveTo>
                <a:lnTo>
                  <a:pt x="1307598" y="0"/>
                </a:lnTo>
                <a:lnTo>
                  <a:pt x="47635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"/>
          <p:cNvSpPr/>
          <p:nvPr/>
        </p:nvSpPr>
        <p:spPr>
          <a:xfrm>
            <a:off x="3371257" y="41969"/>
            <a:ext cx="1345698" cy="7955160"/>
          </a:xfrm>
          <a:custGeom>
            <a:avLst/>
            <a:gdLst/>
            <a:ahLst/>
            <a:cxnLst/>
            <a:rect l="l" t="t" r="r" b="b"/>
            <a:pathLst>
              <a:path w="1345698" h="7955160">
                <a:moveTo>
                  <a:pt x="1259955" y="0"/>
                </a:moveTo>
                <a:lnTo>
                  <a:pt x="1345698" y="0"/>
                </a:lnTo>
                <a:lnTo>
                  <a:pt x="85743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"/>
          <p:cNvSpPr/>
          <p:nvPr/>
        </p:nvSpPr>
        <p:spPr>
          <a:xfrm>
            <a:off x="3599857" y="41969"/>
            <a:ext cx="1307598" cy="7955160"/>
          </a:xfrm>
          <a:custGeom>
            <a:avLst/>
            <a:gdLst/>
            <a:ahLst/>
            <a:cxnLst/>
            <a:rect l="l" t="t" r="r" b="b"/>
            <a:pathLst>
              <a:path w="1307598" h="7955160">
                <a:moveTo>
                  <a:pt x="1259963" y="0"/>
                </a:moveTo>
                <a:lnTo>
                  <a:pt x="1307598" y="0"/>
                </a:lnTo>
                <a:lnTo>
                  <a:pt x="47635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ip"/>
          <p:cNvSpPr/>
          <p:nvPr/>
        </p:nvSpPr>
        <p:spPr>
          <a:xfrm>
            <a:off x="4130266" y="590550"/>
            <a:ext cx="3897980" cy="257175"/>
          </a:xfrm>
          <a:custGeom>
            <a:avLst/>
            <a:gdLst/>
            <a:ahLst/>
            <a:cxnLst/>
            <a:rect l="l" t="t" r="r" b="b"/>
            <a:pathLst>
              <a:path w="3897980" h="257175">
                <a:moveTo>
                  <a:pt x="103989" y="0"/>
                </a:moveTo>
                <a:lnTo>
                  <a:pt x="3897980" y="0"/>
                </a:lnTo>
                <a:lnTo>
                  <a:pt x="3793991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"/>
          <p:cNvSpPr/>
          <p:nvPr/>
        </p:nvSpPr>
        <p:spPr>
          <a:xfrm>
            <a:off x="9766781" y="316259"/>
            <a:ext cx="363863" cy="3977580"/>
          </a:xfrm>
          <a:custGeom>
            <a:avLst/>
            <a:gdLst/>
            <a:ahLst/>
            <a:cxnLst/>
            <a:rect l="l" t="t" r="r" b="b"/>
            <a:pathLst>
              <a:path w="363863" h="3977580">
                <a:moveTo>
                  <a:pt x="278202" y="0"/>
                </a:moveTo>
                <a:lnTo>
                  <a:pt x="363863" y="0"/>
                </a:lnTo>
                <a:lnTo>
                  <a:pt x="85661" y="3977580"/>
                </a:lnTo>
                <a:lnTo>
                  <a:pt x="0" y="397758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"/>
          <p:cNvSpPr/>
          <p:nvPr/>
        </p:nvSpPr>
        <p:spPr>
          <a:xfrm>
            <a:off x="9871556" y="316259"/>
            <a:ext cx="325763" cy="3977580"/>
          </a:xfrm>
          <a:custGeom>
            <a:avLst/>
            <a:gdLst/>
            <a:ahLst/>
            <a:cxnLst/>
            <a:rect l="l" t="t" r="r" b="b"/>
            <a:pathLst>
              <a:path w="325763" h="3977580">
                <a:moveTo>
                  <a:pt x="278178" y="0"/>
                </a:moveTo>
                <a:lnTo>
                  <a:pt x="325763" y="0"/>
                </a:lnTo>
                <a:lnTo>
                  <a:pt x="47585" y="3977580"/>
                </a:lnTo>
                <a:lnTo>
                  <a:pt x="0" y="397758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ip"/>
          <p:cNvSpPr/>
          <p:nvPr/>
        </p:nvSpPr>
        <p:spPr>
          <a:xfrm>
            <a:off x="4130266" y="4019550"/>
            <a:ext cx="2847551" cy="257175"/>
          </a:xfrm>
          <a:custGeom>
            <a:avLst/>
            <a:gdLst/>
            <a:ahLst/>
            <a:cxnLst/>
            <a:rect l="l" t="t" r="r" b="b"/>
            <a:pathLst>
              <a:path w="2847551" h="257175">
                <a:moveTo>
                  <a:pt x="103922" y="0"/>
                </a:moveTo>
                <a:lnTo>
                  <a:pt x="2847551" y="0"/>
                </a:lnTo>
                <a:lnTo>
                  <a:pt x="2743629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"/>
          <p:cNvSpPr/>
          <p:nvPr/>
        </p:nvSpPr>
        <p:spPr>
          <a:xfrm>
            <a:off x="9766781" y="3745259"/>
            <a:ext cx="363863" cy="3977580"/>
          </a:xfrm>
          <a:custGeom>
            <a:avLst/>
            <a:gdLst/>
            <a:ahLst/>
            <a:cxnLst/>
            <a:rect l="l" t="t" r="r" b="b"/>
            <a:pathLst>
              <a:path w="363863" h="3977580">
                <a:moveTo>
                  <a:pt x="278202" y="0"/>
                </a:moveTo>
                <a:lnTo>
                  <a:pt x="363863" y="0"/>
                </a:lnTo>
                <a:lnTo>
                  <a:pt x="85661" y="3977580"/>
                </a:lnTo>
                <a:lnTo>
                  <a:pt x="0" y="397758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"/>
          <p:cNvSpPr/>
          <p:nvPr/>
        </p:nvSpPr>
        <p:spPr>
          <a:xfrm>
            <a:off x="9871556" y="3745259"/>
            <a:ext cx="325763" cy="3977580"/>
          </a:xfrm>
          <a:custGeom>
            <a:avLst/>
            <a:gdLst/>
            <a:ahLst/>
            <a:cxnLst/>
            <a:rect l="l" t="t" r="r" b="b"/>
            <a:pathLst>
              <a:path w="325763" h="3977580">
                <a:moveTo>
                  <a:pt x="278178" y="0"/>
                </a:moveTo>
                <a:lnTo>
                  <a:pt x="325763" y="0"/>
                </a:lnTo>
                <a:lnTo>
                  <a:pt x="47585" y="3977580"/>
                </a:lnTo>
                <a:lnTo>
                  <a:pt x="0" y="397758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ayita"/>
          <p:cNvSpPr/>
          <p:nvPr/>
        </p:nvSpPr>
        <p:spPr>
          <a:xfrm>
            <a:off x="518102" y="3020169"/>
            <a:ext cx="373494" cy="28575"/>
          </a:xfrm>
          <a:custGeom>
            <a:avLst/>
            <a:gdLst/>
            <a:ahLst/>
            <a:cxnLst/>
            <a:rect l="l" t="t" r="r" b="b"/>
            <a:pathLst>
              <a:path w="373494" h="28575">
                <a:moveTo>
                  <a:pt x="11545" y="0"/>
                </a:moveTo>
                <a:lnTo>
                  <a:pt x="373494" y="0"/>
                </a:lnTo>
                <a:lnTo>
                  <a:pt x="361949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oja-raya"/>
          <p:cNvSpPr/>
          <p:nvPr/>
        </p:nvSpPr>
        <p:spPr>
          <a:xfrm>
            <a:off x="2286595" y="7603331"/>
            <a:ext cx="6887319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sobre las fotos" descr="encima_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38225" y="2953494"/>
            <a:ext cx="1599009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QUIÉNES SOMOS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875" y="3191619"/>
            <a:ext cx="2362051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74"/>
              </a:lnSpc>
            </a:pPr>
            <a:r>
              <a:rPr sz="2887" b="1" i="0">
                <a:solidFill>
                  <a:srgbClr val="FFFFFF"/>
                </a:solidFill>
                <a:latin typeface="Barlow Condensed"/>
              </a:rPr>
              <a:t>Nuestra empresa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875" y="3912096"/>
            <a:ext cx="2243137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909"/>
              </a:lnSpc>
            </a:pPr>
            <a:r>
              <a:rPr sz="1072" b="1" i="0">
                <a:solidFill>
                  <a:srgbClr val="FFFFFF"/>
                </a:solidFill>
                <a:latin typeface="Barlow"/>
              </a:rPr>
              <a:t>CONSTRUCTORA VIDALSA 27 C.A.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875" y="3912096"/>
            <a:ext cx="3353544" cy="1131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909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es una empresa venezolana fundada en el año 2007, desde entonces sumamos años de trayectoria en la construcción de infraestructura civil y petrolera, con enfoque en la Faja Petrolífera del Orinoco.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7019" y="657225"/>
            <a:ext cx="3317825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OBRA: OLEODUCTO 30″ VELADERO · TRAMO 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7019" y="4086225"/>
            <a:ext cx="226739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PATIO DE MÁQUINAS EL TIGRE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" y="7553325"/>
            <a:ext cx="1124545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NUESTRA EMPRESA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7264" y="7500937"/>
            <a:ext cx="198685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panel"/>
          <p:cNvSpPr/>
          <p:nvPr/>
        </p:nvSpPr>
        <p:spPr>
          <a:xfrm>
            <a:off x="0" y="5057775"/>
            <a:ext cx="10058400" cy="2390775"/>
          </a:xfrm>
          <a:prstGeom prst="rect">
            <a:avLst/>
          </a:pr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"/>
          <p:cNvSpPr/>
          <p:nvPr/>
        </p:nvSpPr>
        <p:spPr>
          <a:xfrm>
            <a:off x="578621" y="5457825"/>
            <a:ext cx="510673" cy="247650"/>
          </a:xfrm>
          <a:custGeom>
            <a:avLst/>
            <a:gdLst/>
            <a:ahLst/>
            <a:cxnLst/>
            <a:rect l="l" t="t" r="r" b="b"/>
            <a:pathLst>
              <a:path w="510673" h="247650">
                <a:moveTo>
                  <a:pt x="100261" y="0"/>
                </a:moveTo>
                <a:lnTo>
                  <a:pt x="510673" y="0"/>
                </a:lnTo>
                <a:lnTo>
                  <a:pt x="410412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um"/>
          <p:cNvSpPr/>
          <p:nvPr/>
        </p:nvSpPr>
        <p:spPr>
          <a:xfrm>
            <a:off x="5322071" y="5457825"/>
            <a:ext cx="540439" cy="247650"/>
          </a:xfrm>
          <a:custGeom>
            <a:avLst/>
            <a:gdLst/>
            <a:ahLst/>
            <a:cxnLst/>
            <a:rect l="l" t="t" r="r" b="b"/>
            <a:pathLst>
              <a:path w="540439" h="247650">
                <a:moveTo>
                  <a:pt x="100472" y="0"/>
                </a:moveTo>
                <a:lnTo>
                  <a:pt x="540439" y="0"/>
                </a:lnTo>
                <a:lnTo>
                  <a:pt x="43996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7" name="flota_equipo" descr="foto_03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"/>
            <a:ext cx="10058400" cy="4476750"/>
          </a:xfrm>
          <a:prstGeom prst="rect">
            <a:avLst/>
          </a:prstGeom>
        </p:spPr>
      </p:pic>
      <p:sp>
        <p:nvSpPr>
          <p:cNvPr id="8" name="i"/>
          <p:cNvSpPr/>
          <p:nvPr/>
        </p:nvSpPr>
        <p:spPr>
          <a:xfrm>
            <a:off x="-506488" y="232469"/>
            <a:ext cx="908201" cy="5192910"/>
          </a:xfrm>
          <a:custGeom>
            <a:avLst/>
            <a:gdLst/>
            <a:ahLst/>
            <a:cxnLst/>
            <a:rect l="l" t="t" r="r" b="b"/>
            <a:pathLst>
              <a:path w="908201" h="5192910">
                <a:moveTo>
                  <a:pt x="822449" y="0"/>
                </a:moveTo>
                <a:lnTo>
                  <a:pt x="908201" y="0"/>
                </a:lnTo>
                <a:lnTo>
                  <a:pt x="85752" y="5192910"/>
                </a:lnTo>
                <a:lnTo>
                  <a:pt x="0" y="519291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"/>
          <p:cNvSpPr/>
          <p:nvPr/>
        </p:nvSpPr>
        <p:spPr>
          <a:xfrm>
            <a:off x="-277888" y="232469"/>
            <a:ext cx="870101" cy="5192910"/>
          </a:xfrm>
          <a:custGeom>
            <a:avLst/>
            <a:gdLst/>
            <a:ahLst/>
            <a:cxnLst/>
            <a:rect l="l" t="t" r="r" b="b"/>
            <a:pathLst>
              <a:path w="870101" h="5192910">
                <a:moveTo>
                  <a:pt x="822460" y="0"/>
                </a:moveTo>
                <a:lnTo>
                  <a:pt x="870101" y="0"/>
                </a:lnTo>
                <a:lnTo>
                  <a:pt x="47641" y="5192910"/>
                </a:lnTo>
                <a:lnTo>
                  <a:pt x="0" y="519291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"/>
          <p:cNvSpPr/>
          <p:nvPr/>
        </p:nvSpPr>
        <p:spPr>
          <a:xfrm>
            <a:off x="-314870" y="4866530"/>
            <a:ext cx="524966" cy="2773263"/>
          </a:xfrm>
          <a:custGeom>
            <a:avLst/>
            <a:gdLst/>
            <a:ahLst/>
            <a:cxnLst/>
            <a:rect l="l" t="t" r="r" b="b"/>
            <a:pathLst>
              <a:path w="524966" h="2773263">
                <a:moveTo>
                  <a:pt x="439202" y="0"/>
                </a:moveTo>
                <a:lnTo>
                  <a:pt x="524966" y="0"/>
                </a:lnTo>
                <a:lnTo>
                  <a:pt x="85764" y="2773263"/>
                </a:lnTo>
                <a:lnTo>
                  <a:pt x="0" y="2773263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"/>
          <p:cNvSpPr/>
          <p:nvPr/>
        </p:nvSpPr>
        <p:spPr>
          <a:xfrm>
            <a:off x="-86270" y="4866530"/>
            <a:ext cx="486866" cy="2773263"/>
          </a:xfrm>
          <a:custGeom>
            <a:avLst/>
            <a:gdLst/>
            <a:ahLst/>
            <a:cxnLst/>
            <a:rect l="l" t="t" r="r" b="b"/>
            <a:pathLst>
              <a:path w="486866" h="2773263">
                <a:moveTo>
                  <a:pt x="439218" y="0"/>
                </a:moveTo>
                <a:lnTo>
                  <a:pt x="486866" y="0"/>
                </a:lnTo>
                <a:lnTo>
                  <a:pt x="47648" y="2773263"/>
                </a:lnTo>
                <a:lnTo>
                  <a:pt x="0" y="2773263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ip"/>
          <p:cNvSpPr/>
          <p:nvPr/>
        </p:nvSpPr>
        <p:spPr>
          <a:xfrm>
            <a:off x="6663321" y="4391025"/>
            <a:ext cx="2818381" cy="257175"/>
          </a:xfrm>
          <a:custGeom>
            <a:avLst/>
            <a:gdLst/>
            <a:ahLst/>
            <a:cxnLst/>
            <a:rect l="l" t="t" r="r" b="b"/>
            <a:pathLst>
              <a:path w="2818381" h="257175">
                <a:moveTo>
                  <a:pt x="103900" y="0"/>
                </a:moveTo>
                <a:lnTo>
                  <a:pt x="2818381" y="0"/>
                </a:lnTo>
                <a:lnTo>
                  <a:pt x="2714481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oja-raya"/>
          <p:cNvSpPr/>
          <p:nvPr/>
        </p:nvSpPr>
        <p:spPr>
          <a:xfrm>
            <a:off x="2128242" y="7603331"/>
            <a:ext cx="7023645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sobre las fotos" descr="encima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3000" y="3913584"/>
            <a:ext cx="1599009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QUIÉNES SOMOS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4142184"/>
            <a:ext cx="2819846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4210"/>
              </a:lnSpc>
            </a:pPr>
            <a:r>
              <a:rPr sz="4087" b="1" i="0">
                <a:solidFill>
                  <a:srgbClr val="FFFFFF"/>
                </a:solidFill>
                <a:latin typeface="Barlow Condensed"/>
              </a:rPr>
              <a:t>Misión y visión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073" y="4457700"/>
            <a:ext cx="223822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PATIO DE MÁQUINAS MATURÍN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5495925"/>
            <a:ext cx="20106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2141" y="5498901"/>
            <a:ext cx="68550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004"/>
              </a:lnSpc>
            </a:pPr>
            <a:r>
              <a:rPr sz="975" b="1" i="0" spc="292">
                <a:solidFill>
                  <a:srgbClr val="FFFFFF"/>
                </a:solidFill>
                <a:latin typeface="Barlow"/>
              </a:rPr>
              <a:t>MISIÓN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" y="5915025"/>
            <a:ext cx="4133850" cy="4097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95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Desarrollar proyectos de infraestructura civil y petrolera, mediante soluciones constructivas, innovadoras y sostenibles.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4975" y="5495925"/>
            <a:ext cx="230832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5357" y="5498901"/>
            <a:ext cx="67255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004"/>
              </a:lnSpc>
            </a:pPr>
            <a:r>
              <a:rPr sz="975" b="1" i="0" spc="292">
                <a:solidFill>
                  <a:srgbClr val="FFFFFF"/>
                </a:solidFill>
                <a:latin typeface="Barlow"/>
              </a:rPr>
              <a:t>VISIÓN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100" y="5915025"/>
            <a:ext cx="4133850" cy="9053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95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Ser el referente líder en la ejecución de proyectos de infraestructura, reconocidos por transformar desafíos complejos en proyectos tangibles, seguros, de alta calidad y con compromiso socioambiental, que impulsen el desarrollo económico y social del país.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" y="7553325"/>
            <a:ext cx="966192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MISIÓN Y VISIÓN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5237" y="7500937"/>
            <a:ext cx="220712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pic>
        <p:nvPicPr>
          <p:cNvPr id="3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4" name="valores_equipo" descr="foto_04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"/>
            <a:ext cx="4526160" cy="6858000"/>
          </a:xfrm>
          <a:prstGeom prst="rect">
            <a:avLst/>
          </a:prstGeom>
        </p:spPr>
      </p:pic>
      <p:sp>
        <p:nvSpPr>
          <p:cNvPr id="5" name="i"/>
          <p:cNvSpPr/>
          <p:nvPr/>
        </p:nvSpPr>
        <p:spPr>
          <a:xfrm>
            <a:off x="3800924" y="41969"/>
            <a:ext cx="1345698" cy="7955160"/>
          </a:xfrm>
          <a:custGeom>
            <a:avLst/>
            <a:gdLst/>
            <a:ahLst/>
            <a:cxnLst/>
            <a:rect l="l" t="t" r="r" b="b"/>
            <a:pathLst>
              <a:path w="1345698" h="7955160">
                <a:moveTo>
                  <a:pt x="1259955" y="0"/>
                </a:moveTo>
                <a:lnTo>
                  <a:pt x="1345698" y="0"/>
                </a:lnTo>
                <a:lnTo>
                  <a:pt x="85743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"/>
          <p:cNvSpPr/>
          <p:nvPr/>
        </p:nvSpPr>
        <p:spPr>
          <a:xfrm>
            <a:off x="4029524" y="41969"/>
            <a:ext cx="1307598" cy="7955160"/>
          </a:xfrm>
          <a:custGeom>
            <a:avLst/>
            <a:gdLst/>
            <a:ahLst/>
            <a:cxnLst/>
            <a:rect l="l" t="t" r="r" b="b"/>
            <a:pathLst>
              <a:path w="1307598" h="7955160">
                <a:moveTo>
                  <a:pt x="1259963" y="0"/>
                </a:moveTo>
                <a:lnTo>
                  <a:pt x="1307598" y="0"/>
                </a:lnTo>
                <a:lnTo>
                  <a:pt x="47635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044263" y="1190625"/>
            <a:ext cx="373494" cy="28575"/>
          </a:xfrm>
          <a:custGeom>
            <a:avLst/>
            <a:gdLst/>
            <a:ahLst/>
            <a:cxnLst/>
            <a:rect l="l" t="t" r="r" b="b"/>
            <a:pathLst>
              <a:path w="373494" h="28575">
                <a:moveTo>
                  <a:pt x="11545" y="0"/>
                </a:moveTo>
                <a:lnTo>
                  <a:pt x="373494" y="0"/>
                </a:lnTo>
                <a:lnTo>
                  <a:pt x="361949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"/>
          <p:cNvSpPr/>
          <p:nvPr/>
        </p:nvSpPr>
        <p:spPr>
          <a:xfrm>
            <a:off x="5000007" y="2705100"/>
            <a:ext cx="510673" cy="247650"/>
          </a:xfrm>
          <a:custGeom>
            <a:avLst/>
            <a:gdLst/>
            <a:ahLst/>
            <a:cxnLst/>
            <a:rect l="l" t="t" r="r" b="b"/>
            <a:pathLst>
              <a:path w="510673" h="247650">
                <a:moveTo>
                  <a:pt x="100261" y="0"/>
                </a:moveTo>
                <a:lnTo>
                  <a:pt x="510673" y="0"/>
                </a:lnTo>
                <a:lnTo>
                  <a:pt x="410412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"/>
          <p:cNvSpPr/>
          <p:nvPr/>
        </p:nvSpPr>
        <p:spPr>
          <a:xfrm>
            <a:off x="5000007" y="3612058"/>
            <a:ext cx="540439" cy="247650"/>
          </a:xfrm>
          <a:custGeom>
            <a:avLst/>
            <a:gdLst/>
            <a:ahLst/>
            <a:cxnLst/>
            <a:rect l="l" t="t" r="r" b="b"/>
            <a:pathLst>
              <a:path w="540439" h="247650">
                <a:moveTo>
                  <a:pt x="100472" y="0"/>
                </a:moveTo>
                <a:lnTo>
                  <a:pt x="540439" y="0"/>
                </a:lnTo>
                <a:lnTo>
                  <a:pt x="43996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um"/>
          <p:cNvSpPr/>
          <p:nvPr/>
        </p:nvSpPr>
        <p:spPr>
          <a:xfrm>
            <a:off x="5000007" y="4519017"/>
            <a:ext cx="537611" cy="247650"/>
          </a:xfrm>
          <a:custGeom>
            <a:avLst/>
            <a:gdLst/>
            <a:ahLst/>
            <a:cxnLst/>
            <a:rect l="l" t="t" r="r" b="b"/>
            <a:pathLst>
              <a:path w="537611" h="247650">
                <a:moveTo>
                  <a:pt x="99946" y="0"/>
                </a:moveTo>
                <a:lnTo>
                  <a:pt x="537611" y="0"/>
                </a:lnTo>
                <a:lnTo>
                  <a:pt x="437665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"/>
          <p:cNvSpPr/>
          <p:nvPr/>
        </p:nvSpPr>
        <p:spPr>
          <a:xfrm>
            <a:off x="5000007" y="5425975"/>
            <a:ext cx="545052" cy="247650"/>
          </a:xfrm>
          <a:custGeom>
            <a:avLst/>
            <a:gdLst/>
            <a:ahLst/>
            <a:cxnLst/>
            <a:rect l="l" t="t" r="r" b="b"/>
            <a:pathLst>
              <a:path w="545052" h="247650">
                <a:moveTo>
                  <a:pt x="99567" y="0"/>
                </a:moveTo>
                <a:lnTo>
                  <a:pt x="545052" y="0"/>
                </a:lnTo>
                <a:lnTo>
                  <a:pt x="445485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"/>
          <p:cNvSpPr/>
          <p:nvPr/>
        </p:nvSpPr>
        <p:spPr>
          <a:xfrm>
            <a:off x="5000007" y="6332934"/>
            <a:ext cx="537462" cy="247650"/>
          </a:xfrm>
          <a:custGeom>
            <a:avLst/>
            <a:gdLst/>
            <a:ahLst/>
            <a:cxnLst/>
            <a:rect l="l" t="t" r="r" b="b"/>
            <a:pathLst>
              <a:path w="537462" h="247650">
                <a:moveTo>
                  <a:pt x="99919" y="0"/>
                </a:moveTo>
                <a:lnTo>
                  <a:pt x="537462" y="0"/>
                </a:lnTo>
                <a:lnTo>
                  <a:pt x="437543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oja-raya"/>
          <p:cNvSpPr/>
          <p:nvPr/>
        </p:nvSpPr>
        <p:spPr>
          <a:xfrm>
            <a:off x="2333327" y="7603331"/>
            <a:ext cx="6818858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sobre las fotos" descr="encima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64385" y="1123950"/>
            <a:ext cx="1599009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QUIÉNES SOMOS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0035" y="1362075"/>
            <a:ext cx="2332583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74"/>
              </a:lnSpc>
            </a:pPr>
            <a:r>
              <a:rPr sz="2887" b="1" i="0">
                <a:solidFill>
                  <a:srgbClr val="FFFFFF"/>
                </a:solidFill>
                <a:latin typeface="Barlow Condensed"/>
              </a:rPr>
              <a:t>Nuestros valores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0035" y="1939676"/>
            <a:ext cx="456054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800"/>
              </a:lnSpc>
            </a:pPr>
            <a:r>
              <a:rPr sz="1125" b="0" i="0">
                <a:solidFill>
                  <a:srgbClr val="FFFFFF"/>
                </a:solidFill>
                <a:latin typeface="Barlow"/>
              </a:rPr>
              <a:t>En Constructora Vidalsa27, C.A. construimos con propósito. Estos son los principios que guían nuestra conducta y nuestro compromiso social: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2910" y="2743200"/>
            <a:ext cx="20106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3052" y="2686050"/>
            <a:ext cx="1070371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SEGURIDAD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3052" y="2928342"/>
            <a:ext cx="3782466" cy="375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Cuidamos a nuestra gente y a nuestros clientes. La protección en cada frente de trabajo no es negociable.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2910" y="3650158"/>
            <a:ext cx="230832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2818" y="3593008"/>
            <a:ext cx="1139428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INTEGRIDAD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42818" y="3835300"/>
            <a:ext cx="3853606" cy="375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Ética y honestidad de principio a fin. Cultivamos relaciones sólidas basadas en la confianza.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2910" y="4557117"/>
            <a:ext cx="22800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39990" y="4499967"/>
            <a:ext cx="10858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EFICIENCIA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9990" y="4742259"/>
            <a:ext cx="3783359" cy="375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Respetamos tu tiempo y tu inversión. Optimizamos recursos para cumplir compromisos sin margen de demora.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2910" y="5464075"/>
            <a:ext cx="23544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47432" y="5406925"/>
            <a:ext cx="114806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INNOVACIÓN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47432" y="5649217"/>
            <a:ext cx="3884562" cy="375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Evolución constante. Buscamos estar siempre un paso adelante en metodologías y visión de negocio.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2910" y="6371034"/>
            <a:ext cx="227855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087" b="1" i="0">
                <a:solidFill>
                  <a:srgbClr val="FFFFFF"/>
                </a:solidFill>
                <a:latin typeface="Barlow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9841" y="6313884"/>
            <a:ext cx="227751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8"/>
              </a:lnSpc>
            </a:pPr>
            <a:r>
              <a:rPr sz="1125" b="1" i="0" spc="225">
                <a:solidFill>
                  <a:srgbClr val="FFFFFF"/>
                </a:solidFill>
                <a:latin typeface="Barlow"/>
              </a:rPr>
              <a:t>COMPROMISO AMBIENTAL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39841" y="6556176"/>
            <a:ext cx="3845867" cy="588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7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Construimos el futuro sin comprometer el presente, diseñando procesos respetuosos con el entorno, salvaguardando el ambiente para las generaciones futuras.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900" y="7553325"/>
            <a:ext cx="117127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NUESTROS VALORES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5535" y="7500937"/>
            <a:ext cx="22041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pic>
        <p:nvPicPr>
          <p:cNvPr id="3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4" name="oficina_caracas" descr="foto_05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569" y="590550"/>
            <a:ext cx="5742682" cy="1714500"/>
          </a:xfrm>
          <a:prstGeom prst="rect">
            <a:avLst/>
          </a:prstGeom>
        </p:spPr>
      </p:pic>
      <p:pic>
        <p:nvPicPr>
          <p:cNvPr id="5" name="oficina_lecheria" descr="foto_05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569" y="2305050"/>
            <a:ext cx="5742682" cy="1714500"/>
          </a:xfrm>
          <a:prstGeom prst="rect">
            <a:avLst/>
          </a:prstGeom>
        </p:spPr>
      </p:pic>
      <p:pic>
        <p:nvPicPr>
          <p:cNvPr id="6" name="oficina_eltigre" descr="foto_05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569" y="4019550"/>
            <a:ext cx="5742682" cy="1714500"/>
          </a:xfrm>
          <a:prstGeom prst="rect">
            <a:avLst/>
          </a:prstGeom>
        </p:spPr>
      </p:pic>
      <p:pic>
        <p:nvPicPr>
          <p:cNvPr id="7" name="oficina_maturin" descr="foto_05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569" y="5734050"/>
            <a:ext cx="5742682" cy="1714500"/>
          </a:xfrm>
          <a:prstGeom prst="rect">
            <a:avLst/>
          </a:prstGeom>
        </p:spPr>
      </p:pic>
      <p:sp>
        <p:nvSpPr>
          <p:cNvPr id="8" name="chip"/>
          <p:cNvSpPr/>
          <p:nvPr/>
        </p:nvSpPr>
        <p:spPr>
          <a:xfrm>
            <a:off x="4130266" y="590550"/>
            <a:ext cx="1327867" cy="257175"/>
          </a:xfrm>
          <a:custGeom>
            <a:avLst/>
            <a:gdLst/>
            <a:ahLst/>
            <a:cxnLst/>
            <a:rect l="l" t="t" r="r" b="b"/>
            <a:pathLst>
              <a:path w="1327867" h="257175">
                <a:moveTo>
                  <a:pt x="103534" y="0"/>
                </a:moveTo>
                <a:lnTo>
                  <a:pt x="1327867" y="0"/>
                </a:lnTo>
                <a:lnTo>
                  <a:pt x="1224333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ip"/>
          <p:cNvSpPr/>
          <p:nvPr/>
        </p:nvSpPr>
        <p:spPr>
          <a:xfrm>
            <a:off x="4130266" y="2305050"/>
            <a:ext cx="1381743" cy="257175"/>
          </a:xfrm>
          <a:custGeom>
            <a:avLst/>
            <a:gdLst/>
            <a:ahLst/>
            <a:cxnLst/>
            <a:rect l="l" t="t" r="r" b="b"/>
            <a:pathLst>
              <a:path w="1381743" h="257175">
                <a:moveTo>
                  <a:pt x="104017" y="0"/>
                </a:moveTo>
                <a:lnTo>
                  <a:pt x="1381743" y="0"/>
                </a:lnTo>
                <a:lnTo>
                  <a:pt x="1277726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ip"/>
          <p:cNvSpPr/>
          <p:nvPr/>
        </p:nvSpPr>
        <p:spPr>
          <a:xfrm>
            <a:off x="4130266" y="4019550"/>
            <a:ext cx="1329356" cy="257175"/>
          </a:xfrm>
          <a:custGeom>
            <a:avLst/>
            <a:gdLst/>
            <a:ahLst/>
            <a:cxnLst/>
            <a:rect l="l" t="t" r="r" b="b"/>
            <a:pathLst>
              <a:path w="1329356" h="257175">
                <a:moveTo>
                  <a:pt x="103650" y="0"/>
                </a:moveTo>
                <a:lnTo>
                  <a:pt x="1329356" y="0"/>
                </a:lnTo>
                <a:lnTo>
                  <a:pt x="1225706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ip"/>
          <p:cNvSpPr/>
          <p:nvPr/>
        </p:nvSpPr>
        <p:spPr>
          <a:xfrm>
            <a:off x="4130266" y="5734050"/>
            <a:ext cx="1300185" cy="257175"/>
          </a:xfrm>
          <a:custGeom>
            <a:avLst/>
            <a:gdLst/>
            <a:ahLst/>
            <a:cxnLst/>
            <a:rect l="l" t="t" r="r" b="b"/>
            <a:pathLst>
              <a:path w="1300185" h="257175">
                <a:moveTo>
                  <a:pt x="103597" y="0"/>
                </a:moveTo>
                <a:lnTo>
                  <a:pt x="1300185" y="0"/>
                </a:lnTo>
                <a:lnTo>
                  <a:pt x="1196588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"/>
          <p:cNvSpPr/>
          <p:nvPr/>
        </p:nvSpPr>
        <p:spPr>
          <a:xfrm>
            <a:off x="-725236" y="41969"/>
            <a:ext cx="1345698" cy="7955160"/>
          </a:xfrm>
          <a:custGeom>
            <a:avLst/>
            <a:gdLst/>
            <a:ahLst/>
            <a:cxnLst/>
            <a:rect l="l" t="t" r="r" b="b"/>
            <a:pathLst>
              <a:path w="1345698" h="7955160">
                <a:moveTo>
                  <a:pt x="1259955" y="0"/>
                </a:moveTo>
                <a:lnTo>
                  <a:pt x="1345698" y="0"/>
                </a:lnTo>
                <a:lnTo>
                  <a:pt x="85743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"/>
          <p:cNvSpPr/>
          <p:nvPr/>
        </p:nvSpPr>
        <p:spPr>
          <a:xfrm>
            <a:off x="-496636" y="41969"/>
            <a:ext cx="1307598" cy="7955160"/>
          </a:xfrm>
          <a:custGeom>
            <a:avLst/>
            <a:gdLst/>
            <a:ahLst/>
            <a:cxnLst/>
            <a:rect l="l" t="t" r="r" b="b"/>
            <a:pathLst>
              <a:path w="1307598" h="7955160">
                <a:moveTo>
                  <a:pt x="1259963" y="0"/>
                </a:moveTo>
                <a:lnTo>
                  <a:pt x="1307598" y="0"/>
                </a:lnTo>
                <a:lnTo>
                  <a:pt x="47635" y="7955160"/>
                </a:lnTo>
                <a:lnTo>
                  <a:pt x="0" y="79551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ayita"/>
          <p:cNvSpPr/>
          <p:nvPr/>
        </p:nvSpPr>
        <p:spPr>
          <a:xfrm>
            <a:off x="518102" y="1211758"/>
            <a:ext cx="373494" cy="28575"/>
          </a:xfrm>
          <a:custGeom>
            <a:avLst/>
            <a:gdLst/>
            <a:ahLst/>
            <a:cxnLst/>
            <a:rect l="l" t="t" r="r" b="b"/>
            <a:pathLst>
              <a:path w="373494" h="28575">
                <a:moveTo>
                  <a:pt x="11545" y="0"/>
                </a:moveTo>
                <a:lnTo>
                  <a:pt x="373494" y="0"/>
                </a:lnTo>
                <a:lnTo>
                  <a:pt x="361949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stado"/>
          <p:cNvSpPr/>
          <p:nvPr/>
        </p:nvSpPr>
        <p:spPr>
          <a:xfrm>
            <a:off x="1250901" y="2199828"/>
            <a:ext cx="1268458" cy="161925"/>
          </a:xfrm>
          <a:custGeom>
            <a:avLst/>
            <a:gdLst/>
            <a:ahLst/>
            <a:cxnLst/>
            <a:rect l="l" t="t" r="r" b="b"/>
            <a:pathLst>
              <a:path w="1268458" h="161925">
                <a:moveTo>
                  <a:pt x="46535" y="0"/>
                </a:moveTo>
                <a:lnTo>
                  <a:pt x="1268458" y="0"/>
                </a:lnTo>
                <a:lnTo>
                  <a:pt x="122192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stado"/>
          <p:cNvSpPr/>
          <p:nvPr/>
        </p:nvSpPr>
        <p:spPr>
          <a:xfrm>
            <a:off x="1287811" y="3474094"/>
            <a:ext cx="1925088" cy="161925"/>
          </a:xfrm>
          <a:custGeom>
            <a:avLst/>
            <a:gdLst/>
            <a:ahLst/>
            <a:cxnLst/>
            <a:rect l="l" t="t" r="r" b="b"/>
            <a:pathLst>
              <a:path w="1925088" h="161925">
                <a:moveTo>
                  <a:pt x="46485" y="0"/>
                </a:moveTo>
                <a:lnTo>
                  <a:pt x="1925088" y="0"/>
                </a:lnTo>
                <a:lnTo>
                  <a:pt x="187860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stado"/>
          <p:cNvSpPr/>
          <p:nvPr/>
        </p:nvSpPr>
        <p:spPr>
          <a:xfrm>
            <a:off x="1199705" y="4946451"/>
            <a:ext cx="1252831" cy="161925"/>
          </a:xfrm>
          <a:custGeom>
            <a:avLst/>
            <a:gdLst/>
            <a:ahLst/>
            <a:cxnLst/>
            <a:rect l="l" t="t" r="r" b="b"/>
            <a:pathLst>
              <a:path w="1252831" h="161925">
                <a:moveTo>
                  <a:pt x="46310" y="0"/>
                </a:moveTo>
                <a:lnTo>
                  <a:pt x="1252831" y="0"/>
                </a:lnTo>
                <a:lnTo>
                  <a:pt x="1206521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stado"/>
          <p:cNvSpPr/>
          <p:nvPr/>
        </p:nvSpPr>
        <p:spPr>
          <a:xfrm>
            <a:off x="1192114" y="6220717"/>
            <a:ext cx="1252831" cy="161925"/>
          </a:xfrm>
          <a:custGeom>
            <a:avLst/>
            <a:gdLst/>
            <a:ahLst/>
            <a:cxnLst/>
            <a:rect l="l" t="t" r="r" b="b"/>
            <a:pathLst>
              <a:path w="1252831" h="161925">
                <a:moveTo>
                  <a:pt x="46310" y="0"/>
                </a:moveTo>
                <a:lnTo>
                  <a:pt x="1252831" y="0"/>
                </a:lnTo>
                <a:lnTo>
                  <a:pt x="1206521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5F698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oja-raya"/>
          <p:cNvSpPr/>
          <p:nvPr/>
        </p:nvSpPr>
        <p:spPr>
          <a:xfrm>
            <a:off x="2354163" y="7603331"/>
            <a:ext cx="6791176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sobre las fotos" descr="encima_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87019" y="657225"/>
            <a:ext cx="74771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CARACAS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7019" y="2371725"/>
            <a:ext cx="8015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LECHERÍA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7019" y="4086225"/>
            <a:ext cx="74920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EL TIGRE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7019" y="5800725"/>
            <a:ext cx="72003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MATURÍN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1145083"/>
            <a:ext cx="1640532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DÓNDE ESTAMOS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875" y="1383208"/>
            <a:ext cx="2420242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74"/>
              </a:lnSpc>
            </a:pPr>
            <a:r>
              <a:rPr sz="2887" b="1" i="0">
                <a:solidFill>
                  <a:srgbClr val="FFFFFF"/>
                </a:solidFill>
                <a:latin typeface="Barlow Condensed"/>
              </a:rPr>
              <a:t>Nuestras oficinas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875" y="2141785"/>
            <a:ext cx="71214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Caracas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9367" y="2218878"/>
            <a:ext cx="1107727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FFFFFF"/>
                </a:solidFill>
                <a:latin typeface="Barlow"/>
              </a:rPr>
              <a:t>Sede Corporativa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875" y="2495996"/>
            <a:ext cx="3353544" cy="350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56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Calle París entre New York y Caroní, Edif. #177, Urb. Las Mercedes, Municipio Baruta, Edo. Miranda.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875" y="3416051"/>
            <a:ext cx="749051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Lechería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6276" y="3493144"/>
            <a:ext cx="1764357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FFFFFF"/>
                </a:solidFill>
                <a:latin typeface="Barlow"/>
              </a:rPr>
              <a:t>Sede Administrativa Oriente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875" y="3770262"/>
            <a:ext cx="3353544" cy="5485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56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Avenida Intercomunal, entre el Banco Venezolano de Crédito y el Centro Médico Meditotal, planta baja del Spa Hotel, municipio Diego Bautista Urbaneja, estado Anzoátegui.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875" y="4888408"/>
            <a:ext cx="660945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El Tigre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8170" y="4965501"/>
            <a:ext cx="109210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FFFFFF"/>
                </a:solidFill>
                <a:latin typeface="Barlow"/>
              </a:rPr>
              <a:t>Centro Operativo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875" y="5242619"/>
            <a:ext cx="3353544" cy="350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56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Patio de máquinas. Avenida La Bomba, adyacente a la Finca La Valentina, municipio Simón Rodríguez, estado Anzoátegui.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875" y="6162675"/>
            <a:ext cx="653355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Maturín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0580" y="6239767"/>
            <a:ext cx="109210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FFFFFF"/>
                </a:solidFill>
                <a:latin typeface="Barlow"/>
              </a:rPr>
              <a:t>Centro Operativo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875" y="6516885"/>
            <a:ext cx="3353544" cy="350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56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Patio de máquinas. Vía El Rincón de Monagas, adyacente a la Urb. Sabana Club, municipio Maturín, estado Monagas.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4900" y="7553325"/>
            <a:ext cx="1192113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NUESTRAS OFICINAS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8689" y="7500937"/>
            <a:ext cx="22726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622877" y="866775"/>
            <a:ext cx="373495" cy="28575"/>
          </a:xfrm>
          <a:custGeom>
            <a:avLst/>
            <a:gdLst/>
            <a:ahLst/>
            <a:cxnLst/>
            <a:rect l="l" t="t" r="r" b="b"/>
            <a:pathLst>
              <a:path w="373495" h="28575">
                <a:moveTo>
                  <a:pt x="11545" y="0"/>
                </a:moveTo>
                <a:lnTo>
                  <a:pt x="373495" y="0"/>
                </a:lnTo>
                <a:lnTo>
                  <a:pt x="36195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" descr="foto_06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5" name="servicio_1_zanja" descr="foto_06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00625"/>
            <a:ext cx="2162323" cy="2447925"/>
          </a:xfrm>
          <a:custGeom>
            <a:avLst/>
            <a:gdLst/>
            <a:ahLst/>
            <a:cxnLst/>
            <a:rect l="l" t="t" r="r" b="b"/>
            <a:pathLst>
              <a:path w="2162323" h="2447925">
                <a:moveTo>
                  <a:pt x="0" y="0"/>
                </a:moveTo>
                <a:lnTo>
                  <a:pt x="2162323" y="0"/>
                </a:lnTo>
                <a:lnTo>
                  <a:pt x="1837975" y="2447925"/>
                </a:lnTo>
                <a:lnTo>
                  <a:pt x="0" y="2447925"/>
                </a:lnTo>
                <a:close/>
              </a:path>
            </a:pathLst>
          </a:custGeom>
        </p:spPr>
      </p:pic>
      <p:pic>
        <p:nvPicPr>
          <p:cNvPr id="6" name="servicio_2_tendido" descr="foto_06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798" y="5000625"/>
            <a:ext cx="2313235" cy="2447925"/>
          </a:xfrm>
          <a:custGeom>
            <a:avLst/>
            <a:gdLst/>
            <a:ahLst/>
            <a:cxnLst/>
            <a:rect l="l" t="t" r="r" b="b"/>
            <a:pathLst>
              <a:path w="2313235" h="2447925">
                <a:moveTo>
                  <a:pt x="346985" y="0"/>
                </a:moveTo>
                <a:lnTo>
                  <a:pt x="2313235" y="0"/>
                </a:lnTo>
                <a:lnTo>
                  <a:pt x="1966250" y="2447925"/>
                </a:lnTo>
                <a:lnTo>
                  <a:pt x="0" y="2447925"/>
                </a:lnTo>
                <a:close/>
              </a:path>
            </a:pathLst>
          </a:custGeom>
        </p:spPr>
      </p:pic>
      <p:pic>
        <p:nvPicPr>
          <p:cNvPr id="7" name="servicio_3_soldadura" descr="foto_06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2507" y="5000625"/>
            <a:ext cx="2313235" cy="2447925"/>
          </a:xfrm>
          <a:custGeom>
            <a:avLst/>
            <a:gdLst/>
            <a:ahLst/>
            <a:cxnLst/>
            <a:rect l="l" t="t" r="r" b="b"/>
            <a:pathLst>
              <a:path w="2313235" h="2447925">
                <a:moveTo>
                  <a:pt x="346985" y="0"/>
                </a:moveTo>
                <a:lnTo>
                  <a:pt x="2313235" y="0"/>
                </a:lnTo>
                <a:lnTo>
                  <a:pt x="1966250" y="2447925"/>
                </a:lnTo>
                <a:lnTo>
                  <a:pt x="0" y="2447925"/>
                </a:lnTo>
                <a:close/>
              </a:path>
            </a:pathLst>
          </a:custGeom>
        </p:spPr>
      </p:pic>
      <p:pic>
        <p:nvPicPr>
          <p:cNvPr id="8" name="servicio_4_valvula" descr="foto_06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217" y="5000625"/>
            <a:ext cx="2313235" cy="2447925"/>
          </a:xfrm>
          <a:custGeom>
            <a:avLst/>
            <a:gdLst/>
            <a:ahLst/>
            <a:cxnLst/>
            <a:rect l="l" t="t" r="r" b="b"/>
            <a:pathLst>
              <a:path w="2313235" h="2447925">
                <a:moveTo>
                  <a:pt x="346985" y="0"/>
                </a:moveTo>
                <a:lnTo>
                  <a:pt x="2313235" y="0"/>
                </a:lnTo>
                <a:lnTo>
                  <a:pt x="1966250" y="2447925"/>
                </a:lnTo>
                <a:lnTo>
                  <a:pt x="0" y="2447925"/>
                </a:lnTo>
                <a:close/>
              </a:path>
            </a:pathLst>
          </a:custGeom>
        </p:spPr>
      </p:pic>
      <p:pic>
        <p:nvPicPr>
          <p:cNvPr id="9" name="servicio_5_maquinaria" descr="foto_06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5927" y="5000625"/>
            <a:ext cx="2162323" cy="2447925"/>
          </a:xfrm>
          <a:custGeom>
            <a:avLst/>
            <a:gdLst/>
            <a:ahLst/>
            <a:cxnLst/>
            <a:rect l="l" t="t" r="r" b="b"/>
            <a:pathLst>
              <a:path w="2162323" h="2447925">
                <a:moveTo>
                  <a:pt x="324348" y="0"/>
                </a:moveTo>
                <a:lnTo>
                  <a:pt x="2162323" y="0"/>
                </a:lnTo>
                <a:lnTo>
                  <a:pt x="2162323" y="2447925"/>
                </a:lnTo>
                <a:lnTo>
                  <a:pt x="0" y="2447925"/>
                </a:lnTo>
                <a:close/>
              </a:path>
            </a:pathLst>
          </a:custGeom>
        </p:spPr>
      </p:pic>
      <p:sp>
        <p:nvSpPr>
          <p:cNvPr id="10" name="i"/>
          <p:cNvSpPr/>
          <p:nvPr/>
        </p:nvSpPr>
        <p:spPr>
          <a:xfrm>
            <a:off x="-382239" y="1636067"/>
            <a:ext cx="659704" cy="3623964"/>
          </a:xfrm>
          <a:custGeom>
            <a:avLst/>
            <a:gdLst/>
            <a:ahLst/>
            <a:cxnLst/>
            <a:rect l="l" t="t" r="r" b="b"/>
            <a:pathLst>
              <a:path w="659704" h="3623964">
                <a:moveTo>
                  <a:pt x="573887" y="0"/>
                </a:moveTo>
                <a:lnTo>
                  <a:pt x="659704" y="0"/>
                </a:lnTo>
                <a:lnTo>
                  <a:pt x="85817" y="3623964"/>
                </a:lnTo>
                <a:lnTo>
                  <a:pt x="0" y="3623964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"/>
          <p:cNvSpPr/>
          <p:nvPr/>
        </p:nvSpPr>
        <p:spPr>
          <a:xfrm>
            <a:off x="-153639" y="1636067"/>
            <a:ext cx="621604" cy="3623964"/>
          </a:xfrm>
          <a:custGeom>
            <a:avLst/>
            <a:gdLst/>
            <a:ahLst/>
            <a:cxnLst/>
            <a:rect l="l" t="t" r="r" b="b"/>
            <a:pathLst>
              <a:path w="621604" h="3623964">
                <a:moveTo>
                  <a:pt x="573925" y="0"/>
                </a:moveTo>
                <a:lnTo>
                  <a:pt x="621604" y="0"/>
                </a:lnTo>
                <a:lnTo>
                  <a:pt x="47679" y="3623964"/>
                </a:lnTo>
                <a:lnTo>
                  <a:pt x="0" y="3623964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ayita"/>
          <p:cNvSpPr/>
          <p:nvPr/>
        </p:nvSpPr>
        <p:spPr>
          <a:xfrm>
            <a:off x="523875" y="3071663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yita"/>
          <p:cNvSpPr/>
          <p:nvPr/>
        </p:nvSpPr>
        <p:spPr>
          <a:xfrm>
            <a:off x="523875" y="3538686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ayita"/>
          <p:cNvSpPr/>
          <p:nvPr/>
        </p:nvSpPr>
        <p:spPr>
          <a:xfrm>
            <a:off x="523875" y="3815060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ayita"/>
          <p:cNvSpPr/>
          <p:nvPr/>
        </p:nvSpPr>
        <p:spPr>
          <a:xfrm>
            <a:off x="523875" y="4282082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ayita"/>
          <p:cNvSpPr/>
          <p:nvPr/>
        </p:nvSpPr>
        <p:spPr>
          <a:xfrm>
            <a:off x="523875" y="4749105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ayita"/>
          <p:cNvSpPr/>
          <p:nvPr/>
        </p:nvSpPr>
        <p:spPr>
          <a:xfrm>
            <a:off x="2847975" y="3071663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ayita"/>
          <p:cNvSpPr/>
          <p:nvPr/>
        </p:nvSpPr>
        <p:spPr>
          <a:xfrm>
            <a:off x="2847975" y="3348037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ayita"/>
          <p:cNvSpPr/>
          <p:nvPr/>
        </p:nvSpPr>
        <p:spPr>
          <a:xfrm>
            <a:off x="2847975" y="3815060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ayita"/>
          <p:cNvSpPr/>
          <p:nvPr/>
        </p:nvSpPr>
        <p:spPr>
          <a:xfrm>
            <a:off x="2847975" y="4282082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ayita"/>
          <p:cNvSpPr/>
          <p:nvPr/>
        </p:nvSpPr>
        <p:spPr>
          <a:xfrm>
            <a:off x="2847975" y="4558456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ayita"/>
          <p:cNvSpPr/>
          <p:nvPr/>
        </p:nvSpPr>
        <p:spPr>
          <a:xfrm>
            <a:off x="5172075" y="3071663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ayita"/>
          <p:cNvSpPr/>
          <p:nvPr/>
        </p:nvSpPr>
        <p:spPr>
          <a:xfrm>
            <a:off x="5172075" y="3729335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ayita"/>
          <p:cNvSpPr/>
          <p:nvPr/>
        </p:nvSpPr>
        <p:spPr>
          <a:xfrm>
            <a:off x="5172075" y="4005708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ayita"/>
          <p:cNvSpPr/>
          <p:nvPr/>
        </p:nvSpPr>
        <p:spPr>
          <a:xfrm>
            <a:off x="5172075" y="4472731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ayita"/>
          <p:cNvSpPr/>
          <p:nvPr/>
        </p:nvSpPr>
        <p:spPr>
          <a:xfrm>
            <a:off x="7496175" y="3071663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ayita"/>
          <p:cNvSpPr/>
          <p:nvPr/>
        </p:nvSpPr>
        <p:spPr>
          <a:xfrm>
            <a:off x="7496175" y="3538686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ayita"/>
          <p:cNvSpPr/>
          <p:nvPr/>
        </p:nvSpPr>
        <p:spPr>
          <a:xfrm>
            <a:off x="7496175" y="3815060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ayita"/>
          <p:cNvSpPr/>
          <p:nvPr/>
        </p:nvSpPr>
        <p:spPr>
          <a:xfrm>
            <a:off x="7496175" y="4091433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ayita"/>
          <p:cNvSpPr/>
          <p:nvPr/>
        </p:nvSpPr>
        <p:spPr>
          <a:xfrm>
            <a:off x="7496175" y="4367807"/>
            <a:ext cx="104775" cy="66675"/>
          </a:xfrm>
          <a:custGeom>
            <a:avLst/>
            <a:gdLst/>
            <a:ahLst/>
            <a:cxnLst/>
            <a:rect l="l" t="t" r="r" b="b"/>
            <a:pathLst>
              <a:path w="104775" h="66675">
                <a:moveTo>
                  <a:pt x="0" y="66675"/>
                </a:moveTo>
                <a:lnTo>
                  <a:pt x="33528" y="0"/>
                </a:lnTo>
                <a:lnTo>
                  <a:pt x="104775" y="0"/>
                </a:lnTo>
                <a:lnTo>
                  <a:pt x="71247" y="66675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oja-raya"/>
          <p:cNvSpPr/>
          <p:nvPr/>
        </p:nvSpPr>
        <p:spPr>
          <a:xfrm>
            <a:off x="2419350" y="7603331"/>
            <a:ext cx="6732389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sobre las fotos" descr="encima_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43000" y="800100"/>
            <a:ext cx="1400770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2A3C78"/>
                </a:solidFill>
                <a:latin typeface="Barlow"/>
              </a:rPr>
              <a:t>QUÉ HACEMOS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" y="1028700"/>
            <a:ext cx="3481238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4055"/>
              </a:lnSpc>
            </a:pPr>
            <a:r>
              <a:rPr sz="3937" b="1" i="0">
                <a:solidFill>
                  <a:srgbClr val="122149"/>
                </a:solidFill>
                <a:latin typeface="Barlow Condensed"/>
              </a:rPr>
              <a:t>Nuestros servicios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875" y="2038350"/>
            <a:ext cx="24586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FFFFFF"/>
                </a:solidFill>
                <a:latin typeface="Barlow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875" y="2228850"/>
            <a:ext cx="1995636" cy="5067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5"/>
              </a:lnSpc>
            </a:pPr>
            <a:r>
              <a:rPr sz="1762" b="1" i="0">
                <a:solidFill>
                  <a:srgbClr val="FFFFFF"/>
                </a:solidFill>
                <a:latin typeface="Barlow Condensed"/>
              </a:rPr>
              <a:t>Construcción de Ductos Petroleros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425" y="3013174"/>
            <a:ext cx="1551235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Soldadura calificada para diámetros de 3/4″ a 42″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425" y="3480196"/>
            <a:ext cx="1846659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Tubería enterrada y superficial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3425" y="3756570"/>
            <a:ext cx="1848594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Revestimiento y protección de tuberías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425" y="4223593"/>
            <a:ext cx="1407318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Ingeniería, topografía y excavación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3425" y="4690616"/>
            <a:ext cx="1814958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Prueba hidrostática y flushing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47975" y="2038350"/>
            <a:ext cx="2714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FFFFFF"/>
                </a:solidFill>
                <a:latin typeface="Barlow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47975" y="2228850"/>
            <a:ext cx="1980455" cy="5067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5"/>
              </a:lnSpc>
            </a:pPr>
            <a:r>
              <a:rPr sz="1762" b="1" i="0">
                <a:solidFill>
                  <a:srgbClr val="FFFFFF"/>
                </a:solidFill>
                <a:latin typeface="Barlow Condensed"/>
              </a:rPr>
              <a:t>Servicios de Alquiler de Equipos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57525" y="3013174"/>
            <a:ext cx="1658391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Maquinaria pesada y liviana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57525" y="3289548"/>
            <a:ext cx="1594544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Izamiento e instalación de equipos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57525" y="3756570"/>
            <a:ext cx="1568053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Chuto/batea y lowboy con escoltas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57525" y="4223593"/>
            <a:ext cx="1595883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Vacuum y brazo hidráulico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57525" y="4499967"/>
            <a:ext cx="1732805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Cortafuegos y estaciones de válvulas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72075" y="2038350"/>
            <a:ext cx="26908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FFFFFF"/>
                </a:solidFill>
                <a:latin typeface="Barlow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2075" y="2228850"/>
            <a:ext cx="2085677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5"/>
              </a:lnSpc>
            </a:pPr>
            <a:r>
              <a:rPr sz="1762" b="1" i="0">
                <a:solidFill>
                  <a:srgbClr val="FFFFFF"/>
                </a:solidFill>
                <a:latin typeface="Barlow Condensed"/>
              </a:rPr>
              <a:t>Ambiente y Saneamiento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81625" y="3013174"/>
            <a:ext cx="1772394" cy="5432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Saneamiento de áreas por afectaciones con derrame de crudo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81625" y="3670845"/>
            <a:ext cx="1420117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Trasegado con vacuum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81625" y="3947219"/>
            <a:ext cx="1754088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Tratamiento y disposición de suelo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81625" y="4414242"/>
            <a:ext cx="1765994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Saneamiento de lagunas a través del dragado de sólidos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6175" y="2038350"/>
            <a:ext cx="27548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FFFFFF"/>
                </a:solidFill>
                <a:latin typeface="Barlow"/>
              </a:rPr>
              <a:t>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6175" y="2228850"/>
            <a:ext cx="1778793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5"/>
              </a:lnSpc>
            </a:pPr>
            <a:r>
              <a:rPr sz="1762" b="1" i="0">
                <a:solidFill>
                  <a:srgbClr val="FFFFFF"/>
                </a:solidFill>
                <a:latin typeface="Barlow Condensed"/>
              </a:rPr>
              <a:t>Suministro y Procura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05725" y="3013174"/>
            <a:ext cx="1257597" cy="352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Válvulas bridadas de compuerta y globo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5725" y="3480196"/>
            <a:ext cx="1893242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Bridas, codos, te y reducciones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05725" y="3756570"/>
            <a:ext cx="1656754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Weldolets, niples y tapones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05725" y="4032944"/>
            <a:ext cx="1656308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Empacaduras y espárragos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05725" y="4309318"/>
            <a:ext cx="1515814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1"/>
              </a:lnSpc>
            </a:pPr>
            <a:r>
              <a:rPr sz="1072" b="0" i="0">
                <a:solidFill>
                  <a:srgbClr val="FFFFFF"/>
                </a:solidFill>
                <a:latin typeface="Barlow"/>
              </a:rPr>
              <a:t>Mangas y revestimientos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4900" y="7553325"/>
            <a:ext cx="125730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NUESTROS SERVICIOS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85089" y="7500937"/>
            <a:ext cx="22086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523875" y="3014662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stado"/>
          <p:cNvSpPr/>
          <p:nvPr/>
        </p:nvSpPr>
        <p:spPr>
          <a:xfrm>
            <a:off x="2019301" y="3154263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yita"/>
          <p:cNvSpPr/>
          <p:nvPr/>
        </p:nvSpPr>
        <p:spPr>
          <a:xfrm>
            <a:off x="523875" y="3497163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2019301" y="3814464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3875" y="4157364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stado"/>
          <p:cNvSpPr/>
          <p:nvPr/>
        </p:nvSpPr>
        <p:spPr>
          <a:xfrm>
            <a:off x="2098478" y="4474666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yita"/>
          <p:cNvSpPr/>
          <p:nvPr/>
        </p:nvSpPr>
        <p:spPr>
          <a:xfrm>
            <a:off x="523875" y="4817566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stado"/>
          <p:cNvSpPr/>
          <p:nvPr/>
        </p:nvSpPr>
        <p:spPr>
          <a:xfrm>
            <a:off x="2019301" y="4957167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yita"/>
          <p:cNvSpPr/>
          <p:nvPr/>
        </p:nvSpPr>
        <p:spPr>
          <a:xfrm>
            <a:off x="523875" y="5300067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stado"/>
          <p:cNvSpPr/>
          <p:nvPr/>
        </p:nvSpPr>
        <p:spPr>
          <a:xfrm>
            <a:off x="1685480" y="5439667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yita"/>
          <p:cNvSpPr/>
          <p:nvPr/>
        </p:nvSpPr>
        <p:spPr>
          <a:xfrm>
            <a:off x="523875" y="5782567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stado"/>
          <p:cNvSpPr/>
          <p:nvPr/>
        </p:nvSpPr>
        <p:spPr>
          <a:xfrm>
            <a:off x="2019301" y="6099869"/>
            <a:ext cx="1114719" cy="161925"/>
          </a:xfrm>
          <a:custGeom>
            <a:avLst/>
            <a:gdLst/>
            <a:ahLst/>
            <a:cxnLst/>
            <a:rect l="l" t="t" r="r" b="b"/>
            <a:pathLst>
              <a:path w="1114719" h="161925">
                <a:moveTo>
                  <a:pt x="46493" y="0"/>
                </a:moveTo>
                <a:lnTo>
                  <a:pt x="1114719" y="0"/>
                </a:lnTo>
                <a:lnTo>
                  <a:pt x="10682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ayita"/>
          <p:cNvSpPr/>
          <p:nvPr/>
        </p:nvSpPr>
        <p:spPr>
          <a:xfrm>
            <a:off x="523875" y="6442769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stado"/>
          <p:cNvSpPr/>
          <p:nvPr/>
        </p:nvSpPr>
        <p:spPr>
          <a:xfrm>
            <a:off x="719734" y="6810970"/>
            <a:ext cx="1114719" cy="161925"/>
          </a:xfrm>
          <a:custGeom>
            <a:avLst/>
            <a:gdLst/>
            <a:ahLst/>
            <a:cxnLst/>
            <a:rect l="l" t="t" r="r" b="b"/>
            <a:pathLst>
              <a:path w="1114719" h="161925">
                <a:moveTo>
                  <a:pt x="46493" y="0"/>
                </a:moveTo>
                <a:lnTo>
                  <a:pt x="1114719" y="0"/>
                </a:lnTo>
                <a:lnTo>
                  <a:pt x="10682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ayita"/>
          <p:cNvSpPr/>
          <p:nvPr/>
        </p:nvSpPr>
        <p:spPr>
          <a:xfrm>
            <a:off x="3679775" y="3014662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stado"/>
          <p:cNvSpPr/>
          <p:nvPr/>
        </p:nvSpPr>
        <p:spPr>
          <a:xfrm>
            <a:off x="5326709" y="3154263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ayita"/>
          <p:cNvSpPr/>
          <p:nvPr/>
        </p:nvSpPr>
        <p:spPr>
          <a:xfrm>
            <a:off x="3679775" y="3497163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stado"/>
          <p:cNvSpPr/>
          <p:nvPr/>
        </p:nvSpPr>
        <p:spPr>
          <a:xfrm>
            <a:off x="5326709" y="3636764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ayita"/>
          <p:cNvSpPr/>
          <p:nvPr/>
        </p:nvSpPr>
        <p:spPr>
          <a:xfrm>
            <a:off x="3679775" y="3979664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stado"/>
          <p:cNvSpPr/>
          <p:nvPr/>
        </p:nvSpPr>
        <p:spPr>
          <a:xfrm>
            <a:off x="5326709" y="4119264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ayita"/>
          <p:cNvSpPr/>
          <p:nvPr/>
        </p:nvSpPr>
        <p:spPr>
          <a:xfrm>
            <a:off x="3679775" y="4462164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stado"/>
          <p:cNvSpPr/>
          <p:nvPr/>
        </p:nvSpPr>
        <p:spPr>
          <a:xfrm>
            <a:off x="5326709" y="4601765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ayita"/>
          <p:cNvSpPr/>
          <p:nvPr/>
        </p:nvSpPr>
        <p:spPr>
          <a:xfrm>
            <a:off x="3679775" y="4944665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stado"/>
          <p:cNvSpPr/>
          <p:nvPr/>
        </p:nvSpPr>
        <p:spPr>
          <a:xfrm>
            <a:off x="3875634" y="5312866"/>
            <a:ext cx="1114719" cy="161925"/>
          </a:xfrm>
          <a:custGeom>
            <a:avLst/>
            <a:gdLst/>
            <a:ahLst/>
            <a:cxnLst/>
            <a:rect l="l" t="t" r="r" b="b"/>
            <a:pathLst>
              <a:path w="1114719" h="161925">
                <a:moveTo>
                  <a:pt x="46493" y="0"/>
                </a:moveTo>
                <a:lnTo>
                  <a:pt x="1114719" y="0"/>
                </a:lnTo>
                <a:lnTo>
                  <a:pt x="10682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ayita"/>
          <p:cNvSpPr/>
          <p:nvPr/>
        </p:nvSpPr>
        <p:spPr>
          <a:xfrm>
            <a:off x="6835675" y="3014662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stado"/>
          <p:cNvSpPr/>
          <p:nvPr/>
        </p:nvSpPr>
        <p:spPr>
          <a:xfrm>
            <a:off x="8466684" y="3154263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ayita"/>
          <p:cNvSpPr/>
          <p:nvPr/>
        </p:nvSpPr>
        <p:spPr>
          <a:xfrm>
            <a:off x="6835675" y="3497163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stado"/>
          <p:cNvSpPr/>
          <p:nvPr/>
        </p:nvSpPr>
        <p:spPr>
          <a:xfrm>
            <a:off x="8410279" y="3636764"/>
            <a:ext cx="935530" cy="161925"/>
          </a:xfrm>
          <a:custGeom>
            <a:avLst/>
            <a:gdLst/>
            <a:ahLst/>
            <a:cxnLst/>
            <a:rect l="l" t="t" r="r" b="b"/>
            <a:pathLst>
              <a:path w="935530" h="161925">
                <a:moveTo>
                  <a:pt x="46594" y="0"/>
                </a:moveTo>
                <a:lnTo>
                  <a:pt x="935530" y="0"/>
                </a:lnTo>
                <a:lnTo>
                  <a:pt x="88893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ayita"/>
          <p:cNvSpPr/>
          <p:nvPr/>
        </p:nvSpPr>
        <p:spPr>
          <a:xfrm>
            <a:off x="6835675" y="3979664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stado"/>
          <p:cNvSpPr/>
          <p:nvPr/>
        </p:nvSpPr>
        <p:spPr>
          <a:xfrm>
            <a:off x="7031535" y="4347864"/>
            <a:ext cx="1114719" cy="161925"/>
          </a:xfrm>
          <a:custGeom>
            <a:avLst/>
            <a:gdLst/>
            <a:ahLst/>
            <a:cxnLst/>
            <a:rect l="l" t="t" r="r" b="b"/>
            <a:pathLst>
              <a:path w="1114719" h="161925">
                <a:moveTo>
                  <a:pt x="46493" y="0"/>
                </a:moveTo>
                <a:lnTo>
                  <a:pt x="1114719" y="0"/>
                </a:lnTo>
                <a:lnTo>
                  <a:pt x="10682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ayita"/>
          <p:cNvSpPr/>
          <p:nvPr/>
        </p:nvSpPr>
        <p:spPr>
          <a:xfrm>
            <a:off x="6835675" y="4690764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stado"/>
          <p:cNvSpPr/>
          <p:nvPr/>
        </p:nvSpPr>
        <p:spPr>
          <a:xfrm>
            <a:off x="7031535" y="5058965"/>
            <a:ext cx="1114719" cy="161925"/>
          </a:xfrm>
          <a:custGeom>
            <a:avLst/>
            <a:gdLst/>
            <a:ahLst/>
            <a:cxnLst/>
            <a:rect l="l" t="t" r="r" b="b"/>
            <a:pathLst>
              <a:path w="1114719" h="161925">
                <a:moveTo>
                  <a:pt x="46493" y="0"/>
                </a:moveTo>
                <a:lnTo>
                  <a:pt x="1114719" y="0"/>
                </a:lnTo>
                <a:lnTo>
                  <a:pt x="10682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ayita"/>
          <p:cNvSpPr/>
          <p:nvPr/>
        </p:nvSpPr>
        <p:spPr>
          <a:xfrm>
            <a:off x="6835675" y="5401865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stado"/>
          <p:cNvSpPr/>
          <p:nvPr/>
        </p:nvSpPr>
        <p:spPr>
          <a:xfrm>
            <a:off x="7031535" y="5770066"/>
            <a:ext cx="1114719" cy="161925"/>
          </a:xfrm>
          <a:custGeom>
            <a:avLst/>
            <a:gdLst/>
            <a:ahLst/>
            <a:cxnLst/>
            <a:rect l="l" t="t" r="r" b="b"/>
            <a:pathLst>
              <a:path w="1114719" h="161925">
                <a:moveTo>
                  <a:pt x="46493" y="0"/>
                </a:moveTo>
                <a:lnTo>
                  <a:pt x="1114719" y="0"/>
                </a:lnTo>
                <a:lnTo>
                  <a:pt x="10682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ayita"/>
          <p:cNvSpPr/>
          <p:nvPr/>
        </p:nvSpPr>
        <p:spPr>
          <a:xfrm>
            <a:off x="6835675" y="6112966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stado"/>
          <p:cNvSpPr/>
          <p:nvPr/>
        </p:nvSpPr>
        <p:spPr>
          <a:xfrm>
            <a:off x="7031535" y="6481167"/>
            <a:ext cx="1114719" cy="161925"/>
          </a:xfrm>
          <a:custGeom>
            <a:avLst/>
            <a:gdLst/>
            <a:ahLst/>
            <a:cxnLst/>
            <a:rect l="l" t="t" r="r" b="b"/>
            <a:pathLst>
              <a:path w="1114719" h="161925">
                <a:moveTo>
                  <a:pt x="46493" y="0"/>
                </a:moveTo>
                <a:lnTo>
                  <a:pt x="1114719" y="0"/>
                </a:lnTo>
                <a:lnTo>
                  <a:pt x="10682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ayita"/>
          <p:cNvSpPr/>
          <p:nvPr/>
        </p:nvSpPr>
        <p:spPr>
          <a:xfrm>
            <a:off x="6835675" y="6824067"/>
            <a:ext cx="123825" cy="76200"/>
          </a:xfrm>
          <a:custGeom>
            <a:avLst/>
            <a:gdLst/>
            <a:ahLst/>
            <a:cxnLst/>
            <a:rect l="l" t="t" r="r" b="b"/>
            <a:pathLst>
              <a:path w="123825" h="76200">
                <a:moveTo>
                  <a:pt x="0" y="76200"/>
                </a:moveTo>
                <a:lnTo>
                  <a:pt x="39624" y="0"/>
                </a:lnTo>
                <a:lnTo>
                  <a:pt x="123825" y="0"/>
                </a:lnTo>
                <a:lnTo>
                  <a:pt x="84201" y="762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stado"/>
          <p:cNvSpPr/>
          <p:nvPr/>
        </p:nvSpPr>
        <p:spPr>
          <a:xfrm>
            <a:off x="7031535" y="7369968"/>
            <a:ext cx="1114719" cy="161925"/>
          </a:xfrm>
          <a:custGeom>
            <a:avLst/>
            <a:gdLst/>
            <a:ahLst/>
            <a:cxnLst/>
            <a:rect l="l" t="t" r="r" b="b"/>
            <a:pathLst>
              <a:path w="1114719" h="161925">
                <a:moveTo>
                  <a:pt x="46493" y="0"/>
                </a:moveTo>
                <a:lnTo>
                  <a:pt x="1114719" y="0"/>
                </a:lnTo>
                <a:lnTo>
                  <a:pt x="10682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logo" descr="foto_07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42" name="portafolio_oleoducto" descr="foto_07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"/>
            <a:ext cx="10058400" cy="1619250"/>
          </a:xfrm>
          <a:prstGeom prst="rect">
            <a:avLst/>
          </a:prstGeom>
        </p:spPr>
      </p:pic>
      <p:sp>
        <p:nvSpPr>
          <p:cNvPr id="43" name="i"/>
          <p:cNvSpPr/>
          <p:nvPr/>
        </p:nvSpPr>
        <p:spPr>
          <a:xfrm>
            <a:off x="-243989" y="461069"/>
            <a:ext cx="383204" cy="1878210"/>
          </a:xfrm>
          <a:custGeom>
            <a:avLst/>
            <a:gdLst/>
            <a:ahLst/>
            <a:cxnLst/>
            <a:rect l="l" t="t" r="r" b="b"/>
            <a:pathLst>
              <a:path w="383204" h="1878210">
                <a:moveTo>
                  <a:pt x="297416" y="0"/>
                </a:moveTo>
                <a:lnTo>
                  <a:pt x="383204" y="0"/>
                </a:lnTo>
                <a:lnTo>
                  <a:pt x="85788" y="1878210"/>
                </a:lnTo>
                <a:lnTo>
                  <a:pt x="0" y="187821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"/>
          <p:cNvSpPr/>
          <p:nvPr/>
        </p:nvSpPr>
        <p:spPr>
          <a:xfrm>
            <a:off x="-15389" y="461069"/>
            <a:ext cx="345104" cy="1878210"/>
          </a:xfrm>
          <a:custGeom>
            <a:avLst/>
            <a:gdLst/>
            <a:ahLst/>
            <a:cxnLst/>
            <a:rect l="l" t="t" r="r" b="b"/>
            <a:pathLst>
              <a:path w="345104" h="1878210">
                <a:moveTo>
                  <a:pt x="297440" y="0"/>
                </a:moveTo>
                <a:lnTo>
                  <a:pt x="345104" y="0"/>
                </a:lnTo>
                <a:lnTo>
                  <a:pt x="47664" y="1878210"/>
                </a:lnTo>
                <a:lnTo>
                  <a:pt x="0" y="187821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oja-raya"/>
          <p:cNvSpPr/>
          <p:nvPr/>
        </p:nvSpPr>
        <p:spPr>
          <a:xfrm>
            <a:off x="1910655" y="7603331"/>
            <a:ext cx="7240934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sobre las fotos" descr="encima_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43000" y="1056084"/>
            <a:ext cx="1253728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PORTAFOLIO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8650" y="1284684"/>
            <a:ext cx="3750022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4210"/>
              </a:lnSpc>
            </a:pPr>
            <a:r>
              <a:rPr sz="4087" b="1" i="0">
                <a:solidFill>
                  <a:srgbClr val="FFFFFF"/>
                </a:solidFill>
                <a:latin typeface="Barlow Condensed"/>
              </a:rPr>
              <a:t>Nuestros proyectos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9375" y="1371600"/>
            <a:ext cx="1330374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ACTUALIZADO 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85446" y="1524000"/>
            <a:ext cx="2044303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ts val="2025"/>
              </a:lnSpc>
            </a:pPr>
            <a:r>
              <a:rPr sz="1687" b="1" i="0">
                <a:solidFill>
                  <a:srgbClr val="FFFFFF"/>
                </a:solidFill>
                <a:latin typeface="Barlow Condensed"/>
              </a:rPr>
              <a:t>10 de septiembre de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875" y="2505075"/>
            <a:ext cx="1525785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74"/>
              </a:lnSpc>
            </a:pPr>
            <a:r>
              <a:rPr sz="1237" b="1" i="0" spc="223">
                <a:solidFill>
                  <a:srgbClr val="122149"/>
                </a:solidFill>
                <a:latin typeface="Barlow"/>
              </a:rPr>
              <a:t>CONSTRUCCIÓN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97249" y="2400300"/>
            <a:ext cx="301525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2"/>
              </a:lnSpc>
            </a:pPr>
            <a:r>
              <a:rPr sz="2062" b="1" i="0">
                <a:solidFill>
                  <a:srgbClr val="7C8BBA"/>
                </a:solidFill>
                <a:latin typeface="Barlow Condensed"/>
              </a:rPr>
              <a:t>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2950" y="2938462"/>
            <a:ext cx="2479923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Oleoducto 30″ × 17 km — Planta PDD – COPEM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950" y="3159025"/>
            <a:ext cx="129956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Proyectos Mayores FPO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7767" y="3173313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2950" y="3420963"/>
            <a:ext cx="2454622" cy="358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Completación mecánica Oleoducto de 42″ — PTO–TAEJ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950" y="3819227"/>
            <a:ext cx="129956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Proyectos Mayores FPO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7767" y="3833514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2950" y="4081164"/>
            <a:ext cx="2396132" cy="358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Oleoducto 30″ × 14 km — Planta FF–Trampa de envío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950" y="4479428"/>
            <a:ext cx="137874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PETROLERA SINOVENSA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16943" y="4493716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2950" y="4741366"/>
            <a:ext cx="2453431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Diluenducto 20″ × 11,20 km — Palmichal–PTO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950" y="4961929"/>
            <a:ext cx="129956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Proyectos Mayores FPO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7767" y="4976217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2950" y="5223867"/>
            <a:ext cx="1926728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Macolla 15 — vialidad y plataforma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2950" y="5444430"/>
            <a:ext cx="96574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PETROMONAGAS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03945" y="5458717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" y="5706367"/>
            <a:ext cx="2511028" cy="358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Tubería 12″ agua salada × 29,6 km — COPEM – El Salto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950" y="6104632"/>
            <a:ext cx="129956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Proyectos Mayores FPO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7767" y="6118919"/>
            <a:ext cx="9539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2950" y="6366569"/>
            <a:ext cx="2323207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Oleoducto 30″ Veladero · Tramo I (5,9 km)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2950" y="6582370"/>
            <a:ext cx="19748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Coordinación Operacional Faja (COF)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8200" y="6830020"/>
            <a:ext cx="9539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79775" y="2505075"/>
            <a:ext cx="1037927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74"/>
              </a:lnSpc>
            </a:pPr>
            <a:r>
              <a:rPr sz="1237" b="1" i="0" spc="223">
                <a:solidFill>
                  <a:srgbClr val="122149"/>
                </a:solidFill>
                <a:latin typeface="Barlow"/>
              </a:rPr>
              <a:t>AMBIENTE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815" y="2400300"/>
            <a:ext cx="30986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2"/>
              </a:lnSpc>
            </a:pPr>
            <a:r>
              <a:rPr sz="2062" b="1" i="0">
                <a:solidFill>
                  <a:srgbClr val="7C8BBA"/>
                </a:solidFill>
                <a:latin typeface="Barlow Condensed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98850" y="2938462"/>
            <a:ext cx="2528589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COMOR — Saneamiento de suelo contaminado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98850" y="3159025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45174" y="3173313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98850" y="3420963"/>
            <a:ext cx="2329457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Dragado SIAE COMOR — lagunas A, B, C y 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98850" y="3641526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45174" y="3655814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98850" y="3903464"/>
            <a:ext cx="1996231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Saneamiento Estación de Flujo O-16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98850" y="4124027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5174" y="4138314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98850" y="4385964"/>
            <a:ext cx="2132707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Saneamiento Laguna de Curataquiche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98850" y="4606528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45174" y="4620815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98850" y="4868465"/>
            <a:ext cx="243527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Movilización y trasegado de crudo — COMOR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98850" y="5084266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94100" y="5331916"/>
            <a:ext cx="9539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35675" y="2505075"/>
            <a:ext cx="224611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74"/>
              </a:lnSpc>
            </a:pPr>
            <a:r>
              <a:rPr sz="1237" b="1" i="0" spc="223">
                <a:solidFill>
                  <a:srgbClr val="122149"/>
                </a:solidFill>
                <a:latin typeface="Barlow"/>
              </a:rPr>
              <a:t>SERVICIOS Y ALQUILER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09199" y="2400300"/>
            <a:ext cx="301525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2"/>
              </a:lnSpc>
            </a:pPr>
            <a:r>
              <a:rPr sz="2062" b="1" i="0">
                <a:solidFill>
                  <a:srgbClr val="7C8BBA"/>
                </a:solidFill>
                <a:latin typeface="Barlow Condensed"/>
              </a:rPr>
              <a:t>07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54750" y="2938462"/>
            <a:ext cx="2485429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Mantenimiento de equipos de bombeo — FPO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54750" y="3159025"/>
            <a:ext cx="1435149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Gestión de Materiales DAL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85150" y="3173313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54750" y="3420963"/>
            <a:ext cx="2544663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Alquiler de maquinaria — SINOVENSA Morichal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54750" y="3641526"/>
            <a:ext cx="137874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PETROLERA SINOVENSA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28744" y="3655814"/>
            <a:ext cx="77479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54750" y="3903464"/>
            <a:ext cx="1843682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Estaciones de válvulas — FPO HC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54750" y="4119264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50000" y="4366914"/>
            <a:ext cx="9539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54750" y="4614564"/>
            <a:ext cx="1278582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Equipos transversales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54750" y="4830365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50000" y="5078015"/>
            <a:ext cx="9539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54750" y="5325665"/>
            <a:ext cx="957857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Chuto con batea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54750" y="5541466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50000" y="5789116"/>
            <a:ext cx="9539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54750" y="6036766"/>
            <a:ext cx="2171700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Cortafuegos en corredores de tuberías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54750" y="6252567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50000" y="6500217"/>
            <a:ext cx="9539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054750" y="6747867"/>
            <a:ext cx="2115145" cy="358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0"/>
              </a:lnSpc>
            </a:pPr>
            <a:r>
              <a:rPr sz="1207" b="1" i="0">
                <a:solidFill>
                  <a:srgbClr val="122149"/>
                </a:solidFill>
                <a:latin typeface="Barlow Condensed"/>
              </a:rPr>
              <a:t>Alquiler de equipos — XP Extrapesado Morichal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54750" y="7141368"/>
            <a:ext cx="145107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34"/>
              </a:lnSpc>
            </a:pPr>
            <a:r>
              <a:rPr sz="944" b="0" i="0">
                <a:solidFill>
                  <a:srgbClr val="5F6980"/>
                </a:solidFill>
                <a:latin typeface="Barlow"/>
              </a:rPr>
              <a:t>Logística Operacional DAL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50000" y="7389018"/>
            <a:ext cx="9539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98"/>
              </a:lnSpc>
            </a:pPr>
            <a:r>
              <a:rPr sz="832" b="1" i="0" spc="117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04900" y="7553325"/>
            <a:ext cx="748605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PORTAFOLIO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84940" y="7500937"/>
            <a:ext cx="221009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800696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392616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oleo30x17_1" descr="foto_08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oleo30x17_2" descr="foto_08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oleo30x17_3" descr="foto_08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oleo42_1" descr="foto_08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oleo42_2" descr="foto_08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oleo42_3" descr="foto_08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287815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162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233258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Oleoducto 30″ × 17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418433"/>
            <a:ext cx="198715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Planta PDD – Rebombeo El Aceital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3844528"/>
            <a:ext cx="455295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de las obras civiles, mecánicas, eléctricas e instrumentación del Oleoducto de 30″ × 17 km, desde la Planta Desaladora Deshidratadora PDD hasta el rebombeo El Aceital, Morichal, estado Monagas. Además de la aplicación y puesta en funcionamiento del sistema de protección catódica.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203090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Proyectos Mayores FPO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1081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1846808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Oleoducto de 42″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217884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PTO – TAEJ · Completación mecánica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Completación mecánica de la tubería de 42″ desde el Patio de Tanques Oficina (PTO) hasta el Terminal de Almacenamiento y Embarque Jose (TAEJ), así como la construcción de 07 tanquillas de concreto en válvulas de retención de 42″.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03090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Proyectos Mayores FPO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9702" y="7500937"/>
            <a:ext cx="216247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382466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5810847" y="270510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oleo30x14_1" descr="foto_09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oleo30x14_2" descr="foto_09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oleo30x14_3" descr="foto_09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tub12_1" descr="foto_09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tub12_2" descr="foto_09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tub12_3" descr="foto_09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283053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0931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2354609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Oleoducto 30″ × 14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418433"/>
            <a:ext cx="3105298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Planta FF – Trampa de envío · PETROLERA SINOVENSA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3844528"/>
            <a:ext cx="455295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del Oleoducto de 30″ × 14 km desde la Estación de Flujo (FF) hasta el Km 0, PETROLERA SINOVENSA, necesarios para incrementar la producción desde 105 MBPD hasta 330 MBPD de crudo extrapesado. Así como la instalación y puesta en marcha del sistema de protección catódica.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2027932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PETROLERA SINOVENSA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9312" y="272415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3810744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Tubería 12″ × 29,6 km — agua salada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2012602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COPEM – Pozos inyectores El Salto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de 29,60 km de tubería de 12″ de inyección de agua salada desde COPEM PETROMONAGAS hasta los pozos inyectores El Salto. Así como la instalación y puesta en marcha del sistema de protección catódica de tuberías enterradas.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03090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Proyectos Mayores FPO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4940" y="7500937"/>
            <a:ext cx="221009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800696" y="270510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5809656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veladero_1" descr="foto_10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veladero_2" descr="foto_10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veladero_3" descr="foto_10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diluen20_1" descr="foto_10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diluen20_2" descr="foto_10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diluen20_3" descr="foto_10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283797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162" y="272415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2574577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Oleoducto 30″ × 5,90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418433"/>
            <a:ext cx="2255192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Tramo I del Oleoducto de 30″ Veladero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3844528"/>
            <a:ext cx="455295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Reemplazo del Tramo I del Oleoducto de 30″ × 5,9 km, a fin de garantizar la confiabilidad y continuidad operacional, así como la integridad mecánica del oleoducto de 30″, en el cumplimiento del transporte de Diluente Mesa 30 para la División Carabobo, Distrito Morichal y empresas mixtas, y la formulación de la segregación Merey 16.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3147119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Coordinación Operacional Faja (COF)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46077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8121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2803177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Diluenducto 20″ × 11,20 km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3409801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Palmichal – Patio de Tanques Oficina · El Tigre, Anzoátegui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971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Reemplazo de 10,5 km del Diluenducto de 20″ Palmichal – PTO, con perforación direccional bajo suelo en la Troncal 9 de la autopista Gran Mariscal de Ayacucho, con el propósito de restablecer la integridad del sistema de transporte e incrementar la presión de bombeo hasta 840 psi, permitiendo el manejo de nafta con un caudal promedio de 180 MBD de diluente.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03090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Proyectos Mayores FPO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5684" y="7500937"/>
            <a:ext cx="220265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389163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392616" y="270510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macolla15_1" descr="foto_11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macolla15_2" descr="foto_11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macolla15_3" descr="foto_11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valvulas_1" descr="foto_11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valvulas_2" descr="foto_11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valvulas_3" descr="foto_11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305377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1193452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CONSTRUCCIÓN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105042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 –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7628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360893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Macolla 15 — vialidad y plataforma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418433"/>
            <a:ext cx="2472928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Centro Operativo PETROMONAGAS (COPEM)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3844528"/>
            <a:ext cx="455295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de la vialidad de acceso y plataforma de perforación para la Macolla 15 del Centro Operativo PETROMONAGAS, involucrando movimientos de tierra, conformación de taludes, construcción de 39 cellars y canales de drenaje perimetrales con pases reforzados.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1399728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PETROMONAGAS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1081" y="272415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344120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Estaciones de válvulas — FPO HC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395168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Corredores de tuberías principales de la Faja Petrolífera del Orinoco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Limpieza y mantenimiento de estaciones de válvulas en corredores de tuberías, cortafuegos perimetrales, señalización de áreas y pintura de puentes y estructuras metálicas.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7264" y="7500937"/>
            <a:ext cx="198685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389014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976836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392616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6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comorsuelo_1" descr="foto_12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comorsuelo_2" descr="foto_12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comorsuelo_3" descr="foto_12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dragado_1" descr="foto_12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dragado_2" descr="foto_12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dragado_3" descr="foto_12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330678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105028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 –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7480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3325862" cy="6371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COMOR — Saneamiento de suelo contaminado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712666"/>
            <a:ext cx="249123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Centro Operativo Morichal · fases II, III y IV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4138761"/>
            <a:ext cx="455295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Remoción, recolección y recuperación de crudo sobrenadante, así como la carga, transporte, tratamiento y disposición final del suelo contaminado en instalaciones de PDVSA autorizadas por el MINEC, generado en las actividades de saneamiento realizadas en el Centro Operativo de Morichal (COMOR), División Carabobo.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1081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344120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Dragado lagunas del SIAE COMOR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1637109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Lagunas A, B, C y D del SIAE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Saneamiento y posterior mantenimiento de las cuatro lagunas A, B, C y D del SIAE del Centro Operacional Morichal (COMOR), en la División Carabobo, a través del dragado de sólidos.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2565" y="7500937"/>
            <a:ext cx="17338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382466" y="270510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5810847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7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trasegado_1" descr="foto_13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trasegado_2" descr="foto_13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trasegado_3" descr="foto_13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ef016_1" descr="foto_13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ef016_2" descr="foto_13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ef016_3" descr="foto_13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306865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0931" y="272415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3588692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Movilización y trasegado de crudo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418433"/>
            <a:ext cx="1555551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Centro Operativo Morichal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3844528"/>
            <a:ext cx="455295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Movilización y trasegado de crudo en el Sistema de Inyección y Efluentes (SIAE) ubicado en las instalaciones del Centro Operativo COMOR, con equipos de vacío tipo vacuum de mínimo 160 BLS.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9312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2323951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Estación de Flujo O-16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2229445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Saneamiento O-16 · División Carabobo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766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Operación de maquinaria pesada para realizar los trabajos de saneamiento de áreas afectadas por derrames de hidrocarburos: remoción, estabilización, homogeneización, apilamiento y tratamiento in situ del material impactado, contención y recolección de fluidos petrolizados, nivelación de terreno y carga de sólidos.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752" y="7500937"/>
            <a:ext cx="197197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389014" y="270510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394253" y="270510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transv_1" descr="foto_14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transv_2" descr="foto_14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transv_3" descr="foto_14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chuto_1" descr="foto_14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chuto_2" descr="foto_14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chuto_3" descr="foto_14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307758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1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105028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 –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7480" y="272415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2373957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Equipos transversales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418433"/>
            <a:ext cx="219283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Equipos para la producción de la FPO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3844528"/>
            <a:ext cx="4552950" cy="971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Servicio de movimientos relacionados con remoción de suelos, carga, descarga y traslado de materiales logísticos y misceláneos, contemplados en las operaciones de rehabilitación y reacondicionamiento de pozos, subestaciones eléctricas, estaciones de flujo y descarga, asociados a las labores operacionales de las divisiones pertenecientes a la Dirección Ejecutiva de Producción FPO.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104536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 –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2718" y="272415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1754237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Chuto con batea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2730549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Movilización de equipos y materiales de la FPO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971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Movilización de todos los materiales y equipos (transformadores, generadores, plantas), misceláneos y lubricantes, desde las instalaciones PDVSA a nivel nacional hasta las áreas operacionales de las divisiones Carabobo, Ayacucho, Junín y Boyacá, adscritas a la Dirección Adjunta de Logística perteneciente a la Dirección Ejecutiva de Producción FPO HC.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9645" y="7500937"/>
            <a:ext cx="19630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800696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392616" y="27051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bombeo_1" descr="foto_15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bombeo_2" descr="foto_15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bombeo_3" descr="foto_15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sinovensa_1" descr="foto_15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sinovensa_2" descr="foto_15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sinovensa_3" descr="foto_15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300912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1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46196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162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3974752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Mantenimiento de equipos de bombeo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418433"/>
            <a:ext cx="3138785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Áreas operacionales de la Faja Petrolífera del Orinoco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3844528"/>
            <a:ext cx="455295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Reparación de bombas marca Bornemann, Warren, Sulzer y Flowserve, utilizadas para el transporte de fluidos en superficie y ubicadas en instalaciones pertenecientes a la Faja Petrolífera del Orinoco.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225102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Gestión de Materiales DAL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1081" y="27241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3845569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Alquiler de maquinaria — SINOVENSA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2314128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Activación de pozos, División Carabobo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357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Servicios de maquinaria pesada para realizar actividades operacionales que contribuyan con la activación de pozos en la División Carabobo.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027932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PETROLERA SINOVENSA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2799" y="7500937"/>
            <a:ext cx="2031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1382466" y="270510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stado"/>
          <p:cNvSpPr/>
          <p:nvPr/>
        </p:nvSpPr>
        <p:spPr>
          <a:xfrm>
            <a:off x="6387704" y="2705100"/>
            <a:ext cx="1106682" cy="161925"/>
          </a:xfrm>
          <a:custGeom>
            <a:avLst/>
            <a:gdLst/>
            <a:ahLst/>
            <a:cxnLst/>
            <a:rect l="l" t="t" r="r" b="b"/>
            <a:pathLst>
              <a:path w="1106682" h="161925">
                <a:moveTo>
                  <a:pt x="46556" y="0"/>
                </a:moveTo>
                <a:lnTo>
                  <a:pt x="1106682" y="0"/>
                </a:lnTo>
                <a:lnTo>
                  <a:pt x="106012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4966A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5295900" y="3682603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ja-cliente"/>
          <p:cNvSpPr/>
          <p:nvPr/>
        </p:nvSpPr>
        <p:spPr>
          <a:xfrm>
            <a:off x="5295900" y="6496050"/>
            <a:ext cx="4476750" cy="628650"/>
          </a:xfrm>
          <a:custGeom>
            <a:avLst/>
            <a:gdLst/>
            <a:ahLst/>
            <a:cxnLst/>
            <a:rect l="l" t="t" r="r" b="b"/>
            <a:pathLst>
              <a:path w="4476750" h="628650">
                <a:moveTo>
                  <a:pt x="0" y="0"/>
                </a:moveTo>
                <a:lnTo>
                  <a:pt x="4476750" y="0"/>
                </a:lnTo>
                <a:lnTo>
                  <a:pt x="447675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0" name="cortafuego_1" descr="foto_16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1" name="cortafuego_2" descr="foto_16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2" name="cortafuego_3" descr="foto_16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3" name="xpmorichal_1" descr="foto_16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9144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0" y="0"/>
                </a:moveTo>
                <a:lnTo>
                  <a:pt x="4476750" y="0"/>
                </a:lnTo>
                <a:lnTo>
                  <a:pt x="4152900" y="1638300"/>
                </a:lnTo>
                <a:lnTo>
                  <a:pt x="0" y="1638300"/>
                </a:lnTo>
                <a:close/>
              </a:path>
            </a:pathLst>
          </a:custGeom>
        </p:spPr>
      </p:pic>
      <p:pic>
        <p:nvPicPr>
          <p:cNvPr id="14" name="xpmorichal_2" descr="foto_16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900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pic>
        <p:nvPicPr>
          <p:cNvPr id="15" name="xpmorichal_3" descr="foto_16_0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0475" y="4991100"/>
            <a:ext cx="2162175" cy="1352550"/>
          </a:xfrm>
          <a:custGeom>
            <a:avLst/>
            <a:gdLst/>
            <a:ahLst/>
            <a:cxnLst/>
            <a:rect l="l" t="t" r="r" b="b"/>
            <a:pathLst>
              <a:path w="2162175" h="1352550">
                <a:moveTo>
                  <a:pt x="0" y="0"/>
                </a:moveTo>
                <a:lnTo>
                  <a:pt x="2162175" y="0"/>
                </a:lnTo>
                <a:lnTo>
                  <a:pt x="1952625" y="1352550"/>
                </a:lnTo>
                <a:lnTo>
                  <a:pt x="0" y="1352550"/>
                </a:lnTo>
                <a:close/>
              </a:path>
            </a:pathLst>
          </a:custGeom>
        </p:spPr>
      </p:pic>
      <p:sp>
        <p:nvSpPr>
          <p:cNvPr id="16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868537" y="7603331"/>
            <a:ext cx="7307312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obre las fotos" descr="encima_1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98107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2709862"/>
            <a:ext cx="10437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0931" y="272415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" y="3009900"/>
            <a:ext cx="4075955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Cortafuegos en corredores de tuberías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" y="3418433"/>
            <a:ext cx="912316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Divisiones FPO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" y="3844528"/>
            <a:ext cx="455295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Construcción y mantenimiento de cortafuegos en corredores de tubería y líneas eléctricas de oleoductos y diluenductos de la Faja. Incluyendo corrección de filtraciones por soldadura y encapsulamiento de grampas apernadas.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30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981075"/>
            <a:ext cx="1774180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SERVICIOS Y ALQUILER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900" y="2709862"/>
            <a:ext cx="103882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2025 –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6170" y="2724150"/>
            <a:ext cx="94595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3A5599"/>
                </a:solidFill>
                <a:latin typeface="Barlow"/>
              </a:rPr>
              <a:t>EN EJECUCIÓN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3009900"/>
            <a:ext cx="3536453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17"/>
              </a:lnSpc>
            </a:pPr>
            <a:r>
              <a:rPr sz="2250" b="1" i="0">
                <a:solidFill>
                  <a:srgbClr val="122149"/>
                </a:solidFill>
                <a:latin typeface="Barlow Condensed"/>
              </a:rPr>
              <a:t>Alquiler de equipos — XP Morichal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3418433"/>
            <a:ext cx="3078956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Unidad de Producción Extrapesado, Distrito Morichal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3844528"/>
            <a:ext cx="4552950" cy="561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612"/>
              </a:lnSpc>
            </a:pPr>
            <a:r>
              <a:rPr sz="937" b="0" i="0">
                <a:solidFill>
                  <a:srgbClr val="000000"/>
                </a:solidFill>
                <a:latin typeface="Barlow"/>
              </a:rPr>
              <a:t>Servicios para acondicionamiento y adecuación de vías de acceso y locaciones, los cuales son indispensables para el óptimo funcionamiento y operación de las unidades de producción de la División Carabobo.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450" y="6619875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5450" y="6753225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7553325"/>
            <a:ext cx="706487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9199" y="7500937"/>
            <a:ext cx="1967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estado"/>
          <p:cNvSpPr/>
          <p:nvPr/>
        </p:nvSpPr>
        <p:spPr>
          <a:xfrm>
            <a:off x="807245" y="3619500"/>
            <a:ext cx="929279" cy="161925"/>
          </a:xfrm>
          <a:custGeom>
            <a:avLst/>
            <a:gdLst/>
            <a:ahLst/>
            <a:cxnLst/>
            <a:rect l="l" t="t" r="r" b="b"/>
            <a:pathLst>
              <a:path w="929279" h="161925">
                <a:moveTo>
                  <a:pt x="46283" y="0"/>
                </a:moveTo>
                <a:lnTo>
                  <a:pt x="929279" y="0"/>
                </a:lnTo>
                <a:lnTo>
                  <a:pt x="882996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12214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285750" y="4675435"/>
            <a:ext cx="742950" cy="19050"/>
          </a:xfrm>
          <a:prstGeom prst="rect">
            <a:avLst/>
          </a:prstGeom>
          <a:solidFill>
            <a:srgbClr val="4966A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ja-cliente"/>
          <p:cNvSpPr/>
          <p:nvPr/>
        </p:nvSpPr>
        <p:spPr>
          <a:xfrm>
            <a:off x="285750" y="6718548"/>
            <a:ext cx="3810000" cy="628650"/>
          </a:xfrm>
          <a:custGeom>
            <a:avLst/>
            <a:gdLst/>
            <a:ahLst/>
            <a:cxnLst/>
            <a:rect l="l" t="t" r="r" b="b"/>
            <a:pathLst>
              <a:path w="3810000" h="628650">
                <a:moveTo>
                  <a:pt x="0" y="0"/>
                </a:moveTo>
                <a:lnTo>
                  <a:pt x="3810000" y="0"/>
                </a:lnTo>
                <a:lnTo>
                  <a:pt x="3810000" y="628650"/>
                </a:lnTo>
                <a:lnTo>
                  <a:pt x="209550" y="62865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" descr="foto_0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7" name="curataqui_1" descr="foto_17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"/>
            <a:ext cx="10058400" cy="2571750"/>
          </a:xfrm>
          <a:prstGeom prst="rect">
            <a:avLst/>
          </a:prstGeom>
        </p:spPr>
      </p:pic>
      <p:pic>
        <p:nvPicPr>
          <p:cNvPr id="8" name="curataqui_2" descr="foto_17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3467100"/>
            <a:ext cx="2562225" cy="1781175"/>
          </a:xfrm>
          <a:custGeom>
            <a:avLst/>
            <a:gdLst/>
            <a:ahLst/>
            <a:cxnLst/>
            <a:rect l="l" t="t" r="r" b="b"/>
            <a:pathLst>
              <a:path w="2562225" h="1781175">
                <a:moveTo>
                  <a:pt x="0" y="0"/>
                </a:moveTo>
                <a:lnTo>
                  <a:pt x="2562225" y="0"/>
                </a:lnTo>
                <a:lnTo>
                  <a:pt x="2352675" y="1781175"/>
                </a:lnTo>
                <a:lnTo>
                  <a:pt x="0" y="1781175"/>
                </a:lnTo>
                <a:close/>
              </a:path>
            </a:pathLst>
          </a:custGeom>
        </p:spPr>
      </p:pic>
      <p:pic>
        <p:nvPicPr>
          <p:cNvPr id="9" name="curataqui_3" descr="foto_17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425" y="3467100"/>
            <a:ext cx="2562225" cy="1781175"/>
          </a:xfrm>
          <a:custGeom>
            <a:avLst/>
            <a:gdLst/>
            <a:ahLst/>
            <a:cxnLst/>
            <a:rect l="l" t="t" r="r" b="b"/>
            <a:pathLst>
              <a:path w="2562225" h="1781175">
                <a:moveTo>
                  <a:pt x="0" y="0"/>
                </a:moveTo>
                <a:lnTo>
                  <a:pt x="2562225" y="0"/>
                </a:lnTo>
                <a:lnTo>
                  <a:pt x="2352675" y="1781175"/>
                </a:lnTo>
                <a:lnTo>
                  <a:pt x="0" y="1781175"/>
                </a:lnTo>
                <a:close/>
              </a:path>
            </a:pathLst>
          </a:custGeom>
        </p:spPr>
      </p:pic>
      <p:pic>
        <p:nvPicPr>
          <p:cNvPr id="10" name="curataqui_4" descr="foto_17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800" y="5400675"/>
            <a:ext cx="2562225" cy="1781175"/>
          </a:xfrm>
          <a:custGeom>
            <a:avLst/>
            <a:gdLst/>
            <a:ahLst/>
            <a:cxnLst/>
            <a:rect l="l" t="t" r="r" b="b"/>
            <a:pathLst>
              <a:path w="2562225" h="1781175">
                <a:moveTo>
                  <a:pt x="0" y="0"/>
                </a:moveTo>
                <a:lnTo>
                  <a:pt x="2562225" y="0"/>
                </a:lnTo>
                <a:lnTo>
                  <a:pt x="2352675" y="1781175"/>
                </a:lnTo>
                <a:lnTo>
                  <a:pt x="0" y="1781175"/>
                </a:lnTo>
                <a:close/>
              </a:path>
            </a:pathLst>
          </a:custGeom>
        </p:spPr>
      </p:pic>
      <p:pic>
        <p:nvPicPr>
          <p:cNvPr id="11" name="curataqui_5" descr="foto_17_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0425" y="5400675"/>
            <a:ext cx="2562225" cy="1781175"/>
          </a:xfrm>
          <a:custGeom>
            <a:avLst/>
            <a:gdLst/>
            <a:ahLst/>
            <a:cxnLst/>
            <a:rect l="l" t="t" r="r" b="b"/>
            <a:pathLst>
              <a:path w="2562225" h="1781175">
                <a:moveTo>
                  <a:pt x="0" y="0"/>
                </a:moveTo>
                <a:lnTo>
                  <a:pt x="2562225" y="0"/>
                </a:lnTo>
                <a:lnTo>
                  <a:pt x="2352675" y="1781175"/>
                </a:lnTo>
                <a:lnTo>
                  <a:pt x="0" y="1781175"/>
                </a:lnTo>
                <a:close/>
              </a:path>
            </a:pathLst>
          </a:custGeom>
        </p:spPr>
      </p:pic>
      <p:sp>
        <p:nvSpPr>
          <p:cNvPr id="12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oja-raya"/>
          <p:cNvSpPr/>
          <p:nvPr/>
        </p:nvSpPr>
        <p:spPr>
          <a:xfrm>
            <a:off x="2470249" y="7603331"/>
            <a:ext cx="6705451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obre las fotos" descr="encima_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850" y="2971800"/>
            <a:ext cx="817959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AMBIENTE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3624262"/>
            <a:ext cx="46851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37" b="1" i="0" spc="244">
                <a:solidFill>
                  <a:srgbClr val="7C8BBA"/>
                </a:solidFill>
                <a:latin typeface="Barlow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710" y="3638550"/>
            <a:ext cx="76854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116">
                <a:solidFill>
                  <a:srgbClr val="5C6580"/>
                </a:solidFill>
                <a:latin typeface="Barlow"/>
              </a:rPr>
              <a:t>CULMINADO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" y="3914775"/>
            <a:ext cx="3253531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35"/>
              </a:lnSpc>
            </a:pPr>
            <a:r>
              <a:rPr sz="2850" b="1" i="0">
                <a:solidFill>
                  <a:srgbClr val="122149"/>
                </a:solidFill>
                <a:latin typeface="Barlow Condensed"/>
              </a:rPr>
              <a:t>Laguna de Curataquiche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750" y="4411265"/>
            <a:ext cx="229299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55"/>
              </a:lnSpc>
            </a:pPr>
            <a:r>
              <a:rPr sz="1275" b="1" i="0">
                <a:solidFill>
                  <a:srgbClr val="4966AD"/>
                </a:solidFill>
                <a:latin typeface="Barlow Condensed"/>
              </a:rPr>
              <a:t>Saneamiento y restauración ambiental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4846885"/>
            <a:ext cx="3771900" cy="18341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1870"/>
              </a:lnSpc>
            </a:pPr>
            <a:r>
              <a:rPr sz="1087" b="0" i="0">
                <a:solidFill>
                  <a:srgbClr val="000000"/>
                </a:solidFill>
                <a:latin typeface="Barlow"/>
              </a:rPr>
              <a:t>Saneamiento y restauración de la Laguna de Curataquiche, progresiva 15+000 del Oleoducto de 36″, desarrollando actividades de remoción de capa de hidrocarburos con barreras oleofílicas y material particulado; estabilización mecánica, carga y transporte del material contaminado; reforestación del área, toma y análisis de muestras en la laguna, ejecutadas en las diferentes fases del proceso de saneamiento.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" y="6842373"/>
            <a:ext cx="716756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25" b="1" i="0" spc="264">
                <a:solidFill>
                  <a:srgbClr val="EBEEF6"/>
                </a:solidFill>
                <a:latin typeface="Barlow"/>
              </a:rPr>
              <a:t>CLIENTE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300" y="6975723"/>
            <a:ext cx="2266205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4"/>
              </a:lnSpc>
            </a:pPr>
            <a:r>
              <a:rPr sz="1837" b="1" i="0">
                <a:solidFill>
                  <a:srgbClr val="FFFFFF"/>
                </a:solidFill>
                <a:latin typeface="Barlow Condensed"/>
              </a:rPr>
              <a:t>Logística Operacional DAL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" y="7553325"/>
            <a:ext cx="1308199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PROYECTO DESTACADO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9050" y="7500937"/>
            <a:ext cx="196899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622877" y="1076325"/>
            <a:ext cx="373495" cy="28575"/>
          </a:xfrm>
          <a:custGeom>
            <a:avLst/>
            <a:gdLst/>
            <a:ahLst/>
            <a:cxnLst/>
            <a:rect l="l" t="t" r="r" b="b"/>
            <a:pathLst>
              <a:path w="373495" h="28575">
                <a:moveTo>
                  <a:pt x="11545" y="0"/>
                </a:moveTo>
                <a:lnTo>
                  <a:pt x="373495" y="0"/>
                </a:lnTo>
                <a:lnTo>
                  <a:pt x="36195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" descr="foto_06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5" name="flota_1" descr="foto_18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81675"/>
            <a:ext cx="2703165" cy="1666875"/>
          </a:xfrm>
          <a:custGeom>
            <a:avLst/>
            <a:gdLst/>
            <a:ahLst/>
            <a:cxnLst/>
            <a:rect l="l" t="t" r="r" b="b"/>
            <a:pathLst>
              <a:path w="2703165" h="1666875">
                <a:moveTo>
                  <a:pt x="0" y="0"/>
                </a:moveTo>
                <a:lnTo>
                  <a:pt x="2703165" y="0"/>
                </a:lnTo>
                <a:lnTo>
                  <a:pt x="2297690" y="1666875"/>
                </a:lnTo>
                <a:lnTo>
                  <a:pt x="0" y="1666875"/>
                </a:lnTo>
                <a:close/>
              </a:path>
            </a:pathLst>
          </a:custGeom>
        </p:spPr>
      </p:pic>
      <p:pic>
        <p:nvPicPr>
          <p:cNvPr id="6" name="flota_2" descr="foto_18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6034" y="5781675"/>
            <a:ext cx="2891730" cy="1666875"/>
          </a:xfrm>
          <a:custGeom>
            <a:avLst/>
            <a:gdLst/>
            <a:ahLst/>
            <a:cxnLst/>
            <a:rect l="l" t="t" r="r" b="b"/>
            <a:pathLst>
              <a:path w="2891730" h="1666875">
                <a:moveTo>
                  <a:pt x="433760" y="0"/>
                </a:moveTo>
                <a:lnTo>
                  <a:pt x="2891730" y="0"/>
                </a:lnTo>
                <a:lnTo>
                  <a:pt x="2457970" y="1666875"/>
                </a:lnTo>
                <a:lnTo>
                  <a:pt x="0" y="1666875"/>
                </a:lnTo>
                <a:close/>
              </a:path>
            </a:pathLst>
          </a:custGeom>
        </p:spPr>
      </p:pic>
      <p:pic>
        <p:nvPicPr>
          <p:cNvPr id="7" name="flota_3" descr="foto_18_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634" y="5781675"/>
            <a:ext cx="2891730" cy="1666875"/>
          </a:xfrm>
          <a:custGeom>
            <a:avLst/>
            <a:gdLst/>
            <a:ahLst/>
            <a:cxnLst/>
            <a:rect l="l" t="t" r="r" b="b"/>
            <a:pathLst>
              <a:path w="2891730" h="1666875">
                <a:moveTo>
                  <a:pt x="433760" y="0"/>
                </a:moveTo>
                <a:lnTo>
                  <a:pt x="2891730" y="0"/>
                </a:lnTo>
                <a:lnTo>
                  <a:pt x="2457970" y="1666875"/>
                </a:lnTo>
                <a:lnTo>
                  <a:pt x="0" y="1666875"/>
                </a:lnTo>
                <a:close/>
              </a:path>
            </a:pathLst>
          </a:custGeom>
        </p:spPr>
      </p:pic>
      <p:pic>
        <p:nvPicPr>
          <p:cNvPr id="8" name="flota_4" descr="foto_18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5234" y="5781675"/>
            <a:ext cx="2703165" cy="1666875"/>
          </a:xfrm>
          <a:custGeom>
            <a:avLst/>
            <a:gdLst/>
            <a:ahLst/>
            <a:cxnLst/>
            <a:rect l="l" t="t" r="r" b="b"/>
            <a:pathLst>
              <a:path w="2703165" h="1666875">
                <a:moveTo>
                  <a:pt x="405475" y="0"/>
                </a:moveTo>
                <a:lnTo>
                  <a:pt x="2703165" y="0"/>
                </a:lnTo>
                <a:lnTo>
                  <a:pt x="2703165" y="1666875"/>
                </a:lnTo>
                <a:lnTo>
                  <a:pt x="0" y="1666875"/>
                </a:lnTo>
                <a:close/>
              </a:path>
            </a:pathLst>
          </a:custGeom>
        </p:spPr>
      </p:pic>
      <p:sp>
        <p:nvSpPr>
          <p:cNvPr id="9" name="i"/>
          <p:cNvSpPr/>
          <p:nvPr/>
        </p:nvSpPr>
        <p:spPr>
          <a:xfrm>
            <a:off x="-572996" y="174575"/>
            <a:ext cx="1041218" cy="6032748"/>
          </a:xfrm>
          <a:custGeom>
            <a:avLst/>
            <a:gdLst/>
            <a:ahLst/>
            <a:cxnLst/>
            <a:rect l="l" t="t" r="r" b="b"/>
            <a:pathLst>
              <a:path w="1041218" h="6032748">
                <a:moveTo>
                  <a:pt x="955448" y="0"/>
                </a:moveTo>
                <a:lnTo>
                  <a:pt x="1041218" y="0"/>
                </a:lnTo>
                <a:lnTo>
                  <a:pt x="85770" y="6032748"/>
                </a:lnTo>
                <a:lnTo>
                  <a:pt x="0" y="6032748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"/>
          <p:cNvSpPr/>
          <p:nvPr/>
        </p:nvSpPr>
        <p:spPr>
          <a:xfrm>
            <a:off x="-344396" y="174575"/>
            <a:ext cx="1003118" cy="6032748"/>
          </a:xfrm>
          <a:custGeom>
            <a:avLst/>
            <a:gdLst/>
            <a:ahLst/>
            <a:cxnLst/>
            <a:rect l="l" t="t" r="r" b="b"/>
            <a:pathLst>
              <a:path w="1003118" h="6032748">
                <a:moveTo>
                  <a:pt x="955467" y="0"/>
                </a:moveTo>
                <a:lnTo>
                  <a:pt x="1003118" y="0"/>
                </a:lnTo>
                <a:lnTo>
                  <a:pt x="47651" y="6032748"/>
                </a:lnTo>
                <a:lnTo>
                  <a:pt x="0" y="6032748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oja-raya"/>
          <p:cNvSpPr/>
          <p:nvPr/>
        </p:nvSpPr>
        <p:spPr>
          <a:xfrm>
            <a:off x="2016621" y="7603331"/>
            <a:ext cx="7163841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obre las fotos" descr="encima_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3000" y="1009650"/>
            <a:ext cx="1447204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FLOTA PROPIA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" y="1238250"/>
            <a:ext cx="4690318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283"/>
              </a:lnSpc>
            </a:pPr>
            <a:r>
              <a:rPr sz="3187" b="1" i="0">
                <a:solidFill>
                  <a:srgbClr val="FFFFFF"/>
                </a:solidFill>
                <a:latin typeface="Barlow Condensed"/>
              </a:rPr>
              <a:t>Una flota que no para de crecer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1893242"/>
            <a:ext cx="6115050" cy="6798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lnSpc>
                <a:spcPts val="2002"/>
              </a:lnSpc>
            </a:pPr>
            <a:r>
              <a:rPr sz="1125" b="0" i="0">
                <a:solidFill>
                  <a:srgbClr val="FFFFFF"/>
                </a:solidFill>
                <a:latin typeface="Barlow"/>
              </a:rPr>
              <a:t>Respaldamos cada obra con una flota 100% propia y en constante expansión. Tras la exitosa incorporación de equipos en 2025, este 2026 sumaremos nueva maquinaria para seguir garantizando total autonomía en los proyectos más exigentes.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0" y="933450"/>
            <a:ext cx="616892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408"/>
              </a:lnSpc>
            </a:pPr>
            <a:r>
              <a:rPr sz="3787" b="1" i="0" spc="-38">
                <a:solidFill>
                  <a:srgbClr val="FFFFFF"/>
                </a:solidFill>
                <a:latin typeface="Barlow Condensed"/>
              </a:rPr>
              <a:t>841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0" y="1490067"/>
            <a:ext cx="162192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1" i="0" spc="292">
                <a:solidFill>
                  <a:srgbClr val="FFFFFF"/>
                </a:solidFill>
                <a:latin typeface="Barlow"/>
              </a:rPr>
              <a:t>EQUIPOS PROPIOS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0" y="1937742"/>
            <a:ext cx="107200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44 tipos de equipo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2958" y="1937742"/>
            <a:ext cx="63192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38 marcas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" y="2743200"/>
            <a:ext cx="338732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" y="3105150"/>
            <a:ext cx="75798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Excavadoras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7200" y="2743200"/>
            <a:ext cx="335160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7200" y="3105150"/>
            <a:ext cx="5656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Vacuums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5750" y="2743200"/>
            <a:ext cx="348555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5750" y="3105150"/>
            <a:ext cx="108376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Tractores de oruga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4301" y="2743200"/>
            <a:ext cx="29006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4301" y="3105150"/>
            <a:ext cx="67746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Sidebooms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3000" y="2743200"/>
            <a:ext cx="24169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3000" y="3105150"/>
            <a:ext cx="1348382" cy="3195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elevadores 12 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1550" y="2743200"/>
            <a:ext cx="24169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1550" y="3105150"/>
            <a:ext cx="137308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elevadores 8 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" y="3610867"/>
            <a:ext cx="418802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138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50" y="3972817"/>
            <a:ext cx="45481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Chutos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27200" y="3610867"/>
            <a:ext cx="325189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73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27200" y="3972817"/>
            <a:ext cx="44737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Bateas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25750" y="3610867"/>
            <a:ext cx="335458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5750" y="3972817"/>
            <a:ext cx="47535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Volteos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4301" y="3610867"/>
            <a:ext cx="334863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4301" y="3972817"/>
            <a:ext cx="66600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Payloaders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3000" y="3610867"/>
            <a:ext cx="333821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3000" y="3972817"/>
            <a:ext cx="54545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Lowboys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21550" y="3610867"/>
            <a:ext cx="33441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1550" y="3972817"/>
            <a:ext cx="104492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Retroexcavadoras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650" y="4311401"/>
            <a:ext cx="24169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650" y="4673351"/>
            <a:ext cx="95770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Motoniveladoras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7200" y="4311401"/>
            <a:ext cx="24169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27200" y="4673351"/>
            <a:ext cx="70068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Mototraíllas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5750" y="4311401"/>
            <a:ext cx="293935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25750" y="4673351"/>
            <a:ext cx="87168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grúa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4301" y="4311401"/>
            <a:ext cx="293935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4301" y="4673351"/>
            <a:ext cx="120253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Chutos con brazo 16 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3000" y="4311401"/>
            <a:ext cx="204787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3000" y="4673351"/>
            <a:ext cx="110073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Tractores agrícolas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21550" y="4311401"/>
            <a:ext cx="325189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21550" y="4673351"/>
            <a:ext cx="134406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Otra maquinaria pesada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650" y="5173860"/>
            <a:ext cx="418504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169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8650" y="5535810"/>
            <a:ext cx="71422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Camionetas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27200" y="5173860"/>
            <a:ext cx="348555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42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27200" y="5535810"/>
            <a:ext cx="1317277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de soldadura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25750" y="5173860"/>
            <a:ext cx="20612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25750" y="5535810"/>
            <a:ext cx="71601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Cuadrilleras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4301" y="5173860"/>
            <a:ext cx="20612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4301" y="5535810"/>
            <a:ext cx="646509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Autobuses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23000" y="5173860"/>
            <a:ext cx="205829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23000" y="5535810"/>
            <a:ext cx="1216669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Camiones de servicio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21550" y="5173860"/>
            <a:ext cx="334416" cy="352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5"/>
              </a:lnSpc>
            </a:pPr>
            <a:r>
              <a:rPr sz="2325" b="1" i="0">
                <a:solidFill>
                  <a:srgbClr val="FFFFFF"/>
                </a:solidFill>
                <a:latin typeface="Barlow Condensed"/>
              </a:rPr>
              <a:t>32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21550" y="5535810"/>
            <a:ext cx="1322784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75" b="0" i="0">
                <a:solidFill>
                  <a:srgbClr val="FFFFFF"/>
                </a:solidFill>
                <a:latin typeface="Barlow"/>
              </a:rPr>
              <a:t>Otros equipos de apoyo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4900" y="7553325"/>
            <a:ext cx="854571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FLOTA PROPIA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13812" y="7500937"/>
            <a:ext cx="192137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rayita"/>
          <p:cNvSpPr/>
          <p:nvPr/>
        </p:nvSpPr>
        <p:spPr>
          <a:xfrm>
            <a:off x="622877" y="3949749"/>
            <a:ext cx="373495" cy="28575"/>
          </a:xfrm>
          <a:custGeom>
            <a:avLst/>
            <a:gdLst/>
            <a:ahLst/>
            <a:cxnLst/>
            <a:rect l="l" t="t" r="r" b="b"/>
            <a:pathLst>
              <a:path w="373495" h="28575">
                <a:moveTo>
                  <a:pt x="11545" y="0"/>
                </a:moveTo>
                <a:lnTo>
                  <a:pt x="373495" y="0"/>
                </a:lnTo>
                <a:lnTo>
                  <a:pt x="361950" y="28575"/>
                </a:lnTo>
                <a:lnTo>
                  <a:pt x="0" y="28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ayita"/>
          <p:cNvSpPr/>
          <p:nvPr/>
        </p:nvSpPr>
        <p:spPr>
          <a:xfrm>
            <a:off x="628650" y="4619476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yita"/>
          <p:cNvSpPr/>
          <p:nvPr/>
        </p:nvSpPr>
        <p:spPr>
          <a:xfrm>
            <a:off x="628650" y="4933801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ayita"/>
          <p:cNvSpPr/>
          <p:nvPr/>
        </p:nvSpPr>
        <p:spPr>
          <a:xfrm>
            <a:off x="628650" y="5248126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yita"/>
          <p:cNvSpPr/>
          <p:nvPr/>
        </p:nvSpPr>
        <p:spPr>
          <a:xfrm>
            <a:off x="628650" y="5562451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yita"/>
          <p:cNvSpPr/>
          <p:nvPr/>
        </p:nvSpPr>
        <p:spPr>
          <a:xfrm>
            <a:off x="628650" y="5876776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yita"/>
          <p:cNvSpPr/>
          <p:nvPr/>
        </p:nvSpPr>
        <p:spPr>
          <a:xfrm>
            <a:off x="628650" y="6191101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yita"/>
          <p:cNvSpPr/>
          <p:nvPr/>
        </p:nvSpPr>
        <p:spPr>
          <a:xfrm>
            <a:off x="628650" y="6505426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0" y="76200"/>
                </a:moveTo>
                <a:lnTo>
                  <a:pt x="36576" y="0"/>
                </a:lnTo>
                <a:lnTo>
                  <a:pt x="114300" y="0"/>
                </a:lnTo>
                <a:lnTo>
                  <a:pt x="77724" y="762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logo" descr="foto_07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183356"/>
            <a:ext cx="2057400" cy="366563"/>
          </a:xfrm>
          <a:prstGeom prst="rect">
            <a:avLst/>
          </a:prstGeom>
        </p:spPr>
      </p:pic>
      <p:pic>
        <p:nvPicPr>
          <p:cNvPr id="12" name="clientes_equipo" descr="foto_19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"/>
            <a:ext cx="10058400" cy="2857500"/>
          </a:xfrm>
          <a:prstGeom prst="rect">
            <a:avLst/>
          </a:prstGeom>
        </p:spPr>
      </p:pic>
      <p:pic>
        <p:nvPicPr>
          <p:cNvPr id="13" name="logo_pdvsa" descr="foto_19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48050"/>
            <a:ext cx="10058400" cy="4000500"/>
          </a:xfrm>
          <a:prstGeom prst="rect">
            <a:avLst/>
          </a:prstGeom>
        </p:spPr>
      </p:pic>
      <p:pic>
        <p:nvPicPr>
          <p:cNvPr id="14" name="logo_petromonagas" descr="foto_19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48050"/>
            <a:ext cx="10058400" cy="4000500"/>
          </a:xfrm>
          <a:prstGeom prst="rect">
            <a:avLst/>
          </a:prstGeom>
        </p:spPr>
      </p:pic>
      <p:pic>
        <p:nvPicPr>
          <p:cNvPr id="15" name="logo_sinovensa" descr="foto_19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48050"/>
            <a:ext cx="10058400" cy="4000500"/>
          </a:xfrm>
          <a:prstGeom prst="rect">
            <a:avLst/>
          </a:prstGeom>
        </p:spPr>
      </p:pic>
      <p:sp>
        <p:nvSpPr>
          <p:cNvPr id="16" name="i"/>
          <p:cNvSpPr/>
          <p:nvPr/>
        </p:nvSpPr>
        <p:spPr>
          <a:xfrm>
            <a:off x="-357748" y="361950"/>
            <a:ext cx="610721" cy="3314700"/>
          </a:xfrm>
          <a:custGeom>
            <a:avLst/>
            <a:gdLst/>
            <a:ahLst/>
            <a:cxnLst/>
            <a:rect l="l" t="t" r="r" b="b"/>
            <a:pathLst>
              <a:path w="610721" h="3314700">
                <a:moveTo>
                  <a:pt x="524996" y="0"/>
                </a:moveTo>
                <a:lnTo>
                  <a:pt x="610721" y="0"/>
                </a:lnTo>
                <a:lnTo>
                  <a:pt x="85725" y="3314700"/>
                </a:lnTo>
                <a:lnTo>
                  <a:pt x="0" y="33147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"/>
          <p:cNvSpPr/>
          <p:nvPr/>
        </p:nvSpPr>
        <p:spPr>
          <a:xfrm>
            <a:off x="-129148" y="361950"/>
            <a:ext cx="572621" cy="3314700"/>
          </a:xfrm>
          <a:custGeom>
            <a:avLst/>
            <a:gdLst/>
            <a:ahLst/>
            <a:cxnLst/>
            <a:rect l="l" t="t" r="r" b="b"/>
            <a:pathLst>
              <a:path w="572621" h="3314700">
                <a:moveTo>
                  <a:pt x="524996" y="0"/>
                </a:moveTo>
                <a:lnTo>
                  <a:pt x="572621" y="0"/>
                </a:lnTo>
                <a:lnTo>
                  <a:pt x="47625" y="3314700"/>
                </a:lnTo>
                <a:lnTo>
                  <a:pt x="0" y="331470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-462738" y="3128069"/>
            <a:ext cx="820701" cy="4640460"/>
          </a:xfrm>
          <a:custGeom>
            <a:avLst/>
            <a:gdLst/>
            <a:ahLst/>
            <a:cxnLst/>
            <a:rect l="l" t="t" r="r" b="b"/>
            <a:pathLst>
              <a:path w="820701" h="4640460">
                <a:moveTo>
                  <a:pt x="734946" y="0"/>
                </a:moveTo>
                <a:lnTo>
                  <a:pt x="820701" y="0"/>
                </a:lnTo>
                <a:lnTo>
                  <a:pt x="85755" y="4640460"/>
                </a:lnTo>
                <a:lnTo>
                  <a:pt x="0" y="464046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"/>
          <p:cNvSpPr/>
          <p:nvPr/>
        </p:nvSpPr>
        <p:spPr>
          <a:xfrm>
            <a:off x="-234138" y="3128069"/>
            <a:ext cx="782601" cy="4640460"/>
          </a:xfrm>
          <a:custGeom>
            <a:avLst/>
            <a:gdLst/>
            <a:ahLst/>
            <a:cxnLst/>
            <a:rect l="l" t="t" r="r" b="b"/>
            <a:pathLst>
              <a:path w="782601" h="4640460">
                <a:moveTo>
                  <a:pt x="734959" y="0"/>
                </a:moveTo>
                <a:lnTo>
                  <a:pt x="782601" y="0"/>
                </a:lnTo>
                <a:lnTo>
                  <a:pt x="47642" y="4640460"/>
                </a:lnTo>
                <a:lnTo>
                  <a:pt x="0" y="4640460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570924" y="223837"/>
            <a:ext cx="210700" cy="285750"/>
          </a:xfrm>
          <a:custGeom>
            <a:avLst/>
            <a:gdLst/>
            <a:ahLst/>
            <a:cxnLst/>
            <a:rect l="l" t="t" r="r" b="b"/>
            <a:pathLst>
              <a:path w="210700" h="285750">
                <a:moveTo>
                  <a:pt x="115450" y="0"/>
                </a:moveTo>
                <a:lnTo>
                  <a:pt x="210700" y="0"/>
                </a:lnTo>
                <a:lnTo>
                  <a:pt x="952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"/>
          <p:cNvSpPr/>
          <p:nvPr/>
        </p:nvSpPr>
        <p:spPr>
          <a:xfrm>
            <a:off x="837624" y="223837"/>
            <a:ext cx="286900" cy="285750"/>
          </a:xfrm>
          <a:custGeom>
            <a:avLst/>
            <a:gdLst/>
            <a:ahLst/>
            <a:cxnLst/>
            <a:rect l="l" t="t" r="r" b="b"/>
            <a:pathLst>
              <a:path w="286900" h="285750">
                <a:moveTo>
                  <a:pt x="115450" y="0"/>
                </a:moveTo>
                <a:lnTo>
                  <a:pt x="286900" y="0"/>
                </a:lnTo>
                <a:lnTo>
                  <a:pt x="1714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"/>
          <p:cNvSpPr/>
          <p:nvPr/>
        </p:nvSpPr>
        <p:spPr>
          <a:xfrm>
            <a:off x="1180524" y="223837"/>
            <a:ext cx="191650" cy="285750"/>
          </a:xfrm>
          <a:custGeom>
            <a:avLst/>
            <a:gdLst/>
            <a:ahLst/>
            <a:cxnLst/>
            <a:rect l="l" t="t" r="r" b="b"/>
            <a:pathLst>
              <a:path w="191650" h="285750">
                <a:moveTo>
                  <a:pt x="115450" y="0"/>
                </a:moveTo>
                <a:lnTo>
                  <a:pt x="191650" y="0"/>
                </a:lnTo>
                <a:lnTo>
                  <a:pt x="7620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oja-raya"/>
          <p:cNvSpPr/>
          <p:nvPr/>
        </p:nvSpPr>
        <p:spPr>
          <a:xfrm>
            <a:off x="1447800" y="354806"/>
            <a:ext cx="57912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oja-raya"/>
          <p:cNvSpPr/>
          <p:nvPr/>
        </p:nvSpPr>
        <p:spPr>
          <a:xfrm>
            <a:off x="1772542" y="7603331"/>
            <a:ext cx="7403157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sobre las fotos" descr="encima_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43000" y="2294334"/>
            <a:ext cx="1012924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i="0" spc="336">
                <a:solidFill>
                  <a:srgbClr val="FFFFFF"/>
                </a:solidFill>
                <a:latin typeface="Barlow"/>
              </a:rPr>
              <a:t>CLIENTES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522934"/>
            <a:ext cx="3374231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4210"/>
              </a:lnSpc>
            </a:pPr>
            <a:r>
              <a:rPr sz="4087" b="1" i="0">
                <a:solidFill>
                  <a:srgbClr val="FFFFFF"/>
                </a:solidFill>
                <a:latin typeface="Barlow Condensed"/>
              </a:rPr>
              <a:t>Nuestros clientes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895725"/>
            <a:ext cx="2747813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32"/>
              </a:lnSpc>
            </a:pPr>
            <a:r>
              <a:rPr sz="1050" b="1" i="0" spc="189">
                <a:solidFill>
                  <a:srgbClr val="FFFFFF"/>
                </a:solidFill>
                <a:latin typeface="Barlow"/>
              </a:rPr>
              <a:t>CONTRATOS DIRECTOS CON SIETE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115692"/>
            <a:ext cx="3468141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32"/>
              </a:lnSpc>
            </a:pPr>
            <a:r>
              <a:rPr sz="1050" b="1" i="0" spc="189">
                <a:solidFill>
                  <a:srgbClr val="FFFFFF"/>
                </a:solidFill>
                <a:latin typeface="Barlow"/>
              </a:rPr>
              <a:t>GERENCIAS Y COORDINACIONES DE LA FPO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4535685"/>
            <a:ext cx="3407866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Proyectos Mayores de Producción FPO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" y="4850010"/>
            <a:ext cx="2853779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Distribución y Transporte Faja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5164335"/>
            <a:ext cx="2918370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Logística Operacional DAL FPO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5478660"/>
            <a:ext cx="293191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Gestión de Materiales DAL-FPO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250" y="5792985"/>
            <a:ext cx="331291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Tratamiento y Calidad de Fluidos TCF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250" y="6107310"/>
            <a:ext cx="166062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Gerencia de Perforación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50" y="6421635"/>
            <a:ext cx="2381994" cy="1809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FFFFFF"/>
                </a:solidFill>
                <a:latin typeface="Barlow"/>
              </a:rPr>
              <a:t>Coordinación Operacional Faja COF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0550" y="4286250"/>
            <a:ext cx="973931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sz="750" b="1" i="0" spc="165">
                <a:solidFill>
                  <a:srgbClr val="5F6980"/>
                </a:solidFill>
                <a:latin typeface="Barlow"/>
              </a:rPr>
              <a:t>PETRÓLEOS DE VENEZUELA, S.A.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0550" y="5448300"/>
            <a:ext cx="1044475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sz="750" b="1" i="0" spc="165">
                <a:solidFill>
                  <a:srgbClr val="5F6980"/>
                </a:solidFill>
                <a:latin typeface="Barlow"/>
              </a:rPr>
              <a:t>EMPRESA MIXTA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0550" y="6457950"/>
            <a:ext cx="1044475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</a:pPr>
            <a:r>
              <a:rPr sz="750" b="1" i="0" spc="165">
                <a:solidFill>
                  <a:srgbClr val="5F6980"/>
                </a:solidFill>
                <a:latin typeface="Barlow"/>
              </a:rPr>
              <a:t>EMPRESA MIXTA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900" y="7553325"/>
            <a:ext cx="610492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5"/>
              </a:lnSpc>
            </a:pPr>
            <a:r>
              <a:rPr sz="712" b="1" i="0" spc="128">
                <a:solidFill>
                  <a:srgbClr val="2A3C78"/>
                </a:solidFill>
                <a:latin typeface="Barlow"/>
              </a:rPr>
              <a:t>CLIENTES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9050" y="7500937"/>
            <a:ext cx="196899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 i="0" spc="68">
                <a:solidFill>
                  <a:srgbClr val="122149"/>
                </a:solidFill>
                <a:latin typeface="Barlow Condense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cuna-ice"/>
          <p:cNvSpPr/>
          <p:nvPr/>
        </p:nvSpPr>
        <p:spPr>
          <a:xfrm>
            <a:off x="0" y="2280939"/>
            <a:ext cx="5257800" cy="2757785"/>
          </a:xfrm>
          <a:custGeom>
            <a:avLst/>
            <a:gdLst/>
            <a:ahLst/>
            <a:cxnLst/>
            <a:rect l="l" t="t" r="r" b="b"/>
            <a:pathLst>
              <a:path w="5257800" h="2757785">
                <a:moveTo>
                  <a:pt x="0" y="717024"/>
                </a:moveTo>
                <a:lnTo>
                  <a:pt x="5257800" y="0"/>
                </a:lnTo>
                <a:lnTo>
                  <a:pt x="5257800" y="2757785"/>
                </a:lnTo>
                <a:lnTo>
                  <a:pt x="0" y="2757785"/>
                </a:lnTo>
                <a:close/>
              </a:path>
            </a:pathLst>
          </a:custGeom>
          <a:solidFill>
            <a:srgbClr val="EB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nea"/>
          <p:cNvSpPr/>
          <p:nvPr/>
        </p:nvSpPr>
        <p:spPr>
          <a:xfrm>
            <a:off x="523875" y="1880741"/>
            <a:ext cx="4219575" cy="9525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yita"/>
          <p:cNvSpPr/>
          <p:nvPr/>
        </p:nvSpPr>
        <p:spPr>
          <a:xfrm>
            <a:off x="514254" y="1852166"/>
            <a:ext cx="1086041" cy="47625"/>
          </a:xfrm>
          <a:custGeom>
            <a:avLst/>
            <a:gdLst/>
            <a:ahLst/>
            <a:cxnLst/>
            <a:rect l="l" t="t" r="r" b="b"/>
            <a:pathLst>
              <a:path w="1086041" h="47625">
                <a:moveTo>
                  <a:pt x="19242" y="0"/>
                </a:moveTo>
                <a:lnTo>
                  <a:pt x="1086041" y="0"/>
                </a:lnTo>
                <a:lnTo>
                  <a:pt x="1066799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"/>
          <p:cNvSpPr/>
          <p:nvPr/>
        </p:nvSpPr>
        <p:spPr>
          <a:xfrm>
            <a:off x="1604917" y="4219575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0C1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"/>
          <p:cNvSpPr/>
          <p:nvPr/>
        </p:nvSpPr>
        <p:spPr>
          <a:xfrm>
            <a:off x="1414417" y="4219575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12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"/>
          <p:cNvSpPr/>
          <p:nvPr/>
        </p:nvSpPr>
        <p:spPr>
          <a:xfrm>
            <a:off x="1223917" y="4219575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"/>
          <p:cNvSpPr/>
          <p:nvPr/>
        </p:nvSpPr>
        <p:spPr>
          <a:xfrm>
            <a:off x="1033417" y="4219575"/>
            <a:ext cx="323939" cy="495300"/>
          </a:xfrm>
          <a:custGeom>
            <a:avLst/>
            <a:gdLst/>
            <a:ahLst/>
            <a:cxnLst/>
            <a:rect l="l" t="t" r="r" b="b"/>
            <a:pathLst>
              <a:path w="323939" h="495300">
                <a:moveTo>
                  <a:pt x="200114" y="0"/>
                </a:moveTo>
                <a:lnTo>
                  <a:pt x="323939" y="0"/>
                </a:lnTo>
                <a:lnTo>
                  <a:pt x="123825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logo" descr="foto_20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550"/>
            <a:ext cx="10058400" cy="6858000"/>
          </a:xfrm>
          <a:prstGeom prst="rect">
            <a:avLst/>
          </a:prstGeom>
        </p:spPr>
      </p:pic>
      <p:pic>
        <p:nvPicPr>
          <p:cNvPr id="11" name="flota_equipo_cierre" descr="foto_20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581025"/>
            <a:ext cx="4810125" cy="4457700"/>
          </a:xfrm>
          <a:custGeom>
            <a:avLst/>
            <a:gdLst/>
            <a:ahLst/>
            <a:cxnLst/>
            <a:rect l="l" t="t" r="r" b="b"/>
            <a:pathLst>
              <a:path w="4810125" h="4457700">
                <a:moveTo>
                  <a:pt x="529114" y="0"/>
                </a:moveTo>
                <a:lnTo>
                  <a:pt x="4810125" y="0"/>
                </a:lnTo>
                <a:lnTo>
                  <a:pt x="4810125" y="4457700"/>
                </a:lnTo>
                <a:lnTo>
                  <a:pt x="96203" y="4457700"/>
                </a:lnTo>
                <a:close/>
              </a:path>
            </a:pathLst>
          </a:custGeom>
        </p:spPr>
      </p:pic>
      <p:sp>
        <p:nvSpPr>
          <p:cNvPr id="12" name="i"/>
          <p:cNvSpPr/>
          <p:nvPr/>
        </p:nvSpPr>
        <p:spPr>
          <a:xfrm>
            <a:off x="4564621" y="495300"/>
            <a:ext cx="767232" cy="4543425"/>
          </a:xfrm>
          <a:custGeom>
            <a:avLst/>
            <a:gdLst/>
            <a:ahLst/>
            <a:cxnLst/>
            <a:rect l="l" t="t" r="r" b="b"/>
            <a:pathLst>
              <a:path w="767232" h="4543425">
                <a:moveTo>
                  <a:pt x="719607" y="0"/>
                </a:moveTo>
                <a:lnTo>
                  <a:pt x="767232" y="0"/>
                </a:lnTo>
                <a:lnTo>
                  <a:pt x="47625" y="4543425"/>
                </a:lnTo>
                <a:lnTo>
                  <a:pt x="0" y="454342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"/>
          <p:cNvSpPr/>
          <p:nvPr/>
        </p:nvSpPr>
        <p:spPr>
          <a:xfrm>
            <a:off x="4736071" y="495300"/>
            <a:ext cx="805332" cy="4543425"/>
          </a:xfrm>
          <a:custGeom>
            <a:avLst/>
            <a:gdLst/>
            <a:ahLst/>
            <a:cxnLst/>
            <a:rect l="l" t="t" r="r" b="b"/>
            <a:pathLst>
              <a:path w="805332" h="4543425">
                <a:moveTo>
                  <a:pt x="719607" y="0"/>
                </a:moveTo>
                <a:lnTo>
                  <a:pt x="805332" y="0"/>
                </a:lnTo>
                <a:lnTo>
                  <a:pt x="85725" y="4543425"/>
                </a:lnTo>
                <a:lnTo>
                  <a:pt x="0" y="454342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"/>
          <p:cNvSpPr/>
          <p:nvPr/>
        </p:nvSpPr>
        <p:spPr>
          <a:xfrm>
            <a:off x="4945620" y="495300"/>
            <a:ext cx="757707" cy="4543425"/>
          </a:xfrm>
          <a:custGeom>
            <a:avLst/>
            <a:gdLst/>
            <a:ahLst/>
            <a:cxnLst/>
            <a:rect l="l" t="t" r="r" b="b"/>
            <a:pathLst>
              <a:path w="757707" h="4543425">
                <a:moveTo>
                  <a:pt x="719607" y="0"/>
                </a:moveTo>
                <a:lnTo>
                  <a:pt x="757707" y="0"/>
                </a:lnTo>
                <a:lnTo>
                  <a:pt x="38100" y="4543425"/>
                </a:lnTo>
                <a:lnTo>
                  <a:pt x="0" y="454342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"/>
          <p:cNvSpPr/>
          <p:nvPr/>
        </p:nvSpPr>
        <p:spPr>
          <a:xfrm>
            <a:off x="-317487" y="4835723"/>
            <a:ext cx="530199" cy="2806303"/>
          </a:xfrm>
          <a:custGeom>
            <a:avLst/>
            <a:gdLst/>
            <a:ahLst/>
            <a:cxnLst/>
            <a:rect l="l" t="t" r="r" b="b"/>
            <a:pathLst>
              <a:path w="530199" h="2806303">
                <a:moveTo>
                  <a:pt x="444565" y="0"/>
                </a:moveTo>
                <a:lnTo>
                  <a:pt x="530199" y="0"/>
                </a:lnTo>
                <a:lnTo>
                  <a:pt x="85634" y="2806303"/>
                </a:lnTo>
                <a:lnTo>
                  <a:pt x="0" y="2806303"/>
                </a:lnTo>
                <a:close/>
              </a:path>
            </a:pathLst>
          </a:custGeom>
          <a:solidFill>
            <a:srgbClr val="49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"/>
          <p:cNvSpPr/>
          <p:nvPr/>
        </p:nvSpPr>
        <p:spPr>
          <a:xfrm>
            <a:off x="-88887" y="4835723"/>
            <a:ext cx="492099" cy="2806303"/>
          </a:xfrm>
          <a:custGeom>
            <a:avLst/>
            <a:gdLst/>
            <a:ahLst/>
            <a:cxnLst/>
            <a:rect l="l" t="t" r="r" b="b"/>
            <a:pathLst>
              <a:path w="492099" h="2806303">
                <a:moveTo>
                  <a:pt x="444529" y="0"/>
                </a:moveTo>
                <a:lnTo>
                  <a:pt x="492099" y="0"/>
                </a:lnTo>
                <a:lnTo>
                  <a:pt x="47570" y="2806303"/>
                </a:lnTo>
                <a:lnTo>
                  <a:pt x="0" y="2806303"/>
                </a:lnTo>
                <a:close/>
              </a:path>
            </a:pathLst>
          </a:custGeom>
          <a:solidFill>
            <a:srgbClr val="7C8BB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ja-raya"/>
          <p:cNvSpPr/>
          <p:nvPr/>
        </p:nvSpPr>
        <p:spPr>
          <a:xfrm>
            <a:off x="628650" y="354806"/>
            <a:ext cx="8801100" cy="23812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"/>
          <p:cNvSpPr/>
          <p:nvPr/>
        </p:nvSpPr>
        <p:spPr>
          <a:xfrm>
            <a:off x="599787" y="7539037"/>
            <a:ext cx="105350" cy="142875"/>
          </a:xfrm>
          <a:custGeom>
            <a:avLst/>
            <a:gdLst/>
            <a:ahLst/>
            <a:cxnLst/>
            <a:rect l="l" t="t" r="r" b="b"/>
            <a:pathLst>
              <a:path w="105350" h="142875">
                <a:moveTo>
                  <a:pt x="57725" y="0"/>
                </a:moveTo>
                <a:lnTo>
                  <a:pt x="105350" y="0"/>
                </a:lnTo>
                <a:lnTo>
                  <a:pt x="476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C3C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"/>
          <p:cNvSpPr/>
          <p:nvPr/>
        </p:nvSpPr>
        <p:spPr>
          <a:xfrm>
            <a:off x="733137" y="7539037"/>
            <a:ext cx="143450" cy="142875"/>
          </a:xfrm>
          <a:custGeom>
            <a:avLst/>
            <a:gdLst/>
            <a:ahLst/>
            <a:cxnLst/>
            <a:rect l="l" t="t" r="r" b="b"/>
            <a:pathLst>
              <a:path w="143450" h="142875">
                <a:moveTo>
                  <a:pt x="57725" y="0"/>
                </a:moveTo>
                <a:lnTo>
                  <a:pt x="143450" y="0"/>
                </a:lnTo>
                <a:lnTo>
                  <a:pt x="85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A3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"/>
          <p:cNvSpPr/>
          <p:nvPr/>
        </p:nvSpPr>
        <p:spPr>
          <a:xfrm>
            <a:off x="904587" y="7539037"/>
            <a:ext cx="95825" cy="142875"/>
          </a:xfrm>
          <a:custGeom>
            <a:avLst/>
            <a:gdLst/>
            <a:ahLst/>
            <a:cxnLst/>
            <a:rect l="l" t="t" r="r" b="b"/>
            <a:pathLst>
              <a:path w="95825" h="142875">
                <a:moveTo>
                  <a:pt x="57725" y="0"/>
                </a:moveTo>
                <a:lnTo>
                  <a:pt x="95825" y="0"/>
                </a:lnTo>
                <a:lnTo>
                  <a:pt x="381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8F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oja-raya"/>
          <p:cNvSpPr/>
          <p:nvPr/>
        </p:nvSpPr>
        <p:spPr>
          <a:xfrm>
            <a:off x="1104900" y="7603331"/>
            <a:ext cx="8324850" cy="14287"/>
          </a:xfrm>
          <a:prstGeom prst="rect">
            <a:avLst/>
          </a:prstGeom>
          <a:solidFill>
            <a:srgbClr val="12214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bre las fotos" descr="encima_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875" y="2195066"/>
            <a:ext cx="3792289" cy="514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437"/>
              </a:lnSpc>
            </a:pPr>
            <a:r>
              <a:rPr sz="3337" b="1" i="0">
                <a:solidFill>
                  <a:srgbClr val="122149"/>
                </a:solidFill>
                <a:latin typeface="Barlow Condensed"/>
              </a:rPr>
              <a:t>La fuerza que construye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75" y="2631578"/>
            <a:ext cx="4225081" cy="514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437"/>
              </a:lnSpc>
            </a:pPr>
            <a:r>
              <a:rPr sz="3337" b="1" i="0">
                <a:solidFill>
                  <a:srgbClr val="122149"/>
                </a:solidFill>
                <a:latin typeface="Barlow Condensed"/>
              </a:rPr>
              <a:t>nuestra industria petrolera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75" y="5475237"/>
            <a:ext cx="1507331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4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SEDE CORPORATIVA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" y="5762625"/>
            <a:ext cx="3227486" cy="401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Calle París entre New York y Caroní, Edif. #177, Urb. Las Mercedes, Municipio Baruta, Edo. Miranda Caracas.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775" y="6345584"/>
            <a:ext cx="2418903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4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SEDE ADMINISTRATIVA ORIENTE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" y="6632971"/>
            <a:ext cx="1734442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Lechería, estado Anzoátegui.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9875" y="5475237"/>
            <a:ext cx="831353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4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TELÉFONO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0" y="5762625"/>
            <a:ext cx="2124372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+58 212 994.1106 / 1253 / 0987 / 0730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9875" y="6105673"/>
            <a:ext cx="649188" cy="1238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49"/>
              </a:lnSpc>
            </a:pPr>
            <a:r>
              <a:rPr sz="825" b="1" i="0" spc="247">
                <a:solidFill>
                  <a:srgbClr val="FFFFFF"/>
                </a:solidFill>
                <a:latin typeface="Barlow"/>
              </a:rPr>
              <a:t>CORREO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6393060"/>
            <a:ext cx="1282451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FFFFFF"/>
                </a:solidFill>
                <a:latin typeface="Barlow"/>
              </a:rPr>
              <a:t>Info@cvidalsa27.com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